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3724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364f3c58a1bf40c6"/>
    <p:sldId id="257" r:id="R6c1d30670184496c"/>
    <p:sldId id="258" r:id="Rd724a103ddaa4a78"/>
    <p:sldId id="259" r:id="R2777a78c8e394186"/>
    <p:sldId id="260" r:id="Rff2255f8bde94410"/>
    <p:sldId id="261" r:id="Re00d88520c634c30"/>
    <p:sldId id="262" r:id="R06a7d3c0e0944d4a"/>
    <p:sldId id="263" r:id="Ra40780ff67544ecd"/>
    <p:sldId id="264" r:id="Rbb8dec6f388f4d40"/>
    <p:sldId id="265" r:id="R11f6db89792e4dd1"/>
    <p:sldId id="266" r:id="R9220005216d24912"/>
    <p:sldId id="267" r:id="Rd1bbd383a0554b1b"/>
    <p:sldId id="268" r:id="Ra2491af56ce54a31"/>
    <p:sldId id="269" r:id="R30a5648995154e31"/>
    <p:sldId id="270" r:id="R07d96a5e7b294c98"/>
    <p:sldId id="271" r:id="R31ae371142a040cc"/>
    <p:sldId id="272" r:id="Rc27b27e815d24cd4"/>
    <p:sldId id="273" r:id="R40c88c44cc8f4d7e"/>
    <p:sldId id="274" r:id="R97e5caef8d0d4618"/>
    <p:sldId id="275" r:id="R261bb2094eec46c9"/>
    <p:sldId id="276" r:id="Rb71e114d923f4074"/>
    <p:sldId id="277" r:id="Rf1c39b8ba2e94d33"/>
    <p:sldId id="278" r:id="R82681a71a5e94f3f"/>
    <p:sldId id="279" r:id="R94959f340e3442ea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A1D"/>
    <a:srgbClr val="77C0D9"/>
    <a:srgbClr val="0A070D"/>
    <a:srgbClr val="E5A06E"/>
    <a:srgbClr val="18305B"/>
    <a:srgbClr val="19315C"/>
    <a:srgbClr val="C78758"/>
    <a:srgbClr val="0A344B"/>
    <a:srgbClr val="D8735A"/>
    <a:srgbClr val="466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950" autoAdjust="0"/>
  </p:normalViewPr>
  <p:slideViewPr>
    <p:cSldViewPr snapToGrid="0" showGuides="1">
      <p:cViewPr varScale="1">
        <p:scale>
          <a:sx n="77" d="100"/>
          <a:sy n="77" d="100"/>
        </p:scale>
        <p:origin x="268" y="6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06a7d3c0e0944d4a" Target="slides/slide12.xml" Type="http://schemas.openxmlformats.org/officeDocument/2006/relationships/slide"/><Relationship Id="R07d96a5e7b294c98" Target="slides/slide20.xml" Type="http://schemas.openxmlformats.org/officeDocument/2006/relationships/slide"/><Relationship Id="R11f6db89792e4dd1" Target="slides/slide15.xml" Type="http://schemas.openxmlformats.org/officeDocument/2006/relationships/slide"/><Relationship Id="R261bb2094eec46c9" Target="slides/slide25.xml" Type="http://schemas.openxmlformats.org/officeDocument/2006/relationships/slide"/><Relationship Id="R2777a78c8e394186" Target="slides/slide9.xml" Type="http://schemas.openxmlformats.org/officeDocument/2006/relationships/slide"/><Relationship Id="R30a5648995154e31" Target="slides/slide19.xml" Type="http://schemas.openxmlformats.org/officeDocument/2006/relationships/slide"/><Relationship Id="R31ae371142a040cc" Target="slides/slide21.xml" Type="http://schemas.openxmlformats.org/officeDocument/2006/relationships/slide"/><Relationship Id="R364f3c58a1bf40c6" Target="slides/slide6.xml" Type="http://schemas.openxmlformats.org/officeDocument/2006/relationships/slide"/><Relationship Id="R40c88c44cc8f4d7e" Target="slides/slide23.xml" Type="http://schemas.openxmlformats.org/officeDocument/2006/relationships/slide"/><Relationship Id="R6c1d30670184496c" Target="slides/slide7.xml" Type="http://schemas.openxmlformats.org/officeDocument/2006/relationships/slide"/><Relationship Id="R82681a71a5e94f3f" Target="slides/slide28.xml" Type="http://schemas.openxmlformats.org/officeDocument/2006/relationships/slide"/><Relationship Id="R9220005216d24912" Target="slides/slide16.xml" Type="http://schemas.openxmlformats.org/officeDocument/2006/relationships/slide"/><Relationship Id="R94959f340e3442ea" Target="slides/slide29.xml" Type="http://schemas.openxmlformats.org/officeDocument/2006/relationships/slide"/><Relationship Id="R97e5caef8d0d4618" Target="slides/slide24.xml" Type="http://schemas.openxmlformats.org/officeDocument/2006/relationships/slide"/><Relationship Id="Ra2491af56ce54a31" Target="slides/slide18.xml" Type="http://schemas.openxmlformats.org/officeDocument/2006/relationships/slide"/><Relationship Id="Ra40780ff67544ecd" Target="slides/slide13.xml" Type="http://schemas.openxmlformats.org/officeDocument/2006/relationships/slide"/><Relationship Id="Rb71e114d923f4074" Target="slides/slide26.xml" Type="http://schemas.openxmlformats.org/officeDocument/2006/relationships/slide"/><Relationship Id="Rbb8dec6f388f4d40" Target="slides/slide14.xml" Type="http://schemas.openxmlformats.org/officeDocument/2006/relationships/slide"/><Relationship Id="Rc27b27e815d24cd4" Target="slides/slide22.xml" Type="http://schemas.openxmlformats.org/officeDocument/2006/relationships/slide"/><Relationship Id="Rd1bbd383a0554b1b" Target="slides/slide17.xml" Type="http://schemas.openxmlformats.org/officeDocument/2006/relationships/slide"/><Relationship Id="Rd724a103ddaa4a78" Target="slides/slide8.xml" Type="http://schemas.openxmlformats.org/officeDocument/2006/relationships/slide"/><Relationship Id="Re00d88520c634c30" Target="slides/slide11.xml" Type="http://schemas.openxmlformats.org/officeDocument/2006/relationships/slide"/><Relationship Id="Rf1c39b8ba2e94d33" Target="slides/slide27.xml" Type="http://schemas.openxmlformats.org/officeDocument/2006/relationships/slide"/><Relationship Id="Rff2255f8bde94410" Target="slides/slide10.xml" Type="http://schemas.openxmlformats.org/officeDocument/2006/relationships/slide"/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7" Target="tags/tag1.xml" Type="http://schemas.openxmlformats.org/officeDocument/2006/relationships/tags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a935dc15-41b1-4981-b8f5-fd64beb283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 descr="00682b5c-579c-4912-89f6-7b24674dbf28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790594" y="1311516"/>
            <a:ext cx="7549534" cy="1846659"/>
          </a:xfrm>
          <a:noFill/>
        </p:spPr>
        <p:txBody>
          <a:bodyPr wrap="square" lIns="91440" tIns="0" rIns="91440" bIns="0" anchor="ctr">
            <a:noAutofit/>
          </a:bodyPr>
          <a:lstStyle>
            <a:lvl1pPr algn="l">
              <a:defRPr sz="60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副标题 2" descr="426553e6-c829-4322-9506-59dfd08987b9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790594" y="3266073"/>
            <a:ext cx="7244734" cy="765153"/>
          </a:xfrm>
        </p:spPr>
        <p:txBody>
          <a:bodyPr wrap="square" lIns="91440" tIns="0" rIns="91440" bIns="0" anchor="ctr">
            <a:noAutofit/>
          </a:bodyPr>
          <a:lstStyle>
            <a:lvl1pPr marL="0" indent="0" algn="l">
              <a:buNone/>
              <a:defRPr sz="3200" b="0">
                <a:solidFill>
                  <a:srgbClr val="77C0D9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文本占位符 4" descr="dd59c07c-d737-4be8-a2b1-cf9ab86c7ca6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790594" y="4963650"/>
            <a:ext cx="3359922" cy="480446"/>
          </a:xfrm>
          <a:prstGeom prst="round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20XX.XX.XX</a:t>
            </a:r>
          </a:p>
        </p:txBody>
      </p:sp>
      <p:sp>
        <p:nvSpPr>
          <p:cNvPr id="7" name="矩形 6" descr="151f5aca-a006-4227-b591-83d4ef6bf7a5">
            <a:extLst>
              <a:ext uri="{FF2B5EF4-FFF2-40B4-BE49-F238E27FC236}">
                <a16:creationId id="{E3DA0CDE-871B-4910-AB32-76DF22E393BF}"/>
              </a:ext>
            </a:extLst>
          </p:cNvPr>
          <p:cNvSpPr/>
          <p:nvPr userDrawn="1"/>
        </p:nvSpPr>
        <p:spPr>
          <a:xfrm>
            <a:off x="806245" y="4470402"/>
            <a:ext cx="2477729" cy="471263"/>
          </a:xfrm>
          <a:prstGeom prst="rect">
            <a:avLst/>
          </a:prstGeom>
          <a:solidFill>
            <a:srgbClr val="0A070D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 descr="ac1efa20-ef64-425b-b1ec-cd1b1ca10a33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790594" y="4501350"/>
            <a:ext cx="2025445" cy="406282"/>
          </a:xfrm>
          <a:prstGeom prst="round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" name="矩形 7" descr="82828dc1-98fd-4995-86e3-9149f627bbdb">
            <a:extLst>
              <a:ext uri="{FF2B5EF4-FFF2-40B4-BE49-F238E27FC236}">
                <a16:creationId id="{E06B23AD-7E5E-4364-95C7-0FFABEDE8944}"/>
              </a:ext>
            </a:extLst>
          </p:cNvPr>
          <p:cNvSpPr/>
          <p:nvPr userDrawn="1"/>
        </p:nvSpPr>
        <p:spPr>
          <a:xfrm>
            <a:off x="904568" y="5515897"/>
            <a:ext cx="2851355" cy="344129"/>
          </a:xfrm>
          <a:prstGeom prst="rect">
            <a:avLst/>
          </a:prstGeom>
          <a:gradFill>
            <a:gsLst>
              <a:gs pos="0">
                <a:srgbClr val="77C0D9"/>
              </a:gs>
              <a:gs pos="100000">
                <a:srgbClr val="020A1D"/>
              </a:gs>
            </a:gsLst>
            <a:lin ang="0" scaled="0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9c90ddb-5282-4611-a165-18ff91eeea1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 descr="be2e092f-4675-4b75-a209-ff9d585e327f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 descr="716796bc-1f7c-48fd-80ea-606f84d1242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f430b45-3d13-4441-8067-9453d064b80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2660e661-f6a2-46b8-8a10-0ebe3ef20ba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descr="827dfb9e-3e26-418f-97d7-60a6143be2c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 descr="0689d8ae-a4a6-43db-845e-306e1ebc0d07"/>
          <p:cNvSpPr>
            <a:spLocks noGrp="1"/>
          </p:cNvSpPr>
          <p:nvPr>
            <p:ph type="title" hasCustomPrompt="1"/>
          </p:nvPr>
        </p:nvSpPr>
        <p:spPr>
          <a:xfrm>
            <a:off x="1053690" y="1183557"/>
            <a:ext cx="3362293" cy="1015663"/>
          </a:xfrm>
        </p:spPr>
        <p:txBody>
          <a:bodyPr wrap="square" anchor="ctr">
            <a:noAutofit/>
          </a:bodyPr>
          <a:lstStyle>
            <a:lvl1pPr algn="l">
              <a:defRPr sz="60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内容占位符 2" descr="38ab64a9-5aef-4aa5-bc76-53427d6f809c"/>
          <p:cNvSpPr>
            <a:spLocks noGrp="1"/>
          </p:cNvSpPr>
          <p:nvPr>
            <p:ph sz="quarter" idx="1" hasCustomPrompt="1"/>
          </p:nvPr>
        </p:nvSpPr>
        <p:spPr>
          <a:xfrm>
            <a:off x="660401" y="2473779"/>
            <a:ext cx="10864850" cy="3660320"/>
          </a:xfrm>
        </p:spPr>
        <p:txBody>
          <a:bodyPr>
            <a:noAutofit/>
          </a:bodyPr>
          <a:lstStyle>
            <a:lvl1pPr marL="342900" indent="-342900" algn="ctr">
              <a:lnSpc>
                <a:spcPct val="10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  <a:lvl2pPr marL="800100" indent="-342900" algn="ctr">
              <a:lnSpc>
                <a:spcPct val="100000"/>
              </a:lnSpc>
              <a:buFont typeface="+mj-ea"/>
              <a:buAutoNum type="circleNumDbPlain"/>
              <a:defRPr sz="20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2pPr>
            <a:lvl3pPr marL="1257300" indent="-342900" algn="ctr">
              <a:lnSpc>
                <a:spcPct val="100000"/>
              </a:lnSpc>
              <a:buFont typeface="+mj-lt"/>
              <a:buAutoNum type="alphaLcParenR"/>
              <a:defRPr sz="18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3pPr>
            <a:lvl4pPr algn="ctr">
              <a:lnSpc>
                <a:spcPct val="100000"/>
              </a:lnSpc>
              <a:defRPr sz="16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4pPr>
            <a:lvl5pPr algn="ctr">
              <a:lnSpc>
                <a:spcPct val="100000"/>
              </a:lnSpc>
              <a:defRPr sz="16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14="http://schemas.microsoft.com/office/drawing/2010/main"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1767a364-8b2a-4719-8f94-ccf4d7380cb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66776"/>
              </a:solidFill>
            </a:endParaRPr>
          </a:p>
        </p:txBody>
      </p:sp>
      <p:sp>
        <p:nvSpPr>
          <p:cNvPr id="2" name="标题 1" descr="585212c8-ec95-4eb9-8bc7-e9317f73ef0a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1100142" y="1460939"/>
            <a:ext cx="6090367" cy="2461456"/>
          </a:xfrm>
        </p:spPr>
        <p:txBody>
          <a:bodyPr wrap="square" anchor="ctr">
            <a:noAutofit/>
          </a:bodyPr>
          <a:lstStyle>
            <a:lvl1pPr algn="l">
              <a:defRPr sz="60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文本占位符 2" descr="8ff2b344-0921-4b78-962e-7ac53a72cd58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1100142" y="4069539"/>
            <a:ext cx="6237338" cy="618075"/>
          </a:xfrm>
        </p:spPr>
        <p:txBody>
          <a:bodyPr wrap="square" anchor="t">
            <a:noAutofit/>
          </a:bodyPr>
          <a:lstStyle>
            <a:lvl1pPr marL="0" indent="0" algn="l">
              <a:buNone/>
              <a:defRPr sz="3200" b="0">
                <a:solidFill>
                  <a:srgbClr val="77C0D9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ae67ea1-4db7-4b97-ae33-099767fc416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47e7eb25-38cd-4c4f-a032-8e7973148e9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21fa5ffd-87ad-4a2b-8c20-72ab0f8d288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08215d4f-db95-4dcf-a02c-e8d407f31f1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695c427c-f6da-41dd-a77e-178379466a2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c5ea2a54-8824-4d4d-82d2-5e42469c2b8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94f4f1b9-ca8f-47e4-bb21-437f70f2071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a79c3a23-c1c1-48a6-b09c-e40566a8bbb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val="0"/>
                </a:ext>
              </a:extLst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7bba27b3-77b0-4793-9c09-51865d1b2551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791270" y="2105561"/>
            <a:ext cx="6520244" cy="1323439"/>
          </a:xfrm>
        </p:spPr>
        <p:txBody>
          <a:bodyPr wrap="square" anchor="ctr">
            <a:noAutofit/>
          </a:bodyPr>
          <a:lstStyle>
            <a:lvl1pPr algn="l">
              <a:defRPr sz="60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文本占位符 4" descr="8138b678-5028-4059-89c7-3fae16750775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791270" y="4798432"/>
            <a:ext cx="3120575" cy="498547"/>
          </a:xfrm>
          <a:prstGeom prst="round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20XX.XX.XX</a:t>
            </a:r>
          </a:p>
        </p:txBody>
      </p:sp>
      <p:sp>
        <p:nvSpPr>
          <p:cNvPr id="4" name="文本占位符 3" descr="0208657c-3190-48d9-87a5-981b8a9a1285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791270" y="4346708"/>
            <a:ext cx="2204162" cy="406282"/>
          </a:xfrm>
          <a:prstGeom prst="round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" name="矩形 7" descr="c9f572fc-0470-4704-8e4c-c63100651b11">
            <a:extLst>
              <a:ext uri="{FF2B5EF4-FFF2-40B4-BE49-F238E27FC236}">
                <a16:creationId id="{0597948A-BED4-440F-8899-C888C67E7D0F}"/>
              </a:ext>
            </a:extLst>
          </p:cNvPr>
          <p:cNvSpPr/>
          <p:nvPr userDrawn="1"/>
        </p:nvSpPr>
        <p:spPr>
          <a:xfrm>
            <a:off x="904568" y="5515897"/>
            <a:ext cx="2851355" cy="344129"/>
          </a:xfrm>
          <a:prstGeom prst="rect">
            <a:avLst/>
          </a:prstGeom>
          <a:gradFill>
            <a:gsLst>
              <a:gs pos="0">
                <a:srgbClr val="77C0D9"/>
              </a:gs>
              <a:gs pos="100000">
                <a:srgbClr val="020A1D"/>
              </a:gs>
            </a:gsLst>
            <a:lin ang="0" scaled="0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Relationship Id="rId9" Target="../media/image1.pn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43363"/>
              </a:solidFill>
              <a:latin typeface="阿里巴巴普惠体 2.0 65 SemiBold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 flipV="false" flipH="false">
            <a:off x="1061545" y="304799"/>
            <a:ext cx="10163504" cy="7239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469570"/>
            <a:ext cx="10858500" cy="4664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阿里巴巴普惠体 2.0 65 Medium" panose="00020600040101010101" pitchFamily="18" charset="-122"/>
          <a:ea typeface="阿里巴巴普惠体 2.0 65 Medium" panose="00020600040101010101" pitchFamily="18" charset="-122"/>
          <a:cs typeface="阿里巴巴普惠体 2.0 65 Medium" panose="00020600040101010101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687289d21dda46ad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f7c17060119e47d4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dfb557a636f6423a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5ee52f946b6b41b9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a1bd72d39b0f47fc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5b1b24c6f1184ede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b0f43280726f46bf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127127aded594ac1" Target="../slideLayouts/slideLayout5.xml" Type="http://schemas.openxmlformats.org/officeDocument/2006/relationships/slideLayout"/><Relationship Id="rId1" Target="../tags/tag12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de78ff3974444562" Target="../slideLayouts/slideLayout4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4a85f934981e415e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c9f6046f4d944cb6" Target="../slideLayouts/slideLayout5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ae1f1ea8d4fc4a58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f400a61ca0314423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1d416974358f47e4" Target="../slideLayouts/slideLayout4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4a2ccfe722dd4b5e" Target="../slideLayouts/slideLayout5.xml" Type="http://schemas.openxmlformats.org/officeDocument/2006/relationships/slideLayout"/><Relationship Id="rId2" Target="../tags/tag13.xml" Type="http://schemas.openxmlformats.org/officeDocument/2006/relationships/tags"/></Relationships>
</file>

<file path=ppt/slides/_rels/slide21.xml.rels><?xml version="1.0" encoding="UTF-8" standalone="yes"?><Relationships xmlns="http://schemas.openxmlformats.org/package/2006/relationships"><Relationship Id="R78eb6725b54e44cc" Target="../slideLayouts/slideLayout5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1c08ad64fffa4cfe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6c97d1deb5744935" Target="../slideLayouts/slideLayout5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425dfe50b7b2430c" Target="../slideLayouts/slideLayout4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33cb3b487b574419" Target="../slideLayouts/slideLayout5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4942480589b44001" Target="../slideLayouts/slideLayout5.xml" Type="http://schemas.openxmlformats.org/officeDocument/2006/relationships/slideLayout"/><Relationship Id="rId1" Target="../tags/tag3724.xml" Type="http://schemas.openxmlformats.org/officeDocument/2006/relationships/tags"/></Relationships>
</file>

<file path=ppt/slides/_rels/slide27.xml.rels><?xml version="1.0" encoding="UTF-8" standalone="yes"?><Relationships xmlns="http://schemas.openxmlformats.org/package/2006/relationships"><Relationship Id="R7948adc9c2ea46c1" Target="../slideLayouts/slideLayout5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b0edee341c4a4266" Target="../slideLayouts/slideLayout5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89a0e2917e2a40bf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00682b5c-579c-4912-89f6-7b24674dbf28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ea typeface="汉仪行楷简"/>
              </a:rPr>
              <a:t>保险公司的AI战略</a:t>
            </a:r>
          </a:p>
        </p:txBody>
      </p:sp>
      <p:sp>
        <p:nvSpPr>
          <p:cNvPr descr="426553e6-c829-4322-9506-59dfd08987b9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开启智能保险新时代</a:t>
            </a:r>
          </a:p>
        </p:txBody>
      </p:sp>
      <p:sp>
        <p:nvSpPr>
          <p:cNvPr descr="dd59c07c-d737-4be8-a2b1-cf9ab86c7ca6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latin typeface="思源黑体 CN Regular"/>
              </a:rPr>
              <a:t>20xx.xx.xx</a:t>
            </a:r>
          </a:p>
        </p:txBody>
      </p:sp>
      <p:sp>
        <p:nvSpPr>
          <p:cNvPr descr="ac1efa20-ef64-425b-b1ec-cd1b1ca10a33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思源黑体 CN Regular"/>
              </a:rPr>
              <a:t>报告人名称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c257e28b-b6c5-4cc6-a02f-3a16770daf03" id="8" name="4caed9d6-c0d5-402d-a13c-963d60d56e8c.source.5.zh-Hans.pptx">
            <a:extLst>
              <a:ext uri="{FF2B5EF4-FFF2-40B4-BE49-F238E27FC236}">
                <a16:creationId id="{DA2A91A6-7273-CDAC-5204-6E29C3C61B64}"/>
              </a:ext>
            </a:extLst>
          </p:cNvPr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descr="c2b2caf2-6115-479e-bd52-c09973e5bdce" id="2" name="矩形 1">
              <a:extLst>
                <a:ext uri="{FF2B5EF4-FFF2-40B4-BE49-F238E27FC236}">
                  <a16:creationId id="{C9714C48-ED47-D088-728E-5F679704490C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cxnSp>
          <p:nvCxnSpPr>
            <p:cNvPr descr="7008927d-796d-4c8c-b7df-68eb4754b422" id="83" name="直接箭头连接符 82">
              <a:extLst>
                <a:ext uri="{FF2B5EF4-FFF2-40B4-BE49-F238E27FC236}">
                  <a16:creationId id="{10B93CA4-5F1C-D813-B0F4-51ED4A86624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d0f31139-c728-49dd-8e9a-bd743af4d5b7" id="3" name="组合 2">
              <a:extLst>
                <a:ext uri="{FF2B5EF4-FFF2-40B4-BE49-F238E27FC236}">
                  <a16:creationId id="{99746AE9-2055-3F32-E42F-67B9546548D3}"/>
                </a:ext>
              </a:extLst>
            </p:cNvPr>
            <p:cNvGrpSpPr/>
            <p:nvPr/>
          </p:nvGrpSpPr>
          <p:grpSpPr>
            <a:xfrm>
              <a:off x="660400" y="3650127"/>
              <a:ext cx="2568077" cy="1785484"/>
              <a:chOff x="430475" y="3650127"/>
              <a:chExt cx="2568077" cy="1785484"/>
            </a:xfrm>
          </p:grpSpPr>
          <p:sp>
            <p:nvSpPr>
              <p:cNvPr descr="a7b7e92f-0e61-4a7f-8db4-d9008ffa7162" id="50" name="Number1">
                <a:extLst>
                  <a:ext uri="{FF2B5EF4-FFF2-40B4-BE49-F238E27FC236}">
                    <a16:creationId id="{331940AB-E903-CBB5-42DB-196ECBE6E6DE}"/>
                  </a:ext>
                </a:extLst>
              </p:cNvPr>
              <p:cNvSpPr/>
              <p:nvPr/>
            </p:nvSpPr>
            <p:spPr>
              <a:xfrm flipH="false" flipV="false"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grpSp>
            <p:nvGrpSpPr>
              <p:cNvPr descr="fb1773e2-c9ef-44eb-8798-b4df0b47f5fd" id="56" name="组合 55">
                <a:extLst>
                  <a:ext uri="{FF2B5EF4-FFF2-40B4-BE49-F238E27FC236}">
                    <a16:creationId id="{248E5141-C510-C3C9-542B-9551CACCE0A7}"/>
                  </a:ext>
                </a:extLst>
              </p:cNvPr>
              <p:cNvGrpSpPr/>
              <p:nvPr/>
            </p:nvGrpSpPr>
            <p:grpSpPr>
              <a:xfrm>
                <a:off x="430475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99ddfd84-073e-402a-bbdc-0a3023bda18a" id="79" name="Bullet1">
                  <a:extLst>
                    <a:ext uri="{FF2B5EF4-FFF2-40B4-BE49-F238E27FC236}">
                      <a16:creationId id="{26485645-A9B5-716A-E9FE-CAA8A411F20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000" u="none">
                      <a:solidFill>
                        <a:srgbClr val="FFFFFF"/>
                      </a:solidFill>
                      <a:latin typeface="Average"/>
                    </a:rPr>
                    <a:t>AI赋能保险业现状</a:t>
                  </a:r>
                </a:p>
              </p:txBody>
            </p:sp>
            <p:cxnSp>
              <p:nvCxnSpPr>
                <p:cNvPr descr="9c3edcd5-07b9-47a7-8bf6-892394b79f27" id="81" name="直接连接符 80">
                  <a:extLst>
                    <a:ext uri="{FF2B5EF4-FFF2-40B4-BE49-F238E27FC236}">
                      <a16:creationId id="{4EBBE39F-F648-A8B5-ADB3-84E87CA14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f553d364-eed2-463f-98b2-8bee65d993a4" id="4" name="组合 3">
              <a:extLst>
                <a:ext uri="{FF2B5EF4-FFF2-40B4-BE49-F238E27FC236}">
                  <a16:creationId id="{58E56BC4-115B-73AE-8DF1-459608F0D06D}"/>
                </a:ext>
              </a:extLst>
            </p:cNvPr>
            <p:cNvGrpSpPr/>
            <p:nvPr/>
          </p:nvGrpSpPr>
          <p:grpSpPr>
            <a:xfrm>
              <a:off x="2694819" y="2441361"/>
              <a:ext cx="2568077" cy="1795270"/>
              <a:chOff x="2091348" y="2441361"/>
              <a:chExt cx="2568077" cy="1795270"/>
            </a:xfrm>
          </p:grpSpPr>
          <p:sp>
            <p:nvSpPr>
              <p:cNvPr descr="4016da6a-a1dd-4ff1-b82f-fa1afe4130b2" id="51" name="Number2">
                <a:extLst>
                  <a:ext uri="{FF2B5EF4-FFF2-40B4-BE49-F238E27FC236}">
                    <a16:creationId id="{C3B94DC8-A13E-BFF7-BAA3-4BB64FAA315D}"/>
                  </a:ext>
                </a:extLst>
              </p:cNvPr>
              <p:cNvSpPr/>
              <p:nvPr/>
            </p:nvSpPr>
            <p:spPr>
              <a:xfrm flipH="false" flipV="false"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grpSp>
            <p:nvGrpSpPr>
              <p:cNvPr descr="f32b3a36-a0ce-4332-b9c2-aec999841ff6" id="65" name="组合 64">
                <a:extLst>
                  <a:ext uri="{FF2B5EF4-FFF2-40B4-BE49-F238E27FC236}">
                    <a16:creationId id="{BEBE0FB9-8842-ACAA-C81F-9B0BA655DE58}"/>
                  </a:ext>
                </a:extLst>
              </p:cNvPr>
              <p:cNvGrpSpPr/>
              <p:nvPr/>
            </p:nvGrpSpPr>
            <p:grpSpPr>
              <a:xfrm>
                <a:off x="2091348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descr="c86ab6d4-c431-4f72-adc9-7fff1ffe03b1" id="70" name="Bullet2">
                  <a:extLst>
                    <a:ext uri="{FF2B5EF4-FFF2-40B4-BE49-F238E27FC236}">
                      <a16:creationId id="{EDCE61C6-6656-1E2B-5064-54B9A280708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663877" y="5316110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000" u="none">
                      <a:solidFill>
                        <a:srgbClr val="FFFFFF"/>
                      </a:solidFill>
                      <a:latin typeface="Average"/>
                    </a:rPr>
                    <a:t>AI优化保险业务</a:t>
                  </a:r>
                </a:p>
              </p:txBody>
            </p:sp>
            <p:cxnSp>
              <p:nvCxnSpPr>
                <p:cNvPr descr="c40f2fbe-0d53-4ea9-8eb8-9adbc1aebf23" id="72" name="直接连接符 71">
                  <a:extLst>
                    <a:ext uri="{FF2B5EF4-FFF2-40B4-BE49-F238E27FC236}">
                      <a16:creationId id="{99BF09C9-45C6-C4F6-5BA4-D5A239A8C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descr="a671ae54-0c73-4b8f-9899-100ab459da9c" id="84" name="Title">
              <a:extLst>
                <a:ext uri="{FF2B5EF4-FFF2-40B4-BE49-F238E27FC236}">
                  <a16:creationId id="{39FC13C3-340B-FC8F-289C-1AC8FECAA947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4800" u="none">
                  <a:solidFill>
                    <a:srgbClr val="FFFFFF"/>
                  </a:solidFill>
                  <a:latin typeface="Average"/>
                </a:rPr>
                <a:t/>
              </a:r>
            </a:p>
          </p:txBody>
        </p:sp>
        <p:grpSp>
          <p:nvGrpSpPr>
            <p:cNvPr descr="4e559889-97ee-4bd1-9a3e-f0de477ffeb4" id="5" name="组合 4">
              <a:extLst>
                <a:ext uri="{FF2B5EF4-FFF2-40B4-BE49-F238E27FC236}">
                  <a16:creationId id="{90B8F8B4-79BF-2F56-2F3A-B2F5474F568F}"/>
                </a:ext>
              </a:extLst>
            </p:cNvPr>
            <p:cNvGrpSpPr/>
            <p:nvPr/>
          </p:nvGrpSpPr>
          <p:grpSpPr>
            <a:xfrm>
              <a:off x="4729238" y="3650127"/>
              <a:ext cx="2568077" cy="1785484"/>
              <a:chOff x="3751497" y="3650127"/>
              <a:chExt cx="2568077" cy="1785484"/>
            </a:xfrm>
          </p:grpSpPr>
          <p:sp>
            <p:nvSpPr>
              <p:cNvPr descr="0f6b0a2f-08ab-4ca8-95a0-0e8591ec7d60" id="52" name="Number3">
                <a:extLst>
                  <a:ext uri="{FF2B5EF4-FFF2-40B4-BE49-F238E27FC236}">
                    <a16:creationId id="{9C5F2C3D-B1AB-40CC-E21D-781CA62B9623}"/>
                  </a:ext>
                </a:extLst>
              </p:cNvPr>
              <p:cNvSpPr/>
              <p:nvPr/>
            </p:nvSpPr>
            <p:spPr>
              <a:xfrm flipH="false" flipV="false"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grpSp>
            <p:nvGrpSpPr>
              <p:cNvPr descr="28b42b8a-bb48-4f31-b5d4-b5ad576270c2" id="91" name="组合 90">
                <a:extLst>
                  <a:ext uri="{FF2B5EF4-FFF2-40B4-BE49-F238E27FC236}">
                    <a16:creationId id="{875B6E1A-C5F4-24A4-EC25-0D55B388F0AF}"/>
                  </a:ext>
                </a:extLst>
              </p:cNvPr>
              <p:cNvGrpSpPr/>
              <p:nvPr/>
            </p:nvGrpSpPr>
            <p:grpSpPr>
              <a:xfrm>
                <a:off x="3751497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9e9e9c2e-a33f-41e6-a354-643be44993b6" id="92" name="Bullet3">
                  <a:extLst>
                    <a:ext uri="{FF2B5EF4-FFF2-40B4-BE49-F238E27FC236}">
                      <a16:creationId id="{4463FF7D-ECE0-AC16-BA46-E4098DF95B3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000" u="none">
                      <a:solidFill>
                        <a:srgbClr val="FFFFFF"/>
                      </a:solidFill>
                      <a:latin typeface="Average"/>
                    </a:rPr>
                    <a:t>AI应用优势分析</a:t>
                  </a:r>
                </a:p>
              </p:txBody>
            </p:sp>
            <p:cxnSp>
              <p:nvCxnSpPr>
                <p:cNvPr descr="94b6dcf3-9efd-40d2-8614-95bf3ce4f7f9" id="94" name="直接连接符 93">
                  <a:extLst>
                    <a:ext uri="{FF2B5EF4-FFF2-40B4-BE49-F238E27FC236}">
                      <a16:creationId id="{0B6890B8-DFDC-C387-6CE8-27FE69F53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c293a439-d25b-4670-be96-3b21a34be29a" id="6" name="组合 5">
              <a:extLst>
                <a:ext uri="{FF2B5EF4-FFF2-40B4-BE49-F238E27FC236}">
                  <a16:creationId id="{BCF5D0BA-3B6C-2B7D-8ECB-26DB449B0357}"/>
                </a:ext>
              </a:extLst>
            </p:cNvPr>
            <p:cNvGrpSpPr/>
            <p:nvPr/>
          </p:nvGrpSpPr>
          <p:grpSpPr>
            <a:xfrm>
              <a:off x="6763657" y="2441361"/>
              <a:ext cx="2568077" cy="1795270"/>
              <a:chOff x="5444712" y="2441361"/>
              <a:chExt cx="2568077" cy="1795270"/>
            </a:xfrm>
          </p:grpSpPr>
          <p:sp>
            <p:nvSpPr>
              <p:cNvPr descr="4b5541bd-a35d-4021-bd24-1f66fad14e32" id="53" name="Number4">
                <a:extLst>
                  <a:ext uri="{FF2B5EF4-FFF2-40B4-BE49-F238E27FC236}">
                    <a16:creationId id="{771B8C0A-613C-A6ED-F850-B7B2EA155BF4}"/>
                  </a:ext>
                </a:extLst>
              </p:cNvPr>
              <p:cNvSpPr/>
              <p:nvPr/>
            </p:nvSpPr>
            <p:spPr>
              <a:xfrm flipH="false" flipV="false"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/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grpSp>
            <p:nvGrpSpPr>
              <p:cNvPr descr="f5df4cac-f9bf-4521-8f2f-c80c6e9028f3" id="95" name="组合 94">
                <a:extLst>
                  <a:ext uri="{FF2B5EF4-FFF2-40B4-BE49-F238E27FC236}">
                    <a16:creationId id="{06C30757-2C2F-8677-8A77-750800896B96}"/>
                  </a:ext>
                </a:extLst>
              </p:cNvPr>
              <p:cNvGrpSpPr/>
              <p:nvPr/>
            </p:nvGrpSpPr>
            <p:grpSpPr>
              <a:xfrm>
                <a:off x="5444712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descr="a3d646a7-f9c9-4ab9-babd-cbf23a9d6af1" id="96" name="Bullet4">
                  <a:extLst>
                    <a:ext uri="{FF2B5EF4-FFF2-40B4-BE49-F238E27FC236}">
                      <a16:creationId id="{2697C799-E926-4D22-DDAF-513E0A5DD13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663877" y="5316110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000" u="none">
                      <a:solidFill>
                        <a:srgbClr val="FFFFFF"/>
                      </a:solidFill>
                      <a:latin typeface="Average"/>
                    </a:rPr>
                    <a:t>AI应用挑战与风险</a:t>
                  </a:r>
                </a:p>
              </p:txBody>
            </p:sp>
            <p:cxnSp>
              <p:nvCxnSpPr>
                <p:cNvPr descr="fa05f00b-9d85-403a-9a0b-5bc5a62ccd33" id="98" name="直接连接符 97">
                  <a:extLst>
                    <a:ext uri="{FF2B5EF4-FFF2-40B4-BE49-F238E27FC236}">
                      <a16:creationId id="{4932436E-120D-78F4-40BA-1574046C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true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descr="e08dddc6-e66a-4028-8b42-21d9da4ee36e" id="7" name="组合 6">
              <a:extLst>
                <a:ext uri="{FF2B5EF4-FFF2-40B4-BE49-F238E27FC236}">
                  <a16:creationId id="{E993C282-FF37-015D-9A64-2D15A8265A41}"/>
                </a:ext>
              </a:extLst>
            </p:cNvPr>
            <p:cNvGrpSpPr/>
            <p:nvPr/>
          </p:nvGrpSpPr>
          <p:grpSpPr>
            <a:xfrm>
              <a:off x="8798076" y="3650127"/>
              <a:ext cx="2568077" cy="1785484"/>
              <a:chOff x="7127744" y="3650127"/>
              <a:chExt cx="2568077" cy="1785484"/>
            </a:xfrm>
          </p:grpSpPr>
          <p:sp>
            <p:nvSpPr>
              <p:cNvPr descr="78ab88be-b45d-4a0d-8a5a-773d6fc98561" id="54" name="Number5">
                <a:extLst>
                  <a:ext uri="{FF2B5EF4-FFF2-40B4-BE49-F238E27FC236}">
                    <a16:creationId id="{4ED75C88-A748-CC22-D114-8CDDFB694522}"/>
                  </a:ext>
                </a:extLst>
              </p:cNvPr>
              <p:cNvSpPr/>
              <p:nvPr/>
            </p:nvSpPr>
            <p:spPr>
              <a:xfrm flipH="false" flipV="false">
                <a:off x="8118531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05</a:t>
                </a:r>
              </a:p>
            </p:txBody>
          </p:sp>
          <p:grpSp>
            <p:nvGrpSpPr>
              <p:cNvPr descr="759f1b15-00e5-4455-87fe-426a104c3a87" id="99" name="组合 98">
                <a:extLst>
                  <a:ext uri="{FF2B5EF4-FFF2-40B4-BE49-F238E27FC236}">
                    <a16:creationId id="{103E8423-CBEA-48A7-70D0-2E46B29E74C9}"/>
                  </a:ext>
                </a:extLst>
              </p:cNvPr>
              <p:cNvGrpSpPr/>
              <p:nvPr/>
            </p:nvGrpSpPr>
            <p:grpSpPr>
              <a:xfrm>
                <a:off x="7127744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descr="430e05e3-4ecc-43d3-a1f6-dcf2b2f9f042" id="100" name="Bullet5">
                  <a:extLst>
                    <a:ext uri="{FF2B5EF4-FFF2-40B4-BE49-F238E27FC236}">
                      <a16:creationId id="{0D088875-EE1D-A8FD-909E-F0B68521341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670227" y="5090848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2000" u="none">
                      <a:solidFill>
                        <a:srgbClr val="FFFFFF"/>
                      </a:solidFill>
                      <a:latin typeface="Average"/>
                    </a:rPr>
                    <a:t>AI未来展望与建议</a:t>
                  </a:r>
                </a:p>
              </p:txBody>
            </p:sp>
            <p:cxnSp>
              <p:nvCxnSpPr>
                <p:cNvPr descr="a0f15895-3f38-4e3a-ad4b-4e4c84d3578a" id="102" name="直接连接符 101">
                  <a:extLst>
                    <a:ext uri="{FF2B5EF4-FFF2-40B4-BE49-F238E27FC236}">
                      <a16:creationId id="{3F36DC1A-CE3C-ABAF-4586-0C91B81D80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585212c8-ec95-4eb9-8bc7-e9317f73ef0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latin typeface="Average"/>
              </a:rPr>
              <a:t>AI赋能保险业现状</a:t>
            </a:r>
          </a:p>
        </p:txBody>
      </p:sp>
      <p:sp>
        <p:nvSpPr>
          <p:cNvPr descr="8ff2b344-0921-4b78-962e-7ac53a72cd5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了解AI在保险业的应用背景与现状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525ea586-9ff3-4c48-b1f9-9f8c7a8ca9d1" id="10" name="04f59ef4-5221-42b4-8f9f-1ded710e2b05.source.4.zh-Hans.pptx">
            <a:extLst>
              <a:ext uri="{FF2B5EF4-FFF2-40B4-BE49-F238E27FC236}">
                <a16:creationId id="{01EDC53D-DA66-99A6-431E-773F7898DE57}"/>
              </a:ext>
            </a:extLst>
          </p:cNvPr>
          <p:cNvGrpSpPr/>
          <p:nvPr/>
        </p:nvGrpSpPr>
        <p:grpSpPr>
          <a:xfrm>
            <a:off x="781512" y="1149506"/>
            <a:ext cx="10620588" cy="4125021"/>
            <a:chOff x="781512" y="1149506"/>
            <a:chExt cx="10620588" cy="4125021"/>
          </a:xfrm>
        </p:grpSpPr>
        <p:grpSp>
          <p:nvGrpSpPr>
            <p:cNvPr descr="a02c7a31-95f7-4214-beb1-a55f8d881e69" id="3" name="组合 2">
              <a:extLst>
                <a:ext uri="{FF2B5EF4-FFF2-40B4-BE49-F238E27FC236}">
                  <a16:creationId id="{F4EBF063-93B8-DB60-8FA3-A1173B4D8AFD}"/>
                </a:ext>
              </a:extLst>
            </p:cNvPr>
            <p:cNvGrpSpPr/>
            <p:nvPr/>
          </p:nvGrpSpPr>
          <p:grpSpPr>
            <a:xfrm>
              <a:off x="781512" y="2434552"/>
              <a:ext cx="4940685" cy="1335523"/>
              <a:chOff x="781512" y="2434552"/>
              <a:chExt cx="4940685" cy="1335523"/>
            </a:xfrm>
          </p:grpSpPr>
          <p:sp>
            <p:nvSpPr>
              <p:cNvPr descr="69061e05-9dd6-47e3-954d-6de3e05756c1" id="7" name="Text1">
                <a:extLst>
                  <a:ext uri="{FF2B5EF4-FFF2-40B4-BE49-F238E27FC236}">
                    <a16:creationId id="{C0F401B9-6C15-4DEE-85A5-6EB6179A116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526042" y="2980599"/>
                <a:ext cx="4196155" cy="789476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借助大数据和人工智能算法，可更准确地评估风险，制定个性化保险产品和价格，提高风险管控能力。</a:t>
                </a:r>
              </a:p>
            </p:txBody>
          </p:sp>
          <p:sp>
            <p:nvSpPr>
              <p:cNvPr descr="385c7e7c-0931-4485-8392-8741e19e2941" id="9" name="Bullet1">
                <a:extLst>
                  <a:ext uri="{FF2B5EF4-FFF2-40B4-BE49-F238E27FC236}">
                    <a16:creationId id="{12610B65-4515-45EA-B972-CDC609C43F0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526042" y="2434552"/>
                <a:ext cx="4196155" cy="54604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精准定价和风险管控</a:t>
                </a:r>
              </a:p>
            </p:txBody>
          </p:sp>
          <p:grpSp>
            <p:nvGrpSpPr>
              <p:cNvPr descr="42675766-21d2-44fa-8164-e7e32505799e" id="18" name="组合 17">
                <a:extLst>
                  <a:ext uri="{FF2B5EF4-FFF2-40B4-BE49-F238E27FC236}">
                    <a16:creationId id="{96A3BC98-9CAD-496F-BD91-B38CEC715DB8}"/>
                  </a:ext>
                </a:extLst>
              </p:cNvPr>
              <p:cNvGrpSpPr/>
              <p:nvPr/>
            </p:nvGrpSpPr>
            <p:grpSpPr>
              <a:xfrm>
                <a:off x="781512" y="2737036"/>
                <a:ext cx="580562" cy="580561"/>
                <a:chOff x="790920" y="1904979"/>
                <a:chExt cx="830484" cy="830483"/>
              </a:xfrm>
            </p:grpSpPr>
            <p:sp>
              <p:nvSpPr>
                <p:cNvPr descr="6a44c66c-0971-47d1-a504-7a5e8a5e88b9" id="15" name="弧形 14">
                  <a:extLst>
                    <a:ext uri="{FF2B5EF4-FFF2-40B4-BE49-F238E27FC236}">
                      <a16:creationId id="{2CD75A9E-588F-47A6-9BCD-35DC85714EEE}"/>
                    </a:ext>
                  </a:extLst>
                </p:cNvPr>
                <p:cNvSpPr/>
                <p:nvPr/>
              </p:nvSpPr>
              <p:spPr>
                <a:xfrm flipH="false" flipV="false" rot="10800000">
                  <a:off x="790920" y="1904979"/>
                  <a:ext cx="830484" cy="830483"/>
                </a:xfrm>
                <a:prstGeom prst="arc">
                  <a:avLst>
                    <a:gd fmla="val 16200000" name="adj1"/>
                    <a:gd fmla="val 12111527" name="adj2"/>
                  </a:avLst>
                </a:prstGeom>
                <a:ln cap="rnd" w="76200">
                  <a:gradFill>
                    <a:gsLst>
                      <a:gs pos="100000">
                        <a:schemeClr val="accent5">
                          <a:lumMod val="60000"/>
                          <a:lumOff val="40000"/>
                          <a:alpha val="0"/>
                        </a:schemeClr>
                      </a:gs>
                      <a:gs pos="20000">
                        <a:schemeClr val="accent5"/>
                      </a:gs>
                    </a:gsLst>
                    <a:lin ang="12000000" scaled="0"/>
                  </a:gra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78896a85-f194-4464-bdc8-1652f4b91a3f" id="17" name="Number1">
                  <a:extLst>
                    <a:ext uri="{FF2B5EF4-FFF2-40B4-BE49-F238E27FC236}">
                      <a16:creationId id="{B482C42B-6953-4F09-9FBB-C2954DD7A81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28721" y="1990017"/>
                  <a:ext cx="754879" cy="660404"/>
                </a:xfrm>
                <a:prstGeom prst="rect">
                  <a:avLst/>
                </a:prstGeom>
                <a:noFill/>
                <a:effectLst>
                  <a:outerShdw algn="ctr" blurRad="50800" dir="5400000" dist="50800" rotWithShape="0">
                    <a:schemeClr val="accent5">
                      <a:alpha val="20000"/>
                    </a:schemeClr>
                  </a:outerShdw>
                </a:effectLst>
              </p:spPr>
              <p:txBody>
                <a:bodyPr anchorCtr="false" rtlCol="0" wrap="none">
                  <a:spAutoFit/>
                </a:bodyPr>
                <a:lstStyle/>
                <a:p>
                  <a:pPr algn="l"/>
                  <a:r>
                    <a:rPr b="true" i="true" lang="en-US" sz="2400" u="none">
                      <a:latin typeface="Arial"/>
                    </a:rPr>
                    <a:t>01</a:t>
                  </a:r>
                </a:p>
              </p:txBody>
            </p:sp>
          </p:grpSp>
        </p:grpSp>
        <p:grpSp>
          <p:nvGrpSpPr>
            <p:cNvPr descr="448f6668-b2ab-490f-95d6-df83b8f6d455" id="4" name="组合 3">
              <a:extLst>
                <a:ext uri="{FF2B5EF4-FFF2-40B4-BE49-F238E27FC236}">
                  <a16:creationId id="{4EDD2303-A5D9-D8DD-58C1-94D62218D875}"/>
                </a:ext>
              </a:extLst>
            </p:cNvPr>
            <p:cNvGrpSpPr/>
            <p:nvPr/>
          </p:nvGrpSpPr>
          <p:grpSpPr>
            <a:xfrm>
              <a:off x="6493411" y="2416582"/>
              <a:ext cx="4908689" cy="1335523"/>
              <a:chOff x="6493411" y="2416582"/>
              <a:chExt cx="4908689" cy="1335523"/>
            </a:xfrm>
          </p:grpSpPr>
          <p:grpSp>
            <p:nvGrpSpPr>
              <p:cNvPr descr="8286ba1a-d486-4112-9eb2-3547c0c46cc7" id="21" name="组合 20">
                <a:extLst>
                  <a:ext uri="{FF2B5EF4-FFF2-40B4-BE49-F238E27FC236}">
                    <a16:creationId id="{A8ACF893-C76D-4658-AAEC-1AF822118E1C}"/>
                  </a:ext>
                </a:extLst>
              </p:cNvPr>
              <p:cNvGrpSpPr/>
              <p:nvPr/>
            </p:nvGrpSpPr>
            <p:grpSpPr>
              <a:xfrm>
                <a:off x="10821538" y="2737888"/>
                <a:ext cx="580562" cy="580561"/>
                <a:chOff x="790920" y="2043827"/>
                <a:chExt cx="691635" cy="691634"/>
              </a:xfrm>
            </p:grpSpPr>
            <p:sp>
              <p:nvSpPr>
                <p:cNvPr descr="5eb6e059-0362-469a-9384-6c48a9c1f545" id="22" name="弧形 21">
                  <a:extLst>
                    <a:ext uri="{FF2B5EF4-FFF2-40B4-BE49-F238E27FC236}">
                      <a16:creationId id="{7A53651E-669E-4679-AB7D-830815AE7F6C}"/>
                    </a:ext>
                  </a:extLst>
                </p:cNvPr>
                <p:cNvSpPr/>
                <p:nvPr/>
              </p:nvSpPr>
              <p:spPr>
                <a:xfrm flipH="false" flipV="false" rot="10800000">
                  <a:off x="790920" y="2043827"/>
                  <a:ext cx="691635" cy="691634"/>
                </a:xfrm>
                <a:prstGeom prst="arc">
                  <a:avLst>
                    <a:gd fmla="val 16200000" name="adj1"/>
                    <a:gd fmla="val 12111527" name="adj2"/>
                  </a:avLst>
                </a:prstGeom>
                <a:ln cap="rnd" w="76200">
                  <a:gradFill>
                    <a:gsLst>
                      <a:gs pos="100000">
                        <a:schemeClr val="accent3">
                          <a:lumMod val="60000"/>
                          <a:lumOff val="40000"/>
                          <a:alpha val="0"/>
                        </a:schemeClr>
                      </a:gs>
                      <a:gs pos="20000">
                        <a:schemeClr val="accent3"/>
                      </a:gs>
                    </a:gsLst>
                    <a:lin ang="12000000" scaled="0"/>
                  </a:gra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9c734aa8-9a41-4aff-b4c4-f9016e64d768" id="23" name="Number2">
                  <a:extLst>
                    <a:ext uri="{FF2B5EF4-FFF2-40B4-BE49-F238E27FC236}">
                      <a16:creationId id="{5DF93F25-66FA-4F3A-95FF-44DC5D63CAC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18114" y="2114647"/>
                  <a:ext cx="628670" cy="549990"/>
                </a:xfrm>
                <a:prstGeom prst="rect">
                  <a:avLst/>
                </a:prstGeom>
                <a:noFill/>
                <a:effectLst>
                  <a:outerShdw algn="ctr" blurRad="50800" dir="5400000" dist="50800" rotWithShape="0">
                    <a:schemeClr val="accent3">
                      <a:alpha val="20000"/>
                    </a:schemeClr>
                  </a:outerShdw>
                </a:effectLst>
              </p:spPr>
              <p:txBody>
                <a:bodyPr anchorCtr="false" rtlCol="0" wrap="none">
                  <a:spAutoFit/>
                </a:bodyPr>
                <a:lstStyle>
                  <a:defPPr>
                    <a:defRPr lang="zh-CN"/>
                  </a:defPPr>
                  <a:lvl1pPr>
                    <a:defRPr b="1" i="1" sz="3200">
                      <a:gradFill>
                        <a:gsLst>
                          <a:gs pos="0">
                            <a:schemeClr val="accent3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3"/>
                          </a:gs>
                        </a:gsLst>
                        <a:lin ang="2700000" scaled="0"/>
                      </a:gradFill>
                    </a:defRPr>
                  </a:lvl1pPr>
                </a:lstStyle>
                <a:p>
                  <a:pPr algn="l"/>
                  <a:r>
                    <a:rPr b="true" i="true" lang="en-US" sz="2400" u="none">
                      <a:latin typeface="Arial"/>
                    </a:rPr>
                    <a:t>02</a:t>
                  </a:r>
                </a:p>
              </p:txBody>
            </p:sp>
          </p:grpSp>
          <p:sp>
            <p:nvSpPr>
              <p:cNvPr descr="3f405dda-b6ee-4fea-abdf-f4c4da7899d4" id="47" name="Text2">
                <a:extLst>
                  <a:ext uri="{FF2B5EF4-FFF2-40B4-BE49-F238E27FC236}">
                    <a16:creationId id="{0EF0ED99-A517-4FDE-8867-489416BEE22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493411" y="2962629"/>
                <a:ext cx="4196155" cy="789476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latin typeface="Average"/>
                  </a:rPr>
                  <a:t>AI技术推动保险产品和服务创新，如基于物联网的智能保险、基于区块链的保险合约等，带来新的增长点。</a:t>
                </a:r>
              </a:p>
            </p:txBody>
          </p:sp>
          <p:sp>
            <p:nvSpPr>
              <p:cNvPr descr="dfee0871-e28b-4780-ab85-97cadb4befab" id="49" name="Bullet2">
                <a:extLst>
                  <a:ext uri="{FF2B5EF4-FFF2-40B4-BE49-F238E27FC236}">
                    <a16:creationId id="{A95E104A-7250-41A0-AF19-F7D3AE7DE4E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493411" y="2416582"/>
                <a:ext cx="4196155" cy="54604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创新保险产品和服务</a:t>
                </a:r>
              </a:p>
            </p:txBody>
          </p:sp>
        </p:grpSp>
        <p:grpSp>
          <p:nvGrpSpPr>
            <p:cNvPr descr="639908b2-0303-4221-bc78-5760a67f84d4" id="5" name="组合 4">
              <a:extLst>
                <a:ext uri="{FF2B5EF4-FFF2-40B4-BE49-F238E27FC236}">
                  <a16:creationId id="{9C7E53B0-C82B-ED1A-6EFF-31068CA81004}"/>
                </a:ext>
              </a:extLst>
            </p:cNvPr>
            <p:cNvGrpSpPr/>
            <p:nvPr/>
          </p:nvGrpSpPr>
          <p:grpSpPr>
            <a:xfrm>
              <a:off x="781512" y="3939004"/>
              <a:ext cx="4940685" cy="1335523"/>
              <a:chOff x="781512" y="3939004"/>
              <a:chExt cx="4940685" cy="1335523"/>
            </a:xfrm>
          </p:grpSpPr>
          <p:sp>
            <p:nvSpPr>
              <p:cNvPr descr="47d7dd6a-f7b4-4dcc-8adb-a5d8bbe5c5d8" id="19" name="Text3">
                <a:extLst>
                  <a:ext uri="{FF2B5EF4-FFF2-40B4-BE49-F238E27FC236}">
                    <a16:creationId id="{D9EEA21E-0AF6-4364-8A0D-62CDEC73EED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526042" y="4485051"/>
                <a:ext cx="4196155" cy="789476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通过智能客服、智能理赔等系统，为客户提供便捷、高效的服务体验，提升客户满意度和忠诚度。</a:t>
                </a:r>
              </a:p>
            </p:txBody>
          </p:sp>
          <p:sp>
            <p:nvSpPr>
              <p:cNvPr descr="9cbd41c2-858c-4d36-8eb5-d32c2081a377" id="20" name="Bullet3">
                <a:extLst>
                  <a:ext uri="{FF2B5EF4-FFF2-40B4-BE49-F238E27FC236}">
                    <a16:creationId id="{5124E96E-D51F-460B-9AE8-2CD7284278D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526042" y="3939004"/>
                <a:ext cx="4196155" cy="54604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优化客户服务体验</a:t>
                </a:r>
              </a:p>
            </p:txBody>
          </p:sp>
          <p:grpSp>
            <p:nvGrpSpPr>
              <p:cNvPr descr="00f78026-3abc-467e-96e9-0d1df309d507" id="26" name="组合 25">
                <a:extLst>
                  <a:ext uri="{FF2B5EF4-FFF2-40B4-BE49-F238E27FC236}">
                    <a16:creationId id="{5158E11C-D0A9-4DD3-A90C-E93FA1B68F35}"/>
                  </a:ext>
                </a:extLst>
              </p:cNvPr>
              <p:cNvGrpSpPr/>
              <p:nvPr/>
            </p:nvGrpSpPr>
            <p:grpSpPr>
              <a:xfrm>
                <a:off x="781512" y="4247854"/>
                <a:ext cx="580561" cy="580560"/>
                <a:chOff x="790919" y="1904979"/>
                <a:chExt cx="691633" cy="691632"/>
              </a:xfrm>
            </p:grpSpPr>
            <p:sp>
              <p:nvSpPr>
                <p:cNvPr descr="44881cd2-063f-4481-aeed-0df354f6ca1b" id="27" name="弧形 26">
                  <a:extLst>
                    <a:ext uri="{FF2B5EF4-FFF2-40B4-BE49-F238E27FC236}">
                      <a16:creationId id="{89B7BFD8-5D9B-4ACD-975F-84C0387EEE9D}"/>
                    </a:ext>
                  </a:extLst>
                </p:cNvPr>
                <p:cNvSpPr/>
                <p:nvPr/>
              </p:nvSpPr>
              <p:spPr>
                <a:xfrm flipH="false" flipV="false" rot="10800000">
                  <a:off x="790919" y="1904979"/>
                  <a:ext cx="691633" cy="691632"/>
                </a:xfrm>
                <a:prstGeom prst="arc">
                  <a:avLst>
                    <a:gd fmla="val 16200000" name="adj1"/>
                    <a:gd fmla="val 12111527" name="adj2"/>
                  </a:avLst>
                </a:prstGeom>
                <a:ln cap="rnd" w="7620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20000">
                        <a:schemeClr val="accent1"/>
                      </a:gs>
                    </a:gsLst>
                    <a:lin ang="12000000" scaled="0"/>
                  </a:gra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ac8ac5a7-4e64-4c37-b0c7-5e9b73627225" id="28" name="Number3">
                  <a:extLst>
                    <a:ext uri="{FF2B5EF4-FFF2-40B4-BE49-F238E27FC236}">
                      <a16:creationId id="{79AEA648-EB8D-49A7-9441-026C4175BB5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29600" y="1965488"/>
                  <a:ext cx="628669" cy="549990"/>
                </a:xfrm>
                <a:prstGeom prst="rect">
                  <a:avLst/>
                </a:prstGeom>
                <a:noFill/>
                <a:effectLst>
                  <a:outerShdw algn="ctr" blurRad="50800" dir="5400000" dist="50800" rotWithShape="0">
                    <a:schemeClr val="accent1">
                      <a:alpha val="20000"/>
                    </a:schemeClr>
                  </a:outerShdw>
                </a:effectLst>
              </p:spPr>
              <p:txBody>
                <a:bodyPr anchorCtr="false" rtlCol="0" wrap="none">
                  <a:spAutoFit/>
                </a:bodyPr>
                <a:lstStyle>
                  <a:defPPr>
                    <a:defRPr lang="zh-CN"/>
                  </a:defPPr>
                  <a:lvl1pPr>
                    <a:defRPr b="1" i="1" sz="32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</a:defRPr>
                  </a:lvl1pPr>
                </a:lstStyle>
                <a:p>
                  <a:pPr algn="l"/>
                  <a:r>
                    <a:rPr b="true" i="true" lang="en-US" sz="2400" u="none">
                      <a:latin typeface="Arial"/>
                    </a:rPr>
                    <a:t>03</a:t>
                  </a:r>
                </a:p>
              </p:txBody>
            </p:sp>
          </p:grpSp>
        </p:grpSp>
        <p:grpSp>
          <p:nvGrpSpPr>
            <p:cNvPr descr="6a025973-7c4c-463d-910b-1781083cfaae" id="6" name="组合 5">
              <a:extLst>
                <a:ext uri="{FF2B5EF4-FFF2-40B4-BE49-F238E27FC236}">
                  <a16:creationId id="{77807E3A-00A7-3566-8C1E-0E46B2436985}"/>
                </a:ext>
              </a:extLst>
            </p:cNvPr>
            <p:cNvGrpSpPr/>
            <p:nvPr/>
          </p:nvGrpSpPr>
          <p:grpSpPr>
            <a:xfrm>
              <a:off x="6493411" y="3921034"/>
              <a:ext cx="4908689" cy="1335523"/>
              <a:chOff x="6493411" y="3921034"/>
              <a:chExt cx="4908689" cy="1335523"/>
            </a:xfrm>
          </p:grpSpPr>
          <p:grpSp>
            <p:nvGrpSpPr>
              <p:cNvPr descr="4277f755-de9e-4d1e-b58b-d38e016a3793" id="43" name="组合 42">
                <a:extLst>
                  <a:ext uri="{FF2B5EF4-FFF2-40B4-BE49-F238E27FC236}">
                    <a16:creationId id="{5E628965-8A96-4CF9-9884-07AE2A2FFA51}"/>
                  </a:ext>
                </a:extLst>
              </p:cNvPr>
              <p:cNvGrpSpPr/>
              <p:nvPr/>
            </p:nvGrpSpPr>
            <p:grpSpPr>
              <a:xfrm>
                <a:off x="10821539" y="4248281"/>
                <a:ext cx="580561" cy="580560"/>
                <a:chOff x="786632" y="1894668"/>
                <a:chExt cx="691633" cy="691632"/>
              </a:xfrm>
            </p:grpSpPr>
            <p:sp>
              <p:nvSpPr>
                <p:cNvPr descr="4678a417-4967-44c1-a9e0-48d73b364d30" id="44" name="弧形 43">
                  <a:extLst>
                    <a:ext uri="{FF2B5EF4-FFF2-40B4-BE49-F238E27FC236}">
                      <a16:creationId id="{B6FB98EC-5DB8-4DB4-B491-4E9764853A42}"/>
                    </a:ext>
                  </a:extLst>
                </p:cNvPr>
                <p:cNvSpPr/>
                <p:nvPr/>
              </p:nvSpPr>
              <p:spPr>
                <a:xfrm flipH="false" flipV="false" rot="10800000">
                  <a:off x="786632" y="1894668"/>
                  <a:ext cx="691633" cy="691632"/>
                </a:xfrm>
                <a:prstGeom prst="arc">
                  <a:avLst>
                    <a:gd fmla="val 16200000" name="adj1"/>
                    <a:gd fmla="val 12111527" name="adj2"/>
                  </a:avLst>
                </a:prstGeom>
                <a:ln cap="rnd" w="76200">
                  <a:gradFill>
                    <a:gsLst>
                      <a:gs pos="100000">
                        <a:schemeClr val="accent2">
                          <a:lumMod val="60000"/>
                          <a:lumOff val="40000"/>
                          <a:alpha val="0"/>
                        </a:schemeClr>
                      </a:gs>
                      <a:gs pos="20000">
                        <a:schemeClr val="accent2"/>
                      </a:gs>
                    </a:gsLst>
                    <a:lin ang="12000000" scaled="0"/>
                  </a:gra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81a60a42-0677-44bd-84d8-cc796c2bcf3c" id="45" name="Number4">
                  <a:extLst>
                    <a:ext uri="{FF2B5EF4-FFF2-40B4-BE49-F238E27FC236}">
                      <a16:creationId id="{DD8C224B-5C04-4D5D-92C1-5D348CB63FBD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18115" y="1965487"/>
                  <a:ext cx="628669" cy="549990"/>
                </a:xfrm>
                <a:prstGeom prst="rect">
                  <a:avLst/>
                </a:prstGeom>
                <a:noFill/>
                <a:effectLst>
                  <a:outerShdw algn="ctr" blurRad="50800" dir="5400000" dist="50800" rotWithShape="0">
                    <a:schemeClr val="accent2">
                      <a:alpha val="20000"/>
                    </a:schemeClr>
                  </a:outerShdw>
                </a:effectLst>
              </p:spPr>
              <p:txBody>
                <a:bodyPr anchorCtr="false" rtlCol="0" wrap="none">
                  <a:spAutoFit/>
                </a:bodyPr>
                <a:lstStyle>
                  <a:defPPr>
                    <a:defRPr lang="zh-CN"/>
                  </a:defPPr>
                  <a:lvl1pPr>
                    <a:defRPr b="1" i="1" sz="3200">
                      <a:gradFill>
                        <a:gsLst>
                          <a:gs pos="0">
                            <a:schemeClr val="accent2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2"/>
                          </a:gs>
                        </a:gsLst>
                        <a:lin ang="2700000" scaled="0"/>
                      </a:gradFill>
                    </a:defRPr>
                  </a:lvl1pPr>
                </a:lstStyle>
                <a:p>
                  <a:pPr algn="l"/>
                  <a:r>
                    <a:rPr b="true" i="true" lang="en-US" sz="2400" u="none">
                      <a:latin typeface="Arial"/>
                    </a:rPr>
                    <a:t>04</a:t>
                  </a:r>
                </a:p>
              </p:txBody>
            </p:sp>
          </p:grpSp>
          <p:sp>
            <p:nvSpPr>
              <p:cNvPr descr="135af680-a663-4bc2-8487-818f1d0def60" id="50" name="Text4">
                <a:extLst>
                  <a:ext uri="{FF2B5EF4-FFF2-40B4-BE49-F238E27FC236}">
                    <a16:creationId id="{C80E8D38-1E51-45C0-A7C9-E0F2D9A16B0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493411" y="4467081"/>
                <a:ext cx="4239222" cy="789476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实现自动化承保、理赔等流程，减少人工操作，提高业务处理效率，降低运营成本。</a:t>
                </a:r>
              </a:p>
            </p:txBody>
          </p:sp>
          <p:sp>
            <p:nvSpPr>
              <p:cNvPr descr="3bb957a7-1b5a-44a0-b37f-fc7fd7a51f1f" id="51" name="Bullet4">
                <a:extLst>
                  <a:ext uri="{FF2B5EF4-FFF2-40B4-BE49-F238E27FC236}">
                    <a16:creationId id="{ECB187A3-6CEC-4C65-BACC-CA196914E1D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493411" y="3921034"/>
                <a:ext cx="4239222" cy="54604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提高保险业务效率</a:t>
                </a:r>
              </a:p>
            </p:txBody>
          </p:sp>
        </p:grpSp>
        <p:sp>
          <p:nvSpPr>
            <p:cNvPr descr="ed4b19ce-2d2a-4b33-9a3e-844c3c5485c7" id="61" name="Title">
              <a:extLst>
                <a:ext uri="{FF2B5EF4-FFF2-40B4-BE49-F238E27FC236}">
                  <a16:creationId id="{C91FDEDF-00EE-42A1-94A1-FE6FA3B3EE1A}"/>
                </a:ext>
              </a:extLst>
            </p:cNvPr>
            <p:cNvSpPr txBox="1"/>
            <p:nvPr/>
          </p:nvSpPr>
          <p:spPr>
            <a:xfrm flipH="false" flipV="false">
              <a:off x="1459366" y="1149506"/>
              <a:ext cx="9273268" cy="814005"/>
            </a:xfrm>
            <a:prstGeom prst="rect">
              <a:avLst/>
            </a:prstGeom>
            <a:noFill/>
          </p:spPr>
          <p:txBody>
            <a:bodyPr anchor="b" anchorCtr="true" rtlCol="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探究AI为保险业带来的价值</a:t>
              </a:r>
            </a:p>
          </p:txBody>
        </p: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保险业与AI结合意义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1dff790e-f967-4b8b-b58c-16cac3a4ff2e" id="11" name="285c8d56-8460-4c77-a852-ee22b3392865.source.2.zh-Hans.pptx">
            <a:extLst>
              <a:ext uri="{FF2B5EF4-FFF2-40B4-BE49-F238E27FC236}">
                <a16:creationId id="{09D00D1A-934D-AA33-09CF-34371FFE0AB1}"/>
              </a:ext>
            </a:extLst>
          </p:cNvPr>
          <p:cNvGrpSpPr/>
          <p:nvPr/>
        </p:nvGrpSpPr>
        <p:grpSpPr>
          <a:xfrm>
            <a:off x="660400" y="1130300"/>
            <a:ext cx="10858500" cy="4259232"/>
            <a:chOff x="660400" y="1130300"/>
            <a:chExt cx="10858500" cy="4259232"/>
          </a:xfrm>
        </p:grpSpPr>
        <p:sp>
          <p:nvSpPr>
            <p:cNvPr descr="7ea3216e-267c-4e13-9ea0-0ec4994285d3" id="5" name="iŝľíde">
              <a:extLst>
                <a:ext uri="{FF2B5EF4-FFF2-40B4-BE49-F238E27FC236}">
                  <a16:creationId id="{634CCE3D-A155-4BED-8D5C-CCFEFB3787C7}"/>
                </a:ext>
              </a:extLst>
            </p:cNvPr>
            <p:cNvSpPr/>
            <p:nvPr/>
          </p:nvSpPr>
          <p:spPr>
            <a:xfrm flipH="true" flipV="false">
              <a:off x="7001344" y="2284910"/>
              <a:ext cx="2857746" cy="884888"/>
            </a:xfrm>
            <a:prstGeom prst="roundRect">
              <a:avLst/>
            </a:prstGeom>
            <a:solidFill>
              <a:schemeClr val="tx2">
                <a:alpha val="15000"/>
              </a:schemeClr>
            </a:solidFill>
            <a:ln cap="rnd" w="1270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sp>
          <p:nvSpPr>
            <p:cNvPr descr="0c39a920-497b-4a57-a9ef-8229ee87dccd" id="4" name="îšļiḑé">
              <a:extLst>
                <a:ext uri="{FF2B5EF4-FFF2-40B4-BE49-F238E27FC236}">
                  <a16:creationId id="{FD32D540-EF8C-4921-985D-27E82DE61B6C}"/>
                </a:ext>
              </a:extLst>
            </p:cNvPr>
            <p:cNvSpPr/>
            <p:nvPr/>
          </p:nvSpPr>
          <p:spPr>
            <a:xfrm flipH="true" flipV="false">
              <a:off x="2472067" y="2284910"/>
              <a:ext cx="2857746" cy="884888"/>
            </a:xfrm>
            <a:prstGeom prst="roundRect">
              <a:avLst/>
            </a:prstGeom>
            <a:solidFill>
              <a:schemeClr val="tx2">
                <a:alpha val="15000"/>
              </a:schemeClr>
            </a:solidFill>
            <a:ln cap="rnd" w="1270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sp>
          <p:nvSpPr>
            <p:cNvPr descr="8d13de5a-3195-4c02-9820-32d5bbc741fa" id="7" name="Title">
              <a:extLst>
                <a:ext uri="{FF2B5EF4-FFF2-40B4-BE49-F238E27FC236}">
                  <a16:creationId id="{D98720DE-3264-4212-144B-67465569448C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分析国内外保险公司AI应用情况</a:t>
              </a:r>
            </a:p>
          </p:txBody>
        </p:sp>
        <p:grpSp>
          <p:nvGrpSpPr>
            <p:cNvPr descr="e993c945-1ce8-41e4-b839-240c5c8f12c0" id="15" name="组合 14">
              <a:extLst>
                <a:ext uri="{FF2B5EF4-FFF2-40B4-BE49-F238E27FC236}">
                  <a16:creationId id="{2109449D-974E-71EB-6B37-B906AB62C78F}"/>
                </a:ext>
              </a:extLst>
            </p:cNvPr>
            <p:cNvGrpSpPr/>
            <p:nvPr/>
          </p:nvGrpSpPr>
          <p:grpSpPr>
            <a:xfrm>
              <a:off x="2320208" y="2156292"/>
              <a:ext cx="3009607" cy="3233240"/>
              <a:chOff x="2320208" y="2156292"/>
              <a:chExt cx="3009607" cy="3233240"/>
            </a:xfrm>
          </p:grpSpPr>
          <p:sp>
            <p:nvSpPr>
              <p:cNvPr descr="d6ec6832-59b7-4ad1-9511-b14d1e060637" id="8" name="Number1">
                <a:extLst>
                  <a:ext uri="{FF2B5EF4-FFF2-40B4-BE49-F238E27FC236}">
                    <a16:creationId id="{D0809FFD-1236-4D92-B15A-CD7FC7C409F9}"/>
                  </a:ext>
                </a:extLst>
              </p:cNvPr>
              <p:cNvSpPr txBox="1"/>
              <p:nvPr/>
            </p:nvSpPr>
            <p:spPr>
              <a:xfrm flipH="false" flipV="false">
                <a:off x="2596263" y="2434964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true" i="true" lang="en-US" sz="32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dd91a785-1d49-445a-a3db-e31f214dc701" id="18" name="Bullet1">
                <a:extLst>
                  <a:ext uri="{FF2B5EF4-FFF2-40B4-BE49-F238E27FC236}">
                    <a16:creationId id="{4BB491D8-A6AD-4585-A939-82CDBCC16D84}"/>
                  </a:ext>
                </a:extLst>
              </p:cNvPr>
              <p:cNvSpPr txBox="1"/>
              <p:nvPr/>
            </p:nvSpPr>
            <p:spPr>
              <a:xfrm flipH="false" flipV="false">
                <a:off x="3236182" y="2284910"/>
                <a:ext cx="1927739" cy="88488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国外应用案例</a:t>
                </a:r>
              </a:p>
            </p:txBody>
          </p:sp>
          <p:sp>
            <p:nvSpPr>
              <p:cNvPr descr="9423d188-6691-4a2c-9245-c909272daed6" id="26" name="ComponentBackground1">
                <a:extLst>
                  <a:ext uri="{FF2B5EF4-FFF2-40B4-BE49-F238E27FC236}">
                    <a16:creationId id="{4A42AF27-6601-4C2E-B21D-2C92ED3F4A8A}"/>
                  </a:ext>
                </a:extLst>
              </p:cNvPr>
              <p:cNvSpPr/>
              <p:nvPr/>
            </p:nvSpPr>
            <p:spPr>
              <a:xfrm flipH="false" flipV="false">
                <a:off x="2472067" y="3372081"/>
                <a:ext cx="2857748" cy="2017451"/>
              </a:xfrm>
              <a:prstGeom prst="roundRect">
                <a:avLst>
                  <a:gd fmla="val 6800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1a6d2410-daf7-48ac-9f8b-1e09da206cf7" id="30" name="Text1">
                <a:extLst>
                  <a:ext uri="{FF2B5EF4-FFF2-40B4-BE49-F238E27FC236}">
                    <a16:creationId id="{5D32CE42-8C17-49D4-ADE8-DF642564345A}"/>
                  </a:ext>
                </a:extLst>
              </p:cNvPr>
              <p:cNvSpPr txBox="1"/>
              <p:nvPr/>
            </p:nvSpPr>
            <p:spPr>
              <a:xfrm flipH="false" flipV="false">
                <a:off x="2596263" y="3512741"/>
                <a:ext cx="2609356" cy="1781797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多家国际保险公司利用AI技术优化保险业务流程，如利用AI进行风险评估、理赔处理、欺诈检测等，提高业务效率。</a:t>
                </a:r>
              </a:p>
            </p:txBody>
          </p:sp>
          <p:sp>
            <p:nvSpPr>
              <p:cNvPr descr="8991eefa-20f3-42b3-9d6c-9cfd8a3a149e" id="3" name="Icon1">
                <a:extLst>
                  <a:ext uri="{FF2B5EF4-FFF2-40B4-BE49-F238E27FC236}">
                    <a16:creationId id="{53CB8888-4342-4A08-82E4-F72715C7FA8F}"/>
                  </a:ext>
                </a:extLst>
              </p:cNvPr>
              <p:cNvSpPr/>
              <p:nvPr/>
            </p:nvSpPr>
            <p:spPr>
              <a:xfrm flipH="false" flipV="false">
                <a:off x="2320208" y="2156292"/>
                <a:ext cx="306300" cy="306300"/>
              </a:xfrm>
              <a:prstGeom prst="ellipse">
                <a:avLst/>
              </a:prstGeom>
              <a:solidFill>
                <a:schemeClr val="tx2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47500" lnSpcReduction="20000"/>
              </a:bodyPr>
              <a:lstStyle/>
              <a:p>
                <a:pPr algn="ctr"/>
              </a:p>
            </p:txBody>
          </p:sp>
        </p:grpSp>
        <p:grpSp>
          <p:nvGrpSpPr>
            <p:cNvPr descr="70d933b5-85d5-44cc-9753-2f5322b20454" id="13" name="组合 12">
              <a:extLst>
                <a:ext uri="{FF2B5EF4-FFF2-40B4-BE49-F238E27FC236}">
                  <a16:creationId id="{4234C2E0-7A1F-20E9-2115-9C6480E2C3C2}"/>
                </a:ext>
              </a:extLst>
            </p:cNvPr>
            <p:cNvGrpSpPr/>
            <p:nvPr/>
          </p:nvGrpSpPr>
          <p:grpSpPr>
            <a:xfrm>
              <a:off x="6848194" y="2156292"/>
              <a:ext cx="3010899" cy="3233240"/>
              <a:chOff x="6848194" y="2156292"/>
              <a:chExt cx="3010899" cy="3233240"/>
            </a:xfrm>
          </p:grpSpPr>
          <p:sp>
            <p:nvSpPr>
              <p:cNvPr descr="eadd4ed2-220f-4931-8470-8e7816ee573d" id="10" name="Number2">
                <a:extLst>
                  <a:ext uri="{FF2B5EF4-FFF2-40B4-BE49-F238E27FC236}">
                    <a16:creationId id="{A6D74746-84D7-4FC8-9E85-46912FC22C6E}"/>
                  </a:ext>
                </a:extLst>
              </p:cNvPr>
              <p:cNvSpPr txBox="1"/>
              <p:nvPr/>
            </p:nvSpPr>
            <p:spPr>
              <a:xfrm flipH="false" flipV="false">
                <a:off x="7113221" y="2434964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true" i="true" lang="en-US" sz="3200" u="none">
                    <a:solidFill>
                      <a:srgbClr val="E8A724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1c7870a6-fbe9-42ce-b206-560fc792c224" id="14" name="Bullet2">
                <a:extLst>
                  <a:ext uri="{FF2B5EF4-FFF2-40B4-BE49-F238E27FC236}">
                    <a16:creationId id="{73AA10F2-02B4-42DC-ACE9-9B67A9CF6044}"/>
                  </a:ext>
                </a:extLst>
              </p:cNvPr>
              <p:cNvSpPr txBox="1"/>
              <p:nvPr/>
            </p:nvSpPr>
            <p:spPr>
              <a:xfrm flipH="false" flipV="false">
                <a:off x="7807156" y="2284910"/>
                <a:ext cx="1927739" cy="88488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E8A724"/>
                    </a:solidFill>
                    <a:ea typeface="汉仪行楷简"/>
                  </a:rPr>
                  <a:t>国内应用案例</a:t>
                </a:r>
              </a:p>
            </p:txBody>
          </p:sp>
          <p:sp>
            <p:nvSpPr>
              <p:cNvPr descr="4e00ef29-06d3-4edc-8721-e3493a0f27bc" id="27" name="ComponentBackground2">
                <a:extLst>
                  <a:ext uri="{FF2B5EF4-FFF2-40B4-BE49-F238E27FC236}">
                    <a16:creationId id="{8B7F8C62-50FD-4BC0-BC2D-5DB7DD6E572F}"/>
                  </a:ext>
                </a:extLst>
              </p:cNvPr>
              <p:cNvSpPr/>
              <p:nvPr/>
            </p:nvSpPr>
            <p:spPr>
              <a:xfrm flipH="false" flipV="false">
                <a:off x="7001345" y="3372081"/>
                <a:ext cx="2857748" cy="2017451"/>
              </a:xfrm>
              <a:prstGeom prst="roundRect">
                <a:avLst>
                  <a:gd fmla="val 6800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2cfbd087-8834-401e-8e6a-38c3b213576e" id="32" name="Text2">
                <a:extLst>
                  <a:ext uri="{FF2B5EF4-FFF2-40B4-BE49-F238E27FC236}">
                    <a16:creationId id="{A4CBD039-9E19-43A3-9AEF-66AB8D21AADE}"/>
                  </a:ext>
                </a:extLst>
              </p:cNvPr>
              <p:cNvSpPr txBox="1"/>
              <p:nvPr/>
            </p:nvSpPr>
            <p:spPr>
              <a:xfrm flipH="false" flipV="false">
                <a:off x="7125539" y="3501403"/>
                <a:ext cx="2609356" cy="1781797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国内保险公司积极探索AI技术应用，如智能客服、智能核保、智能定损等，提升服务质量和效率，增强市场竞争力。</a:t>
                </a:r>
              </a:p>
            </p:txBody>
          </p:sp>
          <p:sp>
            <p:nvSpPr>
              <p:cNvPr descr="24c8278f-104e-4a25-ab9a-1fbd10cba686" id="2" name="Icon2">
                <a:extLst>
                  <a:ext uri="{FF2B5EF4-FFF2-40B4-BE49-F238E27FC236}">
                    <a16:creationId id="{D959A1F7-3808-4AFA-B36C-D3DD4533E4D3}"/>
                  </a:ext>
                </a:extLst>
              </p:cNvPr>
              <p:cNvSpPr/>
              <p:nvPr/>
            </p:nvSpPr>
            <p:spPr>
              <a:xfrm flipH="false" flipV="false">
                <a:off x="6848194" y="2156292"/>
                <a:ext cx="306300" cy="306300"/>
              </a:xfrm>
              <a:prstGeom prst="ellipse">
                <a:avLst/>
              </a:prstGeom>
              <a:solidFill>
                <a:schemeClr val="accent1"/>
              </a:solidFill>
              <a:ln cap="rnd" w="57150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47500" lnSpcReduction="20000"/>
              </a:bodyPr>
              <a:lstStyle/>
              <a:p>
                <a:pPr algn="ctr"/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国内外应用案例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585212c8-ec95-4eb9-8bc7-e9317f73ef0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latin typeface="Average"/>
              </a:rPr>
              <a:t>AI优化保险业务</a:t>
            </a:r>
          </a:p>
        </p:txBody>
      </p:sp>
      <p:sp>
        <p:nvSpPr>
          <p:cNvPr descr="8ff2b344-0921-4b78-962e-7ac53a72cd5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深入剖析AI在保险业务各环节的作用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91f33a00-53fe-49ca-8815-5f11b40db783" id="49" name="2c8ae76e-f724-481a-812e-81fe8a22b855.source.4.zh-Hans.pptx">
            <a:extLst>
              <a:ext uri="{FF2B5EF4-FFF2-40B4-BE49-F238E27FC236}">
                <a16:creationId id="{75B5D0B7-C3A7-1BCA-B100-E2DE185F99A5}"/>
              </a:ext>
            </a:extLst>
          </p:cNvPr>
          <p:cNvGrpSpPr/>
          <p:nvPr/>
        </p:nvGrpSpPr>
        <p:grpSpPr>
          <a:xfrm>
            <a:off x="0" y="1"/>
            <a:ext cx="12192000" cy="6134099"/>
            <a:chOff x="0" y="1"/>
            <a:chExt cx="12192000" cy="6134099"/>
          </a:xfrm>
        </p:grpSpPr>
        <p:sp>
          <p:nvSpPr>
            <p:cNvPr descr="f2dc7af0-430c-4913-a3ab-4488c6b3817d" id="3" name="íşlîḑê">
              <a:extLst>
                <a:ext uri="{FF2B5EF4-FFF2-40B4-BE49-F238E27FC236}">
                  <a16:creationId id="{C1BEF886-2309-4E8A-8AFA-65BA9BEE56D7}"/>
                </a:ext>
              </a:extLst>
            </p:cNvPr>
            <p:cNvSpPr/>
            <p:nvPr/>
          </p:nvSpPr>
          <p:spPr>
            <a:xfrm flipH="false" flipV="false">
              <a:off x="0" y="1"/>
              <a:ext cx="12192000" cy="4208552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grpSp>
          <p:nvGrpSpPr>
            <p:cNvPr descr="a4462493-dd59-4d8f-921d-9e1a5485b750" id="45" name="组合 44">
              <a:extLst>
                <a:ext uri="{FF2B5EF4-FFF2-40B4-BE49-F238E27FC236}">
                  <a16:creationId id="{35279197-228E-753D-0023-788C8B54FF72}"/>
                </a:ext>
              </a:extLst>
            </p:cNvPr>
            <p:cNvGrpSpPr/>
            <p:nvPr/>
          </p:nvGrpSpPr>
          <p:grpSpPr>
            <a:xfrm>
              <a:off x="1052772" y="1295371"/>
              <a:ext cx="2297179" cy="3704983"/>
              <a:chOff x="1052772" y="1295371"/>
              <a:chExt cx="2297179" cy="3704983"/>
            </a:xfrm>
          </p:grpSpPr>
          <p:sp>
            <p:nvSpPr>
              <p:cNvPr descr="7607e3bc-9ce0-4ef1-aa9b-fdb1daa3da3b" id="41" name="IconBackground1">
                <a:extLst>
                  <a:ext uri="{FF2B5EF4-FFF2-40B4-BE49-F238E27FC236}">
                    <a16:creationId id="{E1C5E516-43BA-4431-843A-95BADB9715AD}"/>
                  </a:ext>
                </a:extLst>
              </p:cNvPr>
              <p:cNvSpPr/>
              <p:nvPr/>
            </p:nvSpPr>
            <p:spPr>
              <a:xfrm flipH="false" flipV="false">
                <a:off x="1667756" y="3933142"/>
                <a:ext cx="1067212" cy="1067212"/>
              </a:xfrm>
              <a:prstGeom prst="ellipse">
                <a:avLst/>
              </a:prstGeom>
              <a:solidFill>
                <a:schemeClr val="accent1"/>
              </a:solidFill>
              <a:ln w="571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fd9fb381-e83e-41b2-b2e8-900314207598" id="42" name="Icon1">
                <a:extLst>
                  <a:ext uri="{FF2B5EF4-FFF2-40B4-BE49-F238E27FC236}">
                    <a16:creationId id="{58914EBC-106C-421B-BE16-4BC7F2C29F96}"/>
                  </a:ext>
                </a:extLst>
              </p:cNvPr>
              <p:cNvSpPr/>
              <p:nvPr/>
            </p:nvSpPr>
            <p:spPr>
              <a:xfrm flipH="false" flipV="false">
                <a:off x="1959125" y="4177011"/>
                <a:ext cx="484475" cy="579474"/>
              </a:xfrm>
              <a:custGeom>
                <a:avLst/>
                <a:gdLst>
                  <a:gd fmla="*/ 258823 w 506313" name="connsiteX0"/>
                  <a:gd fmla="*/ 278875 h 605593" name="connsiteY0"/>
                  <a:gd fmla="*/ 303122 w 506313" name="connsiteX1"/>
                  <a:gd fmla="*/ 278875 h 605593" name="connsiteY1"/>
                  <a:gd fmla="*/ 347513 w 506313" name="connsiteX2"/>
                  <a:gd fmla="*/ 278875 h 605593" name="connsiteY2"/>
                  <a:gd fmla="*/ 506313 w 506313" name="connsiteX3"/>
                  <a:gd fmla="*/ 438167 h 605593" name="connsiteY3"/>
                  <a:gd fmla="*/ 506313 w 506313" name="connsiteX4"/>
                  <a:gd fmla="*/ 565747 h 605593" name="connsiteY4"/>
                  <a:gd fmla="*/ 308339 w 506313" name="connsiteX5"/>
                  <a:gd fmla="*/ 605593 h 605593" name="connsiteY5"/>
                  <a:gd fmla="*/ 297265 w 506313" name="connsiteX6"/>
                  <a:gd fmla="*/ 605593 h 605593" name="connsiteY6"/>
                  <a:gd fmla="*/ 99291 w 506313" name="connsiteX7"/>
                  <a:gd fmla="*/ 565747 h 605593" name="connsiteY7"/>
                  <a:gd fmla="*/ 99291 w 506313" name="connsiteX8"/>
                  <a:gd fmla="*/ 525170 h 605593" name="connsiteY8"/>
                  <a:gd fmla="*/ 190910 w 506313" name="connsiteX9"/>
                  <a:gd fmla="*/ 567941 h 605593" name="connsiteY9"/>
                  <a:gd fmla="*/ 232280 w 506313" name="connsiteX10"/>
                  <a:gd fmla="*/ 559807 h 605593" name="connsiteY10"/>
                  <a:gd fmla="*/ 269898 w 506313" name="connsiteX11"/>
                  <a:gd fmla="*/ 538422 h 605593" name="connsiteY11"/>
                  <a:gd fmla="*/ 288386 w 506313" name="connsiteX12"/>
                  <a:gd fmla="*/ 450688 h 605593" name="connsiteY12"/>
                  <a:gd fmla="*/ 251501 w 506313" name="connsiteX13"/>
                  <a:gd fmla="*/ 393843 h 605593" name="connsiteY13"/>
                  <a:gd fmla="*/ 197500 w 506313" name="connsiteX14"/>
                  <a:gd fmla="*/ 364416 h 605593" name="connsiteY14"/>
                  <a:gd fmla="*/ 162079 w 506313" name="connsiteX15"/>
                  <a:gd fmla="*/ 375474 h 605593" name="connsiteY15"/>
                  <a:gd fmla="*/ 160614 w 506313" name="connsiteX16"/>
                  <a:gd fmla="*/ 376205 h 605593" name="connsiteY16"/>
                  <a:gd fmla="*/ 135536 w 506313" name="connsiteX17"/>
                  <a:gd fmla="*/ 337090 h 605593" name="connsiteY17"/>
                  <a:gd fmla="*/ 258823 w 506313" name="connsiteX18"/>
                  <a:gd fmla="*/ 278875 h 605593" name="connsiteY18"/>
                  <a:gd fmla="*/ 73299 w 506313" name="connsiteX19"/>
                  <a:gd fmla="*/ 194736 h 605593" name="connsiteY19"/>
                  <a:gd fmla="*/ 90425 w 506313" name="connsiteX20"/>
                  <a:gd fmla="*/ 206581 h 605593" name="connsiteY20"/>
                  <a:gd fmla="*/ 127401 w 506313" name="connsiteX21"/>
                  <a:gd fmla="*/ 263330 h 605593" name="connsiteY21"/>
                  <a:gd fmla="*/ 119255 w 506313" name="connsiteX22"/>
                  <a:gd fmla="*/ 300979 h 605593" name="connsiteY22"/>
                  <a:gd fmla="*/ 102232 w 506313" name="connsiteX23"/>
                  <a:gd fmla="*/ 311305 h 605593" name="connsiteY23"/>
                  <a:gd fmla="*/ 97839 w 506313" name="connsiteX24"/>
                  <a:gd fmla="*/ 341553 h 605593" name="connsiteY24"/>
                  <a:gd fmla="*/ 140671 w 506313" name="connsiteX25"/>
                  <a:gd fmla="*/ 407897 h 605593" name="connsiteY25"/>
                  <a:gd fmla="*/ 170233 w 506313" name="connsiteX26"/>
                  <a:gd fmla="*/ 416030 h 605593" name="connsiteY26"/>
                  <a:gd fmla="*/ 185701 w 506313" name="connsiteX27"/>
                  <a:gd fmla="*/ 405703 h 605593" name="connsiteY27"/>
                  <a:gd fmla="*/ 223408 w 506313" name="connsiteX28"/>
                  <a:gd fmla="*/ 413745 h 605593" name="connsiteY28"/>
                  <a:gd fmla="*/ 260291 w 506313" name="connsiteX29"/>
                  <a:gd fmla="*/ 470585 h 605593" name="connsiteY29"/>
                  <a:gd fmla="*/ 252238 w 506313" name="connsiteX30"/>
                  <a:gd fmla="*/ 508143 h 605593" name="connsiteY30"/>
                  <a:gd fmla="*/ 221211 w 506313" name="connsiteX31"/>
                  <a:gd fmla="*/ 525871 h 605593" name="connsiteY31"/>
                  <a:gd fmla="*/ 60131 w 506313" name="connsiteX32"/>
                  <a:gd fmla="*/ 412283 h 605593" name="connsiteY32"/>
                  <a:gd fmla="*/ 23248 w 506313" name="connsiteX33"/>
                  <a:gd fmla="*/ 220563 h 605593" name="connsiteY33"/>
                  <a:gd fmla="*/ 52810 w 506313" name="connsiteX34"/>
                  <a:gd fmla="*/ 198448 h 605593" name="connsiteY34"/>
                  <a:gd fmla="*/ 73299 w 506313" name="connsiteX35"/>
                  <a:gd fmla="*/ 194736 h 605593" name="connsiteY35"/>
                  <a:gd fmla="*/ 302449 w 506313" name="connsiteX36"/>
                  <a:gd fmla="*/ 0 h 605593" name="connsiteY36"/>
                  <a:gd fmla="*/ 426503 w 506313" name="connsiteX37"/>
                  <a:gd fmla="*/ 123949 h 605593" name="connsiteY37"/>
                  <a:gd fmla="*/ 302449 w 506313" name="connsiteX38"/>
                  <a:gd fmla="*/ 247898 h 605593" name="connsiteY38"/>
                  <a:gd fmla="*/ 178395 w 506313" name="connsiteX39"/>
                  <a:gd fmla="*/ 123949 h 605593" name="connsiteY39"/>
                  <a:gd fmla="*/ 302449 w 506313" name="connsiteX40"/>
                  <a:gd fmla="*/ 0 h 605593" name="connsiteY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b="b" l="l" r="r" t="t"/>
                <a:pathLst>
                  <a:path h="605593" w="506313">
                    <a:moveTo>
                      <a:pt x="258823" y="278875"/>
                    </a:moveTo>
                    <a:lnTo>
                      <a:pt x="303122" y="278875"/>
                    </a:lnTo>
                    <a:lnTo>
                      <a:pt x="347513" y="278875"/>
                    </a:lnTo>
                    <a:cubicBezTo>
                      <a:pt x="434647" y="278875"/>
                      <a:pt x="506313" y="350342"/>
                      <a:pt x="506313" y="438167"/>
                    </a:cubicBezTo>
                    <a:lnTo>
                      <a:pt x="506313" y="565747"/>
                    </a:lnTo>
                    <a:cubicBezTo>
                      <a:pt x="506313" y="565747"/>
                      <a:pt x="433183" y="605593"/>
                      <a:pt x="308339" y="605593"/>
                    </a:cubicBezTo>
                    <a:lnTo>
                      <a:pt x="297265" y="605593"/>
                    </a:lnTo>
                    <a:cubicBezTo>
                      <a:pt x="159882" y="605593"/>
                      <a:pt x="99291" y="565747"/>
                      <a:pt x="99291" y="565747"/>
                    </a:cubicBezTo>
                    <a:lnTo>
                      <a:pt x="99291" y="525170"/>
                    </a:lnTo>
                    <a:cubicBezTo>
                      <a:pt x="126658" y="550942"/>
                      <a:pt x="156953" y="567941"/>
                      <a:pt x="190910" y="567941"/>
                    </a:cubicBezTo>
                    <a:cubicBezTo>
                      <a:pt x="204914" y="567941"/>
                      <a:pt x="219009" y="565747"/>
                      <a:pt x="232280" y="559807"/>
                    </a:cubicBezTo>
                    <a:cubicBezTo>
                      <a:pt x="247748" y="553958"/>
                      <a:pt x="265505" y="541438"/>
                      <a:pt x="269898" y="538422"/>
                    </a:cubicBezTo>
                    <a:cubicBezTo>
                      <a:pt x="299461" y="519230"/>
                      <a:pt x="307607" y="480206"/>
                      <a:pt x="288386" y="450688"/>
                    </a:cubicBezTo>
                    <a:lnTo>
                      <a:pt x="251501" y="393843"/>
                    </a:lnTo>
                    <a:cubicBezTo>
                      <a:pt x="239602" y="375474"/>
                      <a:pt x="219009" y="364416"/>
                      <a:pt x="197500" y="364416"/>
                    </a:cubicBezTo>
                    <a:cubicBezTo>
                      <a:pt x="184961" y="364416"/>
                      <a:pt x="173154" y="368071"/>
                      <a:pt x="162079" y="375474"/>
                    </a:cubicBezTo>
                    <a:lnTo>
                      <a:pt x="160614" y="376205"/>
                    </a:lnTo>
                    <a:lnTo>
                      <a:pt x="135536" y="337090"/>
                    </a:lnTo>
                    <a:cubicBezTo>
                      <a:pt x="165008" y="301722"/>
                      <a:pt x="209398" y="278875"/>
                      <a:pt x="258823" y="278875"/>
                    </a:cubicBezTo>
                    <a:close/>
                    <a:moveTo>
                      <a:pt x="73299" y="194736"/>
                    </a:moveTo>
                    <a:cubicBezTo>
                      <a:pt x="80129" y="196209"/>
                      <a:pt x="86398" y="200276"/>
                      <a:pt x="90425" y="206581"/>
                    </a:cubicBezTo>
                    <a:lnTo>
                      <a:pt x="127401" y="263330"/>
                    </a:lnTo>
                    <a:cubicBezTo>
                      <a:pt x="135546" y="275849"/>
                      <a:pt x="131794" y="292846"/>
                      <a:pt x="119255" y="300979"/>
                    </a:cubicBezTo>
                    <a:lnTo>
                      <a:pt x="102232" y="311305"/>
                    </a:lnTo>
                    <a:cubicBezTo>
                      <a:pt x="93446" y="317154"/>
                      <a:pt x="91158" y="331958"/>
                      <a:pt x="97839" y="341553"/>
                    </a:cubicBezTo>
                    <a:lnTo>
                      <a:pt x="140671" y="407897"/>
                    </a:lnTo>
                    <a:cubicBezTo>
                      <a:pt x="147353" y="417492"/>
                      <a:pt x="159891" y="421147"/>
                      <a:pt x="170233" y="416030"/>
                    </a:cubicBezTo>
                    <a:lnTo>
                      <a:pt x="185701" y="405703"/>
                    </a:lnTo>
                    <a:cubicBezTo>
                      <a:pt x="200527" y="395377"/>
                      <a:pt x="215995" y="402688"/>
                      <a:pt x="223408" y="413745"/>
                    </a:cubicBezTo>
                    <a:lnTo>
                      <a:pt x="260291" y="470585"/>
                    </a:lnTo>
                    <a:cubicBezTo>
                      <a:pt x="268437" y="483104"/>
                      <a:pt x="264776" y="500102"/>
                      <a:pt x="252238" y="508143"/>
                    </a:cubicBezTo>
                    <a:cubicBezTo>
                      <a:pt x="252238" y="508143"/>
                      <a:pt x="234482" y="520754"/>
                      <a:pt x="221211" y="525871"/>
                    </a:cubicBezTo>
                    <a:cubicBezTo>
                      <a:pt x="168037" y="548717"/>
                      <a:pt x="119255" y="504488"/>
                      <a:pt x="60131" y="412283"/>
                    </a:cubicBezTo>
                    <a:cubicBezTo>
                      <a:pt x="367" y="320901"/>
                      <a:pt x="-20317" y="261867"/>
                      <a:pt x="23248" y="220563"/>
                    </a:cubicBezTo>
                    <a:cubicBezTo>
                      <a:pt x="33590" y="210236"/>
                      <a:pt x="52810" y="198448"/>
                      <a:pt x="52810" y="198448"/>
                    </a:cubicBezTo>
                    <a:cubicBezTo>
                      <a:pt x="59079" y="194382"/>
                      <a:pt x="66469" y="193262"/>
                      <a:pt x="73299" y="194736"/>
                    </a:cubicBezTo>
                    <a:close/>
                    <a:moveTo>
                      <a:pt x="302449" y="0"/>
                    </a:moveTo>
                    <a:cubicBezTo>
                      <a:pt x="370962" y="0"/>
                      <a:pt x="426503" y="55494"/>
                      <a:pt x="426503" y="123949"/>
                    </a:cubicBezTo>
                    <a:cubicBezTo>
                      <a:pt x="426503" y="192404"/>
                      <a:pt x="370962" y="247898"/>
                      <a:pt x="302449" y="247898"/>
                    </a:cubicBezTo>
                    <a:cubicBezTo>
                      <a:pt x="233936" y="247898"/>
                      <a:pt x="178395" y="192404"/>
                      <a:pt x="178395" y="123949"/>
                    </a:cubicBezTo>
                    <a:cubicBezTo>
                      <a:pt x="178395" y="55494"/>
                      <a:pt x="233936" y="0"/>
                      <a:pt x="3024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e0b64601-d6ef-4e60-99d2-8d6184cdc9b4" id="33" name="Text1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true" flipV="false">
                <a:off x="1052772" y="2515142"/>
                <a:ext cx="2297177" cy="1244058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latin typeface="Average"/>
                  </a:rPr>
                  <a:t>AI技术可加速理赔流程，通过图像识别等技术快速定损，提高理赔效率，缩短理赔周期。</a:t>
                </a:r>
              </a:p>
            </p:txBody>
          </p:sp>
          <p:sp>
            <p:nvSpPr>
              <p:cNvPr descr="76d794ec-a717-4249-b828-afb9728e4c61" id="34" name="Bullet1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true" flipV="false">
                <a:off x="1052774" y="2068054"/>
                <a:ext cx="2297177" cy="447087"/>
              </a:xfrm>
              <a:prstGeom prst="rect">
                <a:avLst/>
              </a:prstGeom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智能理赔</a:t>
                </a:r>
              </a:p>
            </p:txBody>
          </p:sp>
          <p:sp>
            <p:nvSpPr>
              <p:cNvPr descr="0c4c31ab-5d82-4589-8b6f-3c96f59faf83" id="31" name="Number1">
                <a:extLst>
                  <a:ext uri="{FF2B5EF4-FFF2-40B4-BE49-F238E27FC236}">
                    <a16:creationId id="{2D2DAE02-C825-4EC7-9CAC-E9B101C1466A}"/>
                  </a:ext>
                </a:extLst>
              </p:cNvPr>
              <p:cNvSpPr/>
              <p:nvPr/>
            </p:nvSpPr>
            <p:spPr>
              <a:xfrm flipH="false" flipV="false">
                <a:off x="1794841" y="1295371"/>
                <a:ext cx="813043" cy="7694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44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6451b784-4952-44f6-a982-52b7fd391c7c" id="46" name="组合 45">
              <a:extLst>
                <a:ext uri="{FF2B5EF4-FFF2-40B4-BE49-F238E27FC236}">
                  <a16:creationId id="{ABD2F1C8-51B9-CAD1-EA14-E1AD2F1E85BA}"/>
                </a:ext>
              </a:extLst>
            </p:cNvPr>
            <p:cNvGrpSpPr/>
            <p:nvPr/>
          </p:nvGrpSpPr>
          <p:grpSpPr>
            <a:xfrm>
              <a:off x="3586600" y="1295371"/>
              <a:ext cx="2297179" cy="3704983"/>
              <a:chOff x="3586600" y="1295371"/>
              <a:chExt cx="2297179" cy="3704983"/>
            </a:xfrm>
          </p:grpSpPr>
          <p:sp>
            <p:nvSpPr>
              <p:cNvPr descr="1115f16b-8d32-4b23-bdec-697e9e4469d4" id="39" name="IconBackground2">
                <a:extLst>
                  <a:ext uri="{FF2B5EF4-FFF2-40B4-BE49-F238E27FC236}">
                    <a16:creationId id="{065E9542-51E2-4F4D-B050-1DDFEC693629}"/>
                  </a:ext>
                </a:extLst>
              </p:cNvPr>
              <p:cNvSpPr/>
              <p:nvPr/>
            </p:nvSpPr>
            <p:spPr>
              <a:xfrm flipH="false" flipV="false">
                <a:off x="4201584" y="3933142"/>
                <a:ext cx="1067212" cy="1067212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571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82cbd81c-8082-4366-bb83-efa8c8b69d30" id="40" name="Icon2">
                <a:extLst>
                  <a:ext uri="{FF2B5EF4-FFF2-40B4-BE49-F238E27FC236}">
                    <a16:creationId id="{DEDA0696-DFFA-4B80-ACFC-17180F20507D}"/>
                  </a:ext>
                </a:extLst>
              </p:cNvPr>
              <p:cNvSpPr/>
              <p:nvPr/>
            </p:nvSpPr>
            <p:spPr>
              <a:xfrm flipH="false" flipV="false">
                <a:off x="4477655" y="4208553"/>
                <a:ext cx="515070" cy="516390"/>
              </a:xfrm>
              <a:custGeom>
                <a:avLst/>
                <a:gdLst>
                  <a:gd fmla="*/ 283655 w 606580" name="connsiteX0"/>
                  <a:gd fmla="*/ 180789 h 608133" name="connsiteY0"/>
                  <a:gd fmla="*/ 463969 w 606580" name="connsiteX1"/>
                  <a:gd fmla="*/ 329895 h 608133" name="connsiteY1"/>
                  <a:gd fmla="*/ 467288 w 606580" name="connsiteX2"/>
                  <a:gd fmla="*/ 329803 h 608133" name="connsiteY2"/>
                  <a:gd fmla="*/ 606580 w 606580" name="connsiteX3"/>
                  <a:gd fmla="*/ 468968 h 608133" name="connsiteY3"/>
                  <a:gd fmla="*/ 467288 w 606580" name="connsiteX4"/>
                  <a:gd fmla="*/ 608133 h 608133" name="connsiteY4"/>
                  <a:gd fmla="*/ 92278 w 606580" name="connsiteX5"/>
                  <a:gd fmla="*/ 608133 h 608133" name="connsiteY5"/>
                  <a:gd fmla="*/ 0 w 606580" name="connsiteX6"/>
                  <a:gd fmla="*/ 508177 h 608133" name="connsiteY6"/>
                  <a:gd fmla="*/ 100113 w 606580" name="connsiteX7"/>
                  <a:gd fmla="*/ 408221 h 608133" name="connsiteY7"/>
                  <a:gd fmla="*/ 105829 w 606580" name="connsiteX8"/>
                  <a:gd fmla="*/ 408774 h 608133" name="connsiteY8"/>
                  <a:gd fmla="*/ 100113 w 606580" name="connsiteX9"/>
                  <a:gd fmla="*/ 364042 h 608133" name="connsiteY9"/>
                  <a:gd fmla="*/ 283655 w 606580" name="connsiteX10"/>
                  <a:gd fmla="*/ 180789 h 608133" name="connsiteY10"/>
                  <a:gd fmla="*/ 399230 w 606580" name="connsiteX11"/>
                  <a:gd fmla="*/ 97945 h 608133" name="connsiteY11"/>
                  <a:gd fmla="*/ 506377 w 606580" name="connsiteX12"/>
                  <a:gd fmla="*/ 204910 h 608133" name="connsiteY12"/>
                  <a:gd fmla="*/ 476133 w 606580" name="connsiteX13"/>
                  <a:gd fmla="*/ 235195 h 608133" name="connsiteY13"/>
                  <a:gd fmla="*/ 445888 w 606580" name="connsiteX14"/>
                  <a:gd fmla="*/ 204910 h 608133" name="connsiteY14"/>
                  <a:gd fmla="*/ 399230 w 606580" name="connsiteX15"/>
                  <a:gd fmla="*/ 158424 h 608133" name="connsiteY15"/>
                  <a:gd fmla="*/ 368986 w 606580" name="connsiteX16"/>
                  <a:gd fmla="*/ 128230 h 608133" name="connsiteY16"/>
                  <a:gd fmla="*/ 399230 w 606580" name="connsiteX17"/>
                  <a:gd fmla="*/ 97945 h 608133" name="connsiteY17"/>
                  <a:gd fmla="*/ 403459 w 606580" name="connsiteX18"/>
                  <a:gd fmla="*/ 0 h 608133" name="connsiteY18"/>
                  <a:gd fmla="*/ 403552 w 606580" name="connsiteX19"/>
                  <a:gd fmla="*/ 0 h 608133" name="connsiteY19"/>
                  <a:gd fmla="*/ 604533 w 606580" name="connsiteX20"/>
                  <a:gd fmla="*/ 200633 h 608133" name="connsiteY20"/>
                  <a:gd fmla="*/ 574294 w 606580" name="connsiteX21"/>
                  <a:gd fmla="*/ 230820 h 608133" name="connsiteY21"/>
                  <a:gd fmla="*/ 574201 w 606580" name="connsiteX22"/>
                  <a:gd fmla="*/ 230820 h 608133" name="connsiteY22"/>
                  <a:gd fmla="*/ 543962 w 606580" name="connsiteX23"/>
                  <a:gd fmla="*/ 200633 h 608133" name="connsiteY23"/>
                  <a:gd fmla="*/ 403552 w 606580" name="connsiteX24"/>
                  <a:gd fmla="*/ 60466 h 608133" name="connsiteY24"/>
                  <a:gd fmla="*/ 403459 w 606580" name="connsiteX25"/>
                  <a:gd fmla="*/ 60466 h 608133" name="connsiteY25"/>
                  <a:gd fmla="*/ 373220 w 606580" name="connsiteX26"/>
                  <a:gd fmla="*/ 30187 h 608133" name="connsiteY26"/>
                  <a:gd fmla="*/ 403459 w 606580" name="connsiteX27"/>
                  <a:gd fmla="*/ 0 h 608133" name="connsiteY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b="b" l="l" r="r" t="t"/>
                <a:pathLst>
                  <a:path h="608133" w="606580">
                    <a:moveTo>
                      <a:pt x="283655" y="180789"/>
                    </a:moveTo>
                    <a:cubicBezTo>
                      <a:pt x="373351" y="180789"/>
                      <a:pt x="447929" y="245034"/>
                      <a:pt x="463969" y="329895"/>
                    </a:cubicBezTo>
                    <a:cubicBezTo>
                      <a:pt x="465075" y="329895"/>
                      <a:pt x="466089" y="329803"/>
                      <a:pt x="467288" y="329803"/>
                    </a:cubicBezTo>
                    <a:cubicBezTo>
                      <a:pt x="544263" y="329803"/>
                      <a:pt x="606580" y="392022"/>
                      <a:pt x="606580" y="468968"/>
                    </a:cubicBezTo>
                    <a:cubicBezTo>
                      <a:pt x="606580" y="545730"/>
                      <a:pt x="544263" y="608133"/>
                      <a:pt x="467288" y="608133"/>
                    </a:cubicBezTo>
                    <a:lnTo>
                      <a:pt x="92278" y="608133"/>
                    </a:lnTo>
                    <a:cubicBezTo>
                      <a:pt x="40101" y="604636"/>
                      <a:pt x="0" y="561101"/>
                      <a:pt x="0" y="508177"/>
                    </a:cubicBezTo>
                    <a:cubicBezTo>
                      <a:pt x="0" y="452953"/>
                      <a:pt x="44802" y="408221"/>
                      <a:pt x="100113" y="408221"/>
                    </a:cubicBezTo>
                    <a:cubicBezTo>
                      <a:pt x="102049" y="408221"/>
                      <a:pt x="103893" y="408589"/>
                      <a:pt x="105829" y="408774"/>
                    </a:cubicBezTo>
                    <a:cubicBezTo>
                      <a:pt x="102234" y="394415"/>
                      <a:pt x="100113" y="379505"/>
                      <a:pt x="100113" y="364042"/>
                    </a:cubicBezTo>
                    <a:cubicBezTo>
                      <a:pt x="100113" y="262797"/>
                      <a:pt x="182251" y="180789"/>
                      <a:pt x="283655" y="180789"/>
                    </a:cubicBezTo>
                    <a:close/>
                    <a:moveTo>
                      <a:pt x="399230" y="97945"/>
                    </a:moveTo>
                    <a:cubicBezTo>
                      <a:pt x="458336" y="97945"/>
                      <a:pt x="506377" y="145997"/>
                      <a:pt x="506377" y="204910"/>
                    </a:cubicBezTo>
                    <a:cubicBezTo>
                      <a:pt x="506377" y="221664"/>
                      <a:pt x="492822" y="235195"/>
                      <a:pt x="476133" y="235195"/>
                    </a:cubicBezTo>
                    <a:cubicBezTo>
                      <a:pt x="459443" y="235195"/>
                      <a:pt x="445888" y="221664"/>
                      <a:pt x="445888" y="204910"/>
                    </a:cubicBezTo>
                    <a:cubicBezTo>
                      <a:pt x="445888" y="179227"/>
                      <a:pt x="424957" y="158424"/>
                      <a:pt x="399230" y="158424"/>
                    </a:cubicBezTo>
                    <a:cubicBezTo>
                      <a:pt x="382541" y="158424"/>
                      <a:pt x="368986" y="144892"/>
                      <a:pt x="368986" y="128230"/>
                    </a:cubicBezTo>
                    <a:cubicBezTo>
                      <a:pt x="368986" y="111477"/>
                      <a:pt x="382541" y="97945"/>
                      <a:pt x="399230" y="97945"/>
                    </a:cubicBezTo>
                    <a:close/>
                    <a:moveTo>
                      <a:pt x="403459" y="0"/>
                    </a:moveTo>
                    <a:lnTo>
                      <a:pt x="403552" y="0"/>
                    </a:lnTo>
                    <a:cubicBezTo>
                      <a:pt x="514276" y="0"/>
                      <a:pt x="604441" y="90009"/>
                      <a:pt x="604533" y="200633"/>
                    </a:cubicBezTo>
                    <a:cubicBezTo>
                      <a:pt x="604533" y="217291"/>
                      <a:pt x="590981" y="230820"/>
                      <a:pt x="574294" y="230820"/>
                    </a:cubicBezTo>
                    <a:lnTo>
                      <a:pt x="574201" y="230820"/>
                    </a:lnTo>
                    <a:cubicBezTo>
                      <a:pt x="557514" y="230820"/>
                      <a:pt x="543962" y="217291"/>
                      <a:pt x="543962" y="200633"/>
                    </a:cubicBezTo>
                    <a:cubicBezTo>
                      <a:pt x="543962" y="123325"/>
                      <a:pt x="480902" y="60466"/>
                      <a:pt x="403552" y="60466"/>
                    </a:cubicBezTo>
                    <a:lnTo>
                      <a:pt x="403459" y="60466"/>
                    </a:lnTo>
                    <a:cubicBezTo>
                      <a:pt x="386772" y="60466"/>
                      <a:pt x="373220" y="46937"/>
                      <a:pt x="373220" y="30187"/>
                    </a:cubicBezTo>
                    <a:cubicBezTo>
                      <a:pt x="373220" y="13529"/>
                      <a:pt x="386772" y="0"/>
                      <a:pt x="4034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95c525ba-5181-4f77-8b08-dd4ed0cb692a" id="28" name="Text2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true" flipV="false">
                <a:off x="3586600" y="2515142"/>
                <a:ext cx="2297177" cy="1244058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利用大数据分析客户风险特征，精准评估风险，为保险产品定价和核保提供科学依据。</a:t>
                </a:r>
              </a:p>
            </p:txBody>
          </p:sp>
          <p:sp>
            <p:nvSpPr>
              <p:cNvPr descr="cc7f1f5b-68af-4fed-8531-96694b0fbad6" id="29" name="Bullet2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true" flipV="false">
                <a:off x="3586602" y="2068054"/>
                <a:ext cx="2297177" cy="447087"/>
              </a:xfrm>
              <a:prstGeom prst="rect">
                <a:avLst/>
              </a:prstGeom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风险评估</a:t>
                </a:r>
              </a:p>
            </p:txBody>
          </p:sp>
          <p:sp>
            <p:nvSpPr>
              <p:cNvPr descr="571858e7-23d6-49c0-ba12-b698c4607084" id="26" name="Number2">
                <a:extLst>
                  <a:ext uri="{FF2B5EF4-FFF2-40B4-BE49-F238E27FC236}">
                    <a16:creationId id="{16931BD9-9D3F-43E3-BEDB-5ECE82F5A0DA}"/>
                  </a:ext>
                </a:extLst>
              </p:cNvPr>
              <p:cNvSpPr/>
              <p:nvPr/>
            </p:nvSpPr>
            <p:spPr>
              <a:xfrm flipH="false" flipV="false">
                <a:off x="4328669" y="1295371"/>
                <a:ext cx="813043" cy="7694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44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64e55c85-8597-4249-9659-1123774b214d" id="47" name="组合 46">
              <a:extLst>
                <a:ext uri="{FF2B5EF4-FFF2-40B4-BE49-F238E27FC236}">
                  <a16:creationId id="{260FD2BE-55EC-A9F2-EA87-3C453D62776F}"/>
                </a:ext>
              </a:extLst>
            </p:cNvPr>
            <p:cNvGrpSpPr/>
            <p:nvPr/>
          </p:nvGrpSpPr>
          <p:grpSpPr>
            <a:xfrm>
              <a:off x="6120428" y="1295371"/>
              <a:ext cx="2297179" cy="3704983"/>
              <a:chOff x="6120428" y="1295371"/>
              <a:chExt cx="2297179" cy="3704983"/>
            </a:xfrm>
          </p:grpSpPr>
          <p:sp>
            <p:nvSpPr>
              <p:cNvPr descr="98c53900-4b8b-43d0-9a5c-f090dd6203f6" id="37" name="IconBackground3">
                <a:extLst>
                  <a:ext uri="{FF2B5EF4-FFF2-40B4-BE49-F238E27FC236}">
                    <a16:creationId id="{3ADFA800-84D9-4641-8526-9E9710BAB4EC}"/>
                  </a:ext>
                </a:extLst>
              </p:cNvPr>
              <p:cNvSpPr/>
              <p:nvPr/>
            </p:nvSpPr>
            <p:spPr>
              <a:xfrm flipH="false" flipV="false">
                <a:off x="6735412" y="3933142"/>
                <a:ext cx="1067212" cy="1067212"/>
              </a:xfrm>
              <a:prstGeom prst="ellipse">
                <a:avLst/>
              </a:prstGeom>
              <a:solidFill>
                <a:schemeClr val="accent1"/>
              </a:solidFill>
              <a:ln w="571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165ba630-5cc8-478f-8f81-7d2ed0ea2ad8" id="38" name="Icon3">
                <a:extLst>
                  <a:ext uri="{FF2B5EF4-FFF2-40B4-BE49-F238E27FC236}">
                    <a16:creationId id="{1017F3EE-343D-4BF7-BAC6-5990E5EA7A5C}"/>
                  </a:ext>
                </a:extLst>
              </p:cNvPr>
              <p:cNvSpPr/>
              <p:nvPr/>
            </p:nvSpPr>
            <p:spPr>
              <a:xfrm flipH="false" flipV="false">
                <a:off x="7010823" y="4208583"/>
                <a:ext cx="516390" cy="516330"/>
              </a:xfrm>
              <a:custGeom>
                <a:avLst/>
                <a:gdLst>
                  <a:gd fmla="*/ 5776 w 6302" name="T0"/>
                  <a:gd fmla="*/ 4472 h 6310" name="T1"/>
                  <a:gd fmla="*/ 5270 w 6302" name="T2"/>
                  <a:gd fmla="*/ 4866 h 6310" name="T3"/>
                  <a:gd fmla="*/ 4858 w 6302" name="T4"/>
                  <a:gd fmla="*/ 4866 h 6310" name="T5"/>
                  <a:gd fmla="*/ 4858 w 6302" name="T6"/>
                  <a:gd fmla="*/ 3708 h 6310" name="T7"/>
                  <a:gd fmla="*/ 5776 w 6302" name="T8"/>
                  <a:gd fmla="*/ 2634 h 6310" name="T9"/>
                  <a:gd fmla="*/ 5050 w 6302" name="T10"/>
                  <a:gd fmla="*/ 1594 h 6310" name="T11"/>
                  <a:gd fmla="*/ 5094 w 6302" name="T12"/>
                  <a:gd fmla="*/ 1179 h 6310" name="T13"/>
                  <a:gd fmla="*/ 3822 w 6302" name="T14"/>
                  <a:gd fmla="*/ 8 h 6310" name="T15"/>
                  <a:gd fmla="*/ 2623 w 6302" name="T16"/>
                  <a:gd fmla="*/ 780 h 6310" name="T17"/>
                  <a:gd fmla="*/ 1936 w 6302" name="T18"/>
                  <a:gd fmla="*/ 590 h 6310" name="T19"/>
                  <a:gd fmla="*/ 1119 w 6302" name="T20"/>
                  <a:gd fmla="*/ 1212 h 6310" name="T21"/>
                  <a:gd fmla="*/ 1074 w 6302" name="T22"/>
                  <a:gd fmla="*/ 1677 h 6310" name="T23"/>
                  <a:gd fmla="*/ 525 w 6302" name="T24"/>
                  <a:gd fmla="*/ 2634 h 6310" name="T25"/>
                  <a:gd fmla="*/ 1444 w 6302" name="T26"/>
                  <a:gd fmla="*/ 3706 h 6310" name="T27"/>
                  <a:gd fmla="*/ 1444 w 6302" name="T28"/>
                  <a:gd fmla="*/ 4866 h 6310" name="T29"/>
                  <a:gd fmla="*/ 1032 w 6302" name="T30"/>
                  <a:gd fmla="*/ 4866 h 6310" name="T31"/>
                  <a:gd fmla="*/ 525 w 6302" name="T32"/>
                  <a:gd fmla="*/ 4472 h 6310" name="T33"/>
                  <a:gd fmla="*/ 0 w 6302" name="T34"/>
                  <a:gd fmla="*/ 4997 h 6310" name="T35"/>
                  <a:gd fmla="*/ 525 w 6302" name="T36"/>
                  <a:gd fmla="*/ 5522 h 6310" name="T37"/>
                  <a:gd fmla="*/ 1032 w 6302" name="T38"/>
                  <a:gd fmla="*/ 5128 h 6310" name="T39"/>
                  <a:gd fmla="*/ 1707 w 6302" name="T40"/>
                  <a:gd fmla="*/ 5128 h 6310" name="T41"/>
                  <a:gd fmla="*/ 1707 w 6302" name="T42"/>
                  <a:gd fmla="*/ 3739 h 6310" name="T43"/>
                  <a:gd fmla="*/ 1754 w 6302" name="T44"/>
                  <a:gd fmla="*/ 3741 h 6310" name="T45"/>
                  <a:gd fmla="*/ 2363 w 6302" name="T46"/>
                  <a:gd fmla="*/ 3741 h 6310" name="T47"/>
                  <a:gd fmla="*/ 2363 w 6302" name="T48"/>
                  <a:gd fmla="*/ 5278 h 6310" name="T49"/>
                  <a:gd fmla="*/ 1969 w 6302" name="T50"/>
                  <a:gd fmla="*/ 5785 h 6310" name="T51"/>
                  <a:gd fmla="*/ 2494 w 6302" name="T52"/>
                  <a:gd fmla="*/ 6310 h 6310" name="T53"/>
                  <a:gd fmla="*/ 3020 w 6302" name="T54"/>
                  <a:gd fmla="*/ 5785 h 6310" name="T55"/>
                  <a:gd fmla="*/ 2626 w 6302" name="T56"/>
                  <a:gd fmla="*/ 5278 h 6310" name="T57"/>
                  <a:gd fmla="*/ 2626 w 6302" name="T58"/>
                  <a:gd fmla="*/ 3741 h 6310" name="T59"/>
                  <a:gd fmla="*/ 3676 w 6302" name="T60"/>
                  <a:gd fmla="*/ 3741 h 6310" name="T61"/>
                  <a:gd fmla="*/ 3676 w 6302" name="T62"/>
                  <a:gd fmla="*/ 5278 h 6310" name="T63"/>
                  <a:gd fmla="*/ 3282 w 6302" name="T64"/>
                  <a:gd fmla="*/ 5785 h 6310" name="T65"/>
                  <a:gd fmla="*/ 3807 w 6302" name="T66"/>
                  <a:gd fmla="*/ 6310 h 6310" name="T67"/>
                  <a:gd fmla="*/ 4332 w 6302" name="T68"/>
                  <a:gd fmla="*/ 5785 h 6310" name="T69"/>
                  <a:gd fmla="*/ 3939 w 6302" name="T70"/>
                  <a:gd fmla="*/ 5278 h 6310" name="T71"/>
                  <a:gd fmla="*/ 3939 w 6302" name="T72"/>
                  <a:gd fmla="*/ 3741 h 6310" name="T73"/>
                  <a:gd fmla="*/ 4548 w 6302" name="T74"/>
                  <a:gd fmla="*/ 3741 h 6310" name="T75"/>
                  <a:gd fmla="*/ 4595 w 6302" name="T76"/>
                  <a:gd fmla="*/ 3739 h 6310" name="T77"/>
                  <a:gd fmla="*/ 4595 w 6302" name="T78"/>
                  <a:gd fmla="*/ 5128 h 6310" name="T79"/>
                  <a:gd fmla="*/ 5270 w 6302" name="T80"/>
                  <a:gd fmla="*/ 5128 h 6310" name="T81"/>
                  <a:gd fmla="*/ 5777 w 6302" name="T82"/>
                  <a:gd fmla="*/ 5522 h 6310" name="T83"/>
                  <a:gd fmla="*/ 6302 w 6302" name="T84"/>
                  <a:gd fmla="*/ 4997 h 6310" name="T85"/>
                  <a:gd fmla="*/ 5776 w 6302" name="T86"/>
                  <a:gd fmla="*/ 4472 h 6310" name="T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b="b" l="0" r="r" t="0"/>
                <a:pathLst>
                  <a:path h="6310" w="6302">
                    <a:moveTo>
                      <a:pt x="5776" y="4472"/>
                    </a:moveTo>
                    <a:cubicBezTo>
                      <a:pt x="5532" y="4472"/>
                      <a:pt x="5329" y="4640"/>
                      <a:pt x="5270" y="4866"/>
                    </a:cubicBezTo>
                    <a:lnTo>
                      <a:pt x="4858" y="4866"/>
                    </a:lnTo>
                    <a:lnTo>
                      <a:pt x="4858" y="3708"/>
                    </a:lnTo>
                    <a:cubicBezTo>
                      <a:pt x="5405" y="3593"/>
                      <a:pt x="5776" y="3177"/>
                      <a:pt x="5776" y="2634"/>
                    </a:cubicBezTo>
                    <a:cubicBezTo>
                      <a:pt x="5776" y="2166"/>
                      <a:pt x="5478" y="1752"/>
                      <a:pt x="5050" y="1594"/>
                    </a:cubicBezTo>
                    <a:cubicBezTo>
                      <a:pt x="5089" y="1464"/>
                      <a:pt x="5103" y="1329"/>
                      <a:pt x="5094" y="1179"/>
                    </a:cubicBezTo>
                    <a:cubicBezTo>
                      <a:pt x="5054" y="539"/>
                      <a:pt x="4483" y="13"/>
                      <a:pt x="3822" y="8"/>
                    </a:cubicBezTo>
                    <a:cubicBezTo>
                      <a:pt x="3289" y="0"/>
                      <a:pt x="2820" y="318"/>
                      <a:pt x="2623" y="780"/>
                    </a:cubicBezTo>
                    <a:cubicBezTo>
                      <a:pt x="2430" y="636"/>
                      <a:pt x="2185" y="566"/>
                      <a:pt x="1936" y="590"/>
                    </a:cubicBezTo>
                    <a:cubicBezTo>
                      <a:pt x="1578" y="624"/>
                      <a:pt x="1264" y="861"/>
                      <a:pt x="1119" y="1212"/>
                    </a:cubicBezTo>
                    <a:cubicBezTo>
                      <a:pt x="1049" y="1379"/>
                      <a:pt x="1058" y="1564"/>
                      <a:pt x="1074" y="1677"/>
                    </a:cubicBezTo>
                    <a:cubicBezTo>
                      <a:pt x="738" y="1874"/>
                      <a:pt x="525" y="2239"/>
                      <a:pt x="525" y="2634"/>
                    </a:cubicBezTo>
                    <a:cubicBezTo>
                      <a:pt x="525" y="3167"/>
                      <a:pt x="903" y="3589"/>
                      <a:pt x="1444" y="3706"/>
                    </a:cubicBezTo>
                    <a:lnTo>
                      <a:pt x="1444" y="4866"/>
                    </a:lnTo>
                    <a:lnTo>
                      <a:pt x="1032" y="4866"/>
                    </a:lnTo>
                    <a:cubicBezTo>
                      <a:pt x="973" y="4640"/>
                      <a:pt x="769" y="4472"/>
                      <a:pt x="525" y="4472"/>
                    </a:cubicBezTo>
                    <a:cubicBezTo>
                      <a:pt x="235" y="4472"/>
                      <a:pt x="0" y="4707"/>
                      <a:pt x="0" y="4997"/>
                    </a:cubicBezTo>
                    <a:cubicBezTo>
                      <a:pt x="0" y="5286"/>
                      <a:pt x="235" y="5522"/>
                      <a:pt x="525" y="5522"/>
                    </a:cubicBezTo>
                    <a:cubicBezTo>
                      <a:pt x="769" y="5522"/>
                      <a:pt x="973" y="5354"/>
                      <a:pt x="1032" y="5128"/>
                    </a:cubicBezTo>
                    <a:lnTo>
                      <a:pt x="1707" y="5128"/>
                    </a:lnTo>
                    <a:lnTo>
                      <a:pt x="1707" y="3739"/>
                    </a:lnTo>
                    <a:cubicBezTo>
                      <a:pt x="1722" y="3739"/>
                      <a:pt x="1738" y="3741"/>
                      <a:pt x="1754" y="3741"/>
                    </a:cubicBezTo>
                    <a:lnTo>
                      <a:pt x="2363" y="3741"/>
                    </a:lnTo>
                    <a:lnTo>
                      <a:pt x="2363" y="5278"/>
                    </a:lnTo>
                    <a:cubicBezTo>
                      <a:pt x="2137" y="5337"/>
                      <a:pt x="1969" y="5540"/>
                      <a:pt x="1969" y="5785"/>
                    </a:cubicBezTo>
                    <a:cubicBezTo>
                      <a:pt x="1969" y="6073"/>
                      <a:pt x="2204" y="6310"/>
                      <a:pt x="2494" y="6310"/>
                    </a:cubicBezTo>
                    <a:cubicBezTo>
                      <a:pt x="2785" y="6310"/>
                      <a:pt x="3020" y="6073"/>
                      <a:pt x="3020" y="5785"/>
                    </a:cubicBezTo>
                    <a:cubicBezTo>
                      <a:pt x="3020" y="5540"/>
                      <a:pt x="2852" y="5337"/>
                      <a:pt x="2626" y="5278"/>
                    </a:cubicBezTo>
                    <a:lnTo>
                      <a:pt x="2626" y="3741"/>
                    </a:lnTo>
                    <a:lnTo>
                      <a:pt x="3676" y="3741"/>
                    </a:lnTo>
                    <a:lnTo>
                      <a:pt x="3676" y="5278"/>
                    </a:lnTo>
                    <a:cubicBezTo>
                      <a:pt x="3450" y="5337"/>
                      <a:pt x="3282" y="5540"/>
                      <a:pt x="3282" y="5785"/>
                    </a:cubicBezTo>
                    <a:cubicBezTo>
                      <a:pt x="3282" y="6073"/>
                      <a:pt x="3517" y="6310"/>
                      <a:pt x="3807" y="6310"/>
                    </a:cubicBezTo>
                    <a:cubicBezTo>
                      <a:pt x="4097" y="6310"/>
                      <a:pt x="4332" y="6073"/>
                      <a:pt x="4332" y="5785"/>
                    </a:cubicBezTo>
                    <a:cubicBezTo>
                      <a:pt x="4332" y="5540"/>
                      <a:pt x="4164" y="5337"/>
                      <a:pt x="3939" y="5278"/>
                    </a:cubicBezTo>
                    <a:lnTo>
                      <a:pt x="3939" y="3741"/>
                    </a:lnTo>
                    <a:lnTo>
                      <a:pt x="4548" y="3741"/>
                    </a:lnTo>
                    <a:cubicBezTo>
                      <a:pt x="4563" y="3741"/>
                      <a:pt x="4579" y="3739"/>
                      <a:pt x="4595" y="3739"/>
                    </a:cubicBezTo>
                    <a:lnTo>
                      <a:pt x="4595" y="5128"/>
                    </a:lnTo>
                    <a:lnTo>
                      <a:pt x="5270" y="5128"/>
                    </a:lnTo>
                    <a:cubicBezTo>
                      <a:pt x="5329" y="5354"/>
                      <a:pt x="5532" y="5522"/>
                      <a:pt x="5777" y="5522"/>
                    </a:cubicBezTo>
                    <a:cubicBezTo>
                      <a:pt x="6067" y="5522"/>
                      <a:pt x="6302" y="5286"/>
                      <a:pt x="6302" y="4997"/>
                    </a:cubicBezTo>
                    <a:cubicBezTo>
                      <a:pt x="6302" y="4707"/>
                      <a:pt x="6067" y="4472"/>
                      <a:pt x="5776" y="44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fffcae48-6992-45d1-be2f-40431a1b6385" id="23" name="Text3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true" flipV="false">
                <a:off x="6120428" y="2515142"/>
                <a:ext cx="2297177" cy="1244058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latin typeface="Average"/>
                  </a:rPr>
                  <a:t>AI技术可进行精准定位和个性化推荐，根据客户需求制定营销策略，提高销售转化率。</a:t>
                </a:r>
              </a:p>
            </p:txBody>
          </p:sp>
          <p:sp>
            <p:nvSpPr>
              <p:cNvPr descr="8b54d3eb-b954-4b30-84bf-9d6bd157afa3" id="24" name="Bullet3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true" flipV="false">
                <a:off x="6120430" y="2068054"/>
                <a:ext cx="2297177" cy="447087"/>
              </a:xfrm>
              <a:prstGeom prst="rect">
                <a:avLst/>
              </a:prstGeom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精准营销</a:t>
                </a:r>
              </a:p>
            </p:txBody>
          </p:sp>
          <p:sp>
            <p:nvSpPr>
              <p:cNvPr descr="73216f35-e137-4619-ac2b-8d4ae487e685" id="21" name="Number3">
                <a:extLst>
                  <a:ext uri="{FF2B5EF4-FFF2-40B4-BE49-F238E27FC236}">
                    <a16:creationId id="{852EEA2F-D648-45BF-AC34-E3267FB23603}"/>
                  </a:ext>
                </a:extLst>
              </p:cNvPr>
              <p:cNvSpPr/>
              <p:nvPr/>
            </p:nvSpPr>
            <p:spPr>
              <a:xfrm flipH="false" flipV="false">
                <a:off x="6862497" y="1295371"/>
                <a:ext cx="813043" cy="7694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44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descr="5a0e6b88-86fb-445b-bfa9-97cbcd3b0311" id="48" name="组合 47">
              <a:extLst>
                <a:ext uri="{FF2B5EF4-FFF2-40B4-BE49-F238E27FC236}">
                  <a16:creationId id="{BA2008CB-4E81-1236-FAE6-101D3190CB0C}"/>
                </a:ext>
              </a:extLst>
            </p:cNvPr>
            <p:cNvGrpSpPr/>
            <p:nvPr/>
          </p:nvGrpSpPr>
          <p:grpSpPr>
            <a:xfrm>
              <a:off x="8654256" y="1295371"/>
              <a:ext cx="2297179" cy="3704983"/>
              <a:chOff x="8654256" y="1295371"/>
              <a:chExt cx="2297179" cy="3704983"/>
            </a:xfrm>
          </p:grpSpPr>
          <p:sp>
            <p:nvSpPr>
              <p:cNvPr descr="47f9bff4-5d58-4fd9-9ac5-c7bd46e9725d" id="35" name="IconBackground4">
                <a:extLst>
                  <a:ext uri="{FF2B5EF4-FFF2-40B4-BE49-F238E27FC236}">
                    <a16:creationId id="{51905DE1-A52B-4344-BC00-F06171DFDBE1}"/>
                  </a:ext>
                </a:extLst>
              </p:cNvPr>
              <p:cNvSpPr/>
              <p:nvPr/>
            </p:nvSpPr>
            <p:spPr>
              <a:xfrm flipH="false" flipV="false">
                <a:off x="9269240" y="3933142"/>
                <a:ext cx="1067212" cy="1067212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5715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662ac048-e73e-4fe7-bb9f-71439ab4011e" id="36" name="Icon4">
                <a:extLst>
                  <a:ext uri="{FF2B5EF4-FFF2-40B4-BE49-F238E27FC236}">
                    <a16:creationId id="{7A14F31C-5648-4917-86BE-FA973E021D86}"/>
                  </a:ext>
                </a:extLst>
              </p:cNvPr>
              <p:cNvSpPr/>
              <p:nvPr/>
            </p:nvSpPr>
            <p:spPr>
              <a:xfrm flipH="false" flipV="false">
                <a:off x="9544651" y="4209050"/>
                <a:ext cx="516391" cy="515396"/>
              </a:xfrm>
              <a:custGeom>
                <a:avLst/>
                <a:gdLst>
                  <a:gd fmla="*/ 325 w 333" name="T0"/>
                  <a:gd fmla="*/ 136 h 333" name="T1"/>
                  <a:gd fmla="*/ 295 w 333" name="T2"/>
                  <a:gd fmla="*/ 132 h 333" name="T3"/>
                  <a:gd fmla="*/ 282 w 333" name="T4"/>
                  <a:gd fmla="*/ 100 h 333" name="T5"/>
                  <a:gd fmla="*/ 301 w 333" name="T6"/>
                  <a:gd fmla="*/ 77 h 333" name="T7"/>
                  <a:gd fmla="*/ 300 w 333" name="T8"/>
                  <a:gd fmla="*/ 64 h 333" name="T9"/>
                  <a:gd fmla="*/ 269 w 333" name="T10"/>
                  <a:gd fmla="*/ 33 h 333" name="T11"/>
                  <a:gd fmla="*/ 257 w 333" name="T12"/>
                  <a:gd fmla="*/ 33 h 333" name="T13"/>
                  <a:gd fmla="*/ 233 w 333" name="T14"/>
                  <a:gd fmla="*/ 51 h 333" name="T15"/>
                  <a:gd fmla="*/ 201 w 333" name="T16"/>
                  <a:gd fmla="*/ 38 h 333" name="T17"/>
                  <a:gd fmla="*/ 198 w 333" name="T18"/>
                  <a:gd fmla="*/ 8 h 333" name="T19"/>
                  <a:gd fmla="*/ 188 w 333" name="T20"/>
                  <a:gd fmla="*/ 0 h 333" name="T21"/>
                  <a:gd fmla="*/ 145 w 333" name="T22"/>
                  <a:gd fmla="*/ 0 h 333" name="T23"/>
                  <a:gd fmla="*/ 136 w 333" name="T24"/>
                  <a:gd fmla="*/ 8 h 333" name="T25"/>
                  <a:gd fmla="*/ 132 w 333" name="T26"/>
                  <a:gd fmla="*/ 38 h 333" name="T27"/>
                  <a:gd fmla="*/ 100 w 333" name="T28"/>
                  <a:gd fmla="*/ 51 h 333" name="T29"/>
                  <a:gd fmla="*/ 77 w 333" name="T30"/>
                  <a:gd fmla="*/ 33 h 333" name="T31"/>
                  <a:gd fmla="*/ 64 w 333" name="T32"/>
                  <a:gd fmla="*/ 33 h 333" name="T33"/>
                  <a:gd fmla="*/ 33 w 333" name="T34"/>
                  <a:gd fmla="*/ 64 h 333" name="T35"/>
                  <a:gd fmla="*/ 33 w 333" name="T36"/>
                  <a:gd fmla="*/ 77 h 333" name="T37"/>
                  <a:gd fmla="*/ 51 w 333" name="T38"/>
                  <a:gd fmla="*/ 100 h 333" name="T39"/>
                  <a:gd fmla="*/ 38 w 333" name="T40"/>
                  <a:gd fmla="*/ 132 h 333" name="T41"/>
                  <a:gd fmla="*/ 8 w 333" name="T42"/>
                  <a:gd fmla="*/ 136 h 333" name="T43"/>
                  <a:gd fmla="*/ 0 w 333" name="T44"/>
                  <a:gd fmla="*/ 145 h 333" name="T45"/>
                  <a:gd fmla="*/ 0 w 333" name="T46"/>
                  <a:gd fmla="*/ 188 h 333" name="T47"/>
                  <a:gd fmla="*/ 8 w 333" name="T48"/>
                  <a:gd fmla="*/ 198 h 333" name="T49"/>
                  <a:gd fmla="*/ 38 w 333" name="T50"/>
                  <a:gd fmla="*/ 201 h 333" name="T51"/>
                  <a:gd fmla="*/ 51 w 333" name="T52"/>
                  <a:gd fmla="*/ 233 h 333" name="T53"/>
                  <a:gd fmla="*/ 33 w 333" name="T54"/>
                  <a:gd fmla="*/ 257 h 333" name="T55"/>
                  <a:gd fmla="*/ 34 w 333" name="T56"/>
                  <a:gd fmla="*/ 269 h 333" name="T57"/>
                  <a:gd fmla="*/ 64 w 333" name="T58"/>
                  <a:gd fmla="*/ 300 h 333" name="T59"/>
                  <a:gd fmla="*/ 77 w 333" name="T60"/>
                  <a:gd fmla="*/ 301 h 333" name="T61"/>
                  <a:gd fmla="*/ 100 w 333" name="T62"/>
                  <a:gd fmla="*/ 282 h 333" name="T63"/>
                  <a:gd fmla="*/ 132 w 333" name="T64"/>
                  <a:gd fmla="*/ 295 h 333" name="T65"/>
                  <a:gd fmla="*/ 136 w 333" name="T66"/>
                  <a:gd fmla="*/ 325 h 333" name="T67"/>
                  <a:gd fmla="*/ 145 w 333" name="T68"/>
                  <a:gd fmla="*/ 333 h 333" name="T69"/>
                  <a:gd fmla="*/ 188 w 333" name="T70"/>
                  <a:gd fmla="*/ 333 h 333" name="T71"/>
                  <a:gd fmla="*/ 198 w 333" name="T72"/>
                  <a:gd fmla="*/ 325 h 333" name="T73"/>
                  <a:gd fmla="*/ 201 w 333" name="T74"/>
                  <a:gd fmla="*/ 295 h 333" name="T75"/>
                  <a:gd fmla="*/ 233 w 333" name="T76"/>
                  <a:gd fmla="*/ 282 h 333" name="T77"/>
                  <a:gd fmla="*/ 257 w 333" name="T78"/>
                  <a:gd fmla="*/ 301 h 333" name="T79"/>
                  <a:gd fmla="*/ 269 w 333" name="T80"/>
                  <a:gd fmla="*/ 300 h 333" name="T81"/>
                  <a:gd fmla="*/ 300 w 333" name="T82"/>
                  <a:gd fmla="*/ 269 h 333" name="T83"/>
                  <a:gd fmla="*/ 301 w 333" name="T84"/>
                  <a:gd fmla="*/ 257 h 333" name="T85"/>
                  <a:gd fmla="*/ 282 w 333" name="T86"/>
                  <a:gd fmla="*/ 233 h 333" name="T87"/>
                  <a:gd fmla="*/ 295 w 333" name="T88"/>
                  <a:gd fmla="*/ 201 h 333" name="T89"/>
                  <a:gd fmla="*/ 325 w 333" name="T90"/>
                  <a:gd fmla="*/ 198 h 333" name="T91"/>
                  <a:gd fmla="*/ 333 w 333" name="T92"/>
                  <a:gd fmla="*/ 188 h 333" name="T93"/>
                  <a:gd fmla="*/ 333 w 333" name="T94"/>
                  <a:gd fmla="*/ 145 h 333" name="T95"/>
                  <a:gd fmla="*/ 325 w 333" name="T96"/>
                  <a:gd fmla="*/ 136 h 333" name="T97"/>
                  <a:gd fmla="*/ 167 w 333" name="T98"/>
                  <a:gd fmla="*/ 250 h 333" name="T99"/>
                  <a:gd fmla="*/ 83 w 333" name="T100"/>
                  <a:gd fmla="*/ 167 h 333" name="T101"/>
                  <a:gd fmla="*/ 167 w 333" name="T102"/>
                  <a:gd fmla="*/ 83 h 333" name="T103"/>
                  <a:gd fmla="*/ 250 w 333" name="T104"/>
                  <a:gd fmla="*/ 167 h 333" name="T105"/>
                  <a:gd fmla="*/ 167 w 333" name="T106"/>
                  <a:gd fmla="*/ 250 h 333" name="T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b="b" l="0" r="r" t="0"/>
                <a:pathLst>
                  <a:path h="333" w="333">
                    <a:moveTo>
                      <a:pt x="325" y="136"/>
                    </a:moveTo>
                    <a:lnTo>
                      <a:pt x="295" y="132"/>
                    </a:lnTo>
                    <a:cubicBezTo>
                      <a:pt x="292" y="121"/>
                      <a:pt x="288" y="110"/>
                      <a:pt x="282" y="100"/>
                    </a:cubicBezTo>
                    <a:lnTo>
                      <a:pt x="301" y="77"/>
                    </a:lnTo>
                    <a:cubicBezTo>
                      <a:pt x="303" y="73"/>
                      <a:pt x="303" y="67"/>
                      <a:pt x="300" y="64"/>
                    </a:cubicBezTo>
                    <a:lnTo>
                      <a:pt x="269" y="33"/>
                    </a:lnTo>
                    <a:cubicBezTo>
                      <a:pt x="266" y="30"/>
                      <a:pt x="260" y="30"/>
                      <a:pt x="257" y="33"/>
                    </a:cubicBezTo>
                    <a:lnTo>
                      <a:pt x="233" y="51"/>
                    </a:lnTo>
                    <a:cubicBezTo>
                      <a:pt x="223" y="45"/>
                      <a:pt x="213" y="41"/>
                      <a:pt x="201" y="38"/>
                    </a:cubicBezTo>
                    <a:lnTo>
                      <a:pt x="198" y="8"/>
                    </a:lnTo>
                    <a:cubicBezTo>
                      <a:pt x="197" y="4"/>
                      <a:pt x="193" y="0"/>
                      <a:pt x="188" y="0"/>
                    </a:cubicBezTo>
                    <a:lnTo>
                      <a:pt x="145" y="0"/>
                    </a:lnTo>
                    <a:cubicBezTo>
                      <a:pt x="140" y="0"/>
                      <a:pt x="136" y="4"/>
                      <a:pt x="136" y="8"/>
                    </a:cubicBezTo>
                    <a:lnTo>
                      <a:pt x="132" y="38"/>
                    </a:lnTo>
                    <a:cubicBezTo>
                      <a:pt x="121" y="41"/>
                      <a:pt x="110" y="46"/>
                      <a:pt x="100" y="51"/>
                    </a:cubicBezTo>
                    <a:lnTo>
                      <a:pt x="77" y="33"/>
                    </a:lnTo>
                    <a:cubicBezTo>
                      <a:pt x="73" y="30"/>
                      <a:pt x="67" y="30"/>
                      <a:pt x="64" y="33"/>
                    </a:cubicBezTo>
                    <a:lnTo>
                      <a:pt x="33" y="64"/>
                    </a:lnTo>
                    <a:cubicBezTo>
                      <a:pt x="30" y="67"/>
                      <a:pt x="30" y="73"/>
                      <a:pt x="33" y="77"/>
                    </a:cubicBezTo>
                    <a:lnTo>
                      <a:pt x="51" y="100"/>
                    </a:lnTo>
                    <a:cubicBezTo>
                      <a:pt x="45" y="110"/>
                      <a:pt x="41" y="121"/>
                      <a:pt x="38" y="132"/>
                    </a:cubicBezTo>
                    <a:lnTo>
                      <a:pt x="8" y="136"/>
                    </a:lnTo>
                    <a:cubicBezTo>
                      <a:pt x="4" y="136"/>
                      <a:pt x="0" y="140"/>
                      <a:pt x="0" y="145"/>
                    </a:cubicBezTo>
                    <a:lnTo>
                      <a:pt x="0" y="188"/>
                    </a:lnTo>
                    <a:cubicBezTo>
                      <a:pt x="0" y="193"/>
                      <a:pt x="4" y="197"/>
                      <a:pt x="8" y="198"/>
                    </a:cubicBezTo>
                    <a:lnTo>
                      <a:pt x="38" y="201"/>
                    </a:lnTo>
                    <a:cubicBezTo>
                      <a:pt x="41" y="213"/>
                      <a:pt x="46" y="223"/>
                      <a:pt x="51" y="233"/>
                    </a:cubicBezTo>
                    <a:lnTo>
                      <a:pt x="33" y="257"/>
                    </a:lnTo>
                    <a:cubicBezTo>
                      <a:pt x="30" y="260"/>
                      <a:pt x="30" y="266"/>
                      <a:pt x="34" y="269"/>
                    </a:cubicBezTo>
                    <a:lnTo>
                      <a:pt x="64" y="300"/>
                    </a:lnTo>
                    <a:cubicBezTo>
                      <a:pt x="67" y="303"/>
                      <a:pt x="73" y="303"/>
                      <a:pt x="77" y="301"/>
                    </a:cubicBezTo>
                    <a:lnTo>
                      <a:pt x="100" y="282"/>
                    </a:lnTo>
                    <a:cubicBezTo>
                      <a:pt x="110" y="288"/>
                      <a:pt x="121" y="292"/>
                      <a:pt x="132" y="295"/>
                    </a:cubicBezTo>
                    <a:lnTo>
                      <a:pt x="136" y="325"/>
                    </a:lnTo>
                    <a:cubicBezTo>
                      <a:pt x="136" y="330"/>
                      <a:pt x="140" y="333"/>
                      <a:pt x="145" y="333"/>
                    </a:cubicBezTo>
                    <a:lnTo>
                      <a:pt x="188" y="333"/>
                    </a:lnTo>
                    <a:cubicBezTo>
                      <a:pt x="193" y="333"/>
                      <a:pt x="197" y="330"/>
                      <a:pt x="198" y="325"/>
                    </a:cubicBezTo>
                    <a:lnTo>
                      <a:pt x="201" y="295"/>
                    </a:lnTo>
                    <a:cubicBezTo>
                      <a:pt x="213" y="292"/>
                      <a:pt x="223" y="288"/>
                      <a:pt x="233" y="282"/>
                    </a:cubicBezTo>
                    <a:lnTo>
                      <a:pt x="257" y="301"/>
                    </a:lnTo>
                    <a:cubicBezTo>
                      <a:pt x="260" y="303"/>
                      <a:pt x="266" y="303"/>
                      <a:pt x="269" y="300"/>
                    </a:cubicBezTo>
                    <a:lnTo>
                      <a:pt x="300" y="269"/>
                    </a:lnTo>
                    <a:cubicBezTo>
                      <a:pt x="303" y="266"/>
                      <a:pt x="303" y="260"/>
                      <a:pt x="301" y="257"/>
                    </a:cubicBezTo>
                    <a:lnTo>
                      <a:pt x="282" y="233"/>
                    </a:lnTo>
                    <a:cubicBezTo>
                      <a:pt x="288" y="223"/>
                      <a:pt x="292" y="213"/>
                      <a:pt x="295" y="201"/>
                    </a:cubicBezTo>
                    <a:lnTo>
                      <a:pt x="325" y="198"/>
                    </a:lnTo>
                    <a:cubicBezTo>
                      <a:pt x="330" y="197"/>
                      <a:pt x="333" y="193"/>
                      <a:pt x="333" y="188"/>
                    </a:cubicBezTo>
                    <a:lnTo>
                      <a:pt x="333" y="145"/>
                    </a:lnTo>
                    <a:cubicBezTo>
                      <a:pt x="333" y="140"/>
                      <a:pt x="330" y="136"/>
                      <a:pt x="325" y="136"/>
                    </a:cubicBezTo>
                    <a:close/>
                    <a:moveTo>
                      <a:pt x="167" y="250"/>
                    </a:moveTo>
                    <a:cubicBezTo>
                      <a:pt x="121" y="250"/>
                      <a:pt x="83" y="213"/>
                      <a:pt x="83" y="167"/>
                    </a:cubicBezTo>
                    <a:cubicBezTo>
                      <a:pt x="83" y="121"/>
                      <a:pt x="121" y="83"/>
                      <a:pt x="167" y="83"/>
                    </a:cubicBezTo>
                    <a:cubicBezTo>
                      <a:pt x="213" y="83"/>
                      <a:pt x="250" y="121"/>
                      <a:pt x="250" y="167"/>
                    </a:cubicBezTo>
                    <a:cubicBezTo>
                      <a:pt x="250" y="213"/>
                      <a:pt x="213" y="250"/>
                      <a:pt x="167" y="2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e7547a96-13f0-4828-9264-b74622f696e0" id="18" name="Text4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true" flipV="false">
                <a:off x="8654256" y="2515142"/>
                <a:ext cx="2297177" cy="1244058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通过AI聊天机器人提供24/7客户咨询服务，解答客户疑问，提升客户体验。</a:t>
                </a:r>
              </a:p>
            </p:txBody>
          </p:sp>
          <p:sp>
            <p:nvSpPr>
              <p:cNvPr descr="84c3e7bb-8f83-4f8f-959d-8ebb1625f364" id="19" name="Bullet4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true" flipV="false">
                <a:off x="8654258" y="2068054"/>
                <a:ext cx="2297177" cy="447087"/>
              </a:xfrm>
              <a:prstGeom prst="rect">
                <a:avLst/>
              </a:prstGeom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客户服务</a:t>
                </a:r>
              </a:p>
            </p:txBody>
          </p:sp>
          <p:sp>
            <p:nvSpPr>
              <p:cNvPr descr="695c574b-c2ee-4b40-898c-b6af323c4388" id="16" name="Number4">
                <a:extLst>
                  <a:ext uri="{FF2B5EF4-FFF2-40B4-BE49-F238E27FC236}">
                    <a16:creationId id="{8391B5DE-8195-4083-AD3E-704FD9BED0F3}"/>
                  </a:ext>
                </a:extLst>
              </p:cNvPr>
              <p:cNvSpPr/>
              <p:nvPr/>
            </p:nvSpPr>
            <p:spPr>
              <a:xfrm flipH="false" flipV="false">
                <a:off x="9396325" y="1295371"/>
                <a:ext cx="813043" cy="7694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ctr"/>
                <a:r>
                  <a:rPr b="true" i="false" lang="en-US" sz="44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</p:grpSp>
        <p:sp>
          <p:nvSpPr>
            <p:cNvPr descr="e5b80c67-a18e-45ee-9a98-28b04df04dbc" id="43" name="Title">
              <a:extLst>
                <a:ext uri="{FF2B5EF4-FFF2-40B4-BE49-F238E27FC236}">
                  <a16:creationId id="{F7D85AAB-1858-8DC0-D7E9-38993753FEFF}"/>
                </a:ext>
              </a:extLst>
            </p:cNvPr>
            <p:cNvSpPr txBox="1"/>
            <p:nvPr/>
          </p:nvSpPr>
          <p:spPr>
            <a:xfrm flipH="false" flipV="false">
              <a:off x="660400" y="5295489"/>
              <a:ext cx="10858500" cy="838611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了解AI如何优化保险业务流程</a:t>
              </a:r>
            </a:p>
          </p:txBody>
        </p: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latin typeface="Average"/>
              </a:rPr>
              <a:t>AI在业务流程作用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58ed9e47-a7e9-42fe-86fd-33207dee841e" id="38" name="ab87b4bc-29f1-475e-a324-6801e31dce66.source.2.zh-Hans.pptx">
            <a:extLst>
              <a:ext uri="{FF2B5EF4-FFF2-40B4-BE49-F238E27FC236}">
                <a16:creationId id="{73471D75-C427-DDBA-B546-FAB8FD10247D}"/>
              </a:ext>
            </a:extLst>
          </p:cNvPr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sp>
          <p:nvSpPr>
            <p:cNvPr descr="4a07c54e-30ad-4e26-95fb-947ea9844866" id="4" name="任意多边形: 形状 3">
              <a:extLst>
                <a:ext uri="{FF2B5EF4-FFF2-40B4-BE49-F238E27FC236}">
                  <a16:creationId id="{C1B33E3A-7344-FA45-0444-58904830202D}"/>
                </a:ext>
              </a:extLst>
            </p:cNvPr>
            <p:cNvSpPr/>
            <p:nvPr/>
          </p:nvSpPr>
          <p:spPr>
            <a:xfrm flipH="false" flipV="false">
              <a:off x="9758128" y="4898808"/>
              <a:ext cx="2433873" cy="1959192"/>
            </a:xfrm>
            <a:custGeom>
              <a:avLst/>
              <a:gdLst>
                <a:gd fmla="*/ 2433873 w 2433873" name="connsiteX0"/>
                <a:gd fmla="*/ 0 h 1959192" name="connsiteY0"/>
                <a:gd fmla="*/ 2433873 w 2433873" name="connsiteX1"/>
                <a:gd fmla="*/ 1959192 h 1959192" name="connsiteY1"/>
                <a:gd fmla="*/ 0 w 2433873" name="connsiteX2"/>
                <a:gd fmla="*/ 1959192 h 1959192" name="connsiteY2"/>
                <a:gd fmla="*/ 86268 w 2433873" name="connsiteX3"/>
                <a:gd fmla="*/ 1920929 h 1959192" name="connsiteY3"/>
                <a:gd fmla="*/ 1922047 w 2433873" name="connsiteX4"/>
                <a:gd fmla="*/ 606338 h 1959192" name="connsiteY4"/>
                <a:gd fmla="*/ 2214808 w 2433873" name="connsiteX5"/>
                <a:gd fmla="*/ 280685 h 1959192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1959192" w="2433873">
                  <a:moveTo>
                    <a:pt x="2433873" y="0"/>
                  </a:moveTo>
                  <a:lnTo>
                    <a:pt x="2433873" y="1959192"/>
                  </a:lnTo>
                  <a:lnTo>
                    <a:pt x="0" y="1959192"/>
                  </a:lnTo>
                  <a:lnTo>
                    <a:pt x="86268" y="1920929"/>
                  </a:lnTo>
                  <a:cubicBezTo>
                    <a:pt x="755134" y="1608142"/>
                    <a:pt x="1379026" y="1169725"/>
                    <a:pt x="1922047" y="606338"/>
                  </a:cubicBezTo>
                  <a:cubicBezTo>
                    <a:pt x="2024153" y="500402"/>
                    <a:pt x="2121739" y="391771"/>
                    <a:pt x="2214808" y="28068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abfe03c5-2a06-439d-89d1-d77877eb94ef" id="5" name="任意多边形: 形状 4">
              <a:extLst>
                <a:ext uri="{FF2B5EF4-FFF2-40B4-BE49-F238E27FC236}">
                  <a16:creationId id="{B0C74F91-217D-825D-C5D9-0E089B0372D2}"/>
                </a:ext>
              </a:extLst>
            </p:cNvPr>
            <p:cNvSpPr/>
            <p:nvPr/>
          </p:nvSpPr>
          <p:spPr>
            <a:xfrm flipH="false" flipV="false">
              <a:off x="1" y="0"/>
              <a:ext cx="1780805" cy="1795231"/>
            </a:xfrm>
            <a:custGeom>
              <a:avLst/>
              <a:gdLst>
                <a:gd fmla="*/ 984785 w 1780805" name="connsiteX0"/>
                <a:gd fmla="*/ 0 h 1795231" name="connsiteY0"/>
                <a:gd fmla="*/ 1780805 w 1780805" name="connsiteX1"/>
                <a:gd fmla="*/ 0 h 1795231" name="connsiteY1"/>
                <a:gd fmla="*/ 1766410 w 1780805" name="connsiteX2"/>
                <a:gd fmla="*/ 138579 h 1795231" name="connsiteY2"/>
                <a:gd fmla="*/ 586056 w 1780805" name="connsiteX3"/>
                <a:gd fmla="*/ 1654126 h 1795231" name="connsiteY3"/>
                <a:gd fmla="*/ 90832 w 1780805" name="connsiteX4"/>
                <a:gd fmla="*/ 1787286 h 1795231" name="connsiteY4"/>
                <a:gd fmla="*/ 0 w 1780805" name="connsiteX5"/>
                <a:gd fmla="*/ 1795231 h 1795231" name="connsiteY5"/>
                <a:gd fmla="*/ 0 w 1780805" name="connsiteX6"/>
                <a:gd fmla="*/ 1000169 h 1795231" name="connsiteY6"/>
                <a:gd fmla="*/ 12778 w 1780805" name="connsiteX7"/>
                <a:gd fmla="*/ 998981 h 1795231" name="connsiteY7"/>
                <a:gd fmla="*/ 282178 w 1780805" name="connsiteX8"/>
                <a:gd fmla="*/ 923403 h 1795231" name="connsiteY8"/>
                <a:gd fmla="*/ 983403 w 1780805" name="connsiteX9"/>
                <a:gd fmla="*/ 23047 h 1795231" name="connsiteY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b="b" l="l" r="r" t="t"/>
              <a:pathLst>
                <a:path h="1795231" w="1780805">
                  <a:moveTo>
                    <a:pt x="984785" y="0"/>
                  </a:moveTo>
                  <a:lnTo>
                    <a:pt x="1780805" y="0"/>
                  </a:lnTo>
                  <a:lnTo>
                    <a:pt x="1766410" y="138579"/>
                  </a:lnTo>
                  <a:cubicBezTo>
                    <a:pt x="1668630" y="800207"/>
                    <a:pt x="1233011" y="1385085"/>
                    <a:pt x="586056" y="1654126"/>
                  </a:cubicBezTo>
                  <a:cubicBezTo>
                    <a:pt x="424318" y="1721387"/>
                    <a:pt x="257895" y="1765363"/>
                    <a:pt x="90832" y="1787286"/>
                  </a:cubicBezTo>
                  <a:lnTo>
                    <a:pt x="0" y="1795231"/>
                  </a:lnTo>
                  <a:lnTo>
                    <a:pt x="0" y="1000169"/>
                  </a:lnTo>
                  <a:lnTo>
                    <a:pt x="12778" y="998981"/>
                  </a:lnTo>
                  <a:cubicBezTo>
                    <a:pt x="103683" y="985036"/>
                    <a:pt x="194100" y="960031"/>
                    <a:pt x="282178" y="923403"/>
                  </a:cubicBezTo>
                  <a:cubicBezTo>
                    <a:pt x="666521" y="763571"/>
                    <a:pt x="925314" y="416107"/>
                    <a:pt x="983403" y="2304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dce75cf1-6fa4-46cb-a4cd-32505f3b917f" id="6" name="Title">
              <a:extLst>
                <a:ext uri="{FF2B5EF4-FFF2-40B4-BE49-F238E27FC236}">
                  <a16:creationId id="{DF66CC61-98AE-E033-429D-DAFC7546B7AB}"/>
                </a:ext>
              </a:extLst>
            </p:cNvPr>
            <p:cNvSpPr txBox="1"/>
            <p:nvPr/>
          </p:nvSpPr>
          <p:spPr>
            <a:xfrm flipH="false" flipV="false">
              <a:off x="673100" y="1130300"/>
              <a:ext cx="10845800" cy="1227485"/>
            </a:xfrm>
            <a:prstGeom prst="rect">
              <a:avLst/>
            </a:prstGeom>
            <a:noFill/>
            <a:effectLst/>
          </p:spPr>
          <p:txBody>
            <a:bodyPr anchor="t" anchorCtr="true" rtlCol="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探讨AI如何优化电商保险产品</a:t>
              </a:r>
            </a:p>
          </p:txBody>
        </p:sp>
        <p:grpSp>
          <p:nvGrpSpPr>
            <p:cNvPr descr="24b1ddc4-0506-405d-9318-985788f65e4f" id="35" name="组合 34">
              <a:extLst>
                <a:ext uri="{FF2B5EF4-FFF2-40B4-BE49-F238E27FC236}">
                  <a16:creationId id="{C2826093-76D7-2216-2AA5-4A796DFF7A0E}"/>
                </a:ext>
              </a:extLst>
            </p:cNvPr>
            <p:cNvGrpSpPr/>
            <p:nvPr/>
          </p:nvGrpSpPr>
          <p:grpSpPr>
            <a:xfrm>
              <a:off x="1542472" y="2663190"/>
              <a:ext cx="3865201" cy="3464591"/>
              <a:chOff x="1542472" y="2663190"/>
              <a:chExt cx="3865201" cy="3464591"/>
            </a:xfrm>
          </p:grpSpPr>
          <p:sp>
            <p:nvSpPr>
              <p:cNvPr descr="c5f62af8-4bb2-4e6d-95ca-c16344eefe87" id="30" name="Text1">
                <a:extLst>
                  <a:ext uri="{FF2B5EF4-FFF2-40B4-BE49-F238E27FC236}">
                    <a16:creationId id="{AA401DE9-4142-D9EA-A76E-84E01C22BC46}"/>
                  </a:ext>
                </a:extLst>
              </p:cNvPr>
              <p:cNvSpPr txBox="1"/>
              <p:nvPr/>
            </p:nvSpPr>
            <p:spPr>
              <a:xfrm flipH="false" flipV="false">
                <a:off x="1542475" y="4168589"/>
                <a:ext cx="3865198" cy="1959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通过分析用户行为预测购买倾向，为保险电商产品提供精准营销策略，提高销售效果。</a:t>
                </a:r>
              </a:p>
            </p:txBody>
          </p:sp>
          <p:sp>
            <p:nvSpPr>
              <p:cNvPr descr="c60fa4dc-99e8-480f-8ddd-4308ba484af8" id="31" name="Number1">
                <a:extLst>
                  <a:ext uri="{FF2B5EF4-FFF2-40B4-BE49-F238E27FC236}">
                    <a16:creationId id="{2FE96D7D-2D1B-62EE-0E3F-7D864D0C9086}"/>
                  </a:ext>
                </a:extLst>
              </p:cNvPr>
              <p:cNvSpPr txBox="1"/>
              <p:nvPr/>
            </p:nvSpPr>
            <p:spPr>
              <a:xfrm flipH="false" flipV="false">
                <a:off x="1542472" y="2663190"/>
                <a:ext cx="1044166" cy="809268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normAutofit lnSpcReduction="10000"/>
              </a:bodyPr>
              <a:lstStyle/>
              <a:p>
                <a:pPr algn="l"/>
                <a:r>
                  <a:rPr b="true" i="false" lang="en-US" sz="4800" u="none">
                    <a:solidFill>
                      <a:srgbClr val="E8A724"/>
                    </a:solidFill>
                    <a:latin typeface="Arial"/>
                  </a:rPr>
                  <a:t>0</a:t>
                </a:r>
                <a:r>
                  <a:rPr b="true" i="false" lang="en-US" sz="500" u="none">
                    <a:solidFill>
                      <a:srgbClr val="E8A724"/>
                    </a:solidFill>
                    <a:latin typeface="Arial"/>
                  </a:rPr>
                  <a:t> </a:t>
                </a:r>
                <a:r>
                  <a:rPr b="true" i="false" lang="en-US" sz="4800" u="none">
                    <a:solidFill>
                      <a:srgbClr val="E8A724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15c8a297-8da9-42e9-af0a-6ba771eb01c6" id="33" name="Bullet1">
                <a:extLst>
                  <a:ext uri="{FF2B5EF4-FFF2-40B4-BE49-F238E27FC236}">
                    <a16:creationId id="{9DD71AB3-6EAF-414B-5370-6E8C36B8ED71}"/>
                  </a:ext>
                </a:extLst>
              </p:cNvPr>
              <p:cNvSpPr txBox="1"/>
              <p:nvPr/>
            </p:nvSpPr>
            <p:spPr>
              <a:xfrm flipH="false" flipV="false">
                <a:off x="1542475" y="3488085"/>
                <a:ext cx="3865198" cy="680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用户行为购买预测</a:t>
                </a:r>
              </a:p>
            </p:txBody>
          </p:sp>
        </p:grpSp>
        <p:grpSp>
          <p:nvGrpSpPr>
            <p:cNvPr descr="3425bfd5-6481-4c13-9ed9-d9d9922491d3" id="37" name="组合 36">
              <a:extLst>
                <a:ext uri="{FF2B5EF4-FFF2-40B4-BE49-F238E27FC236}">
                  <a16:creationId id="{F8192201-1333-7A84-1A79-F6FC1A160F3C}"/>
                </a:ext>
              </a:extLst>
            </p:cNvPr>
            <p:cNvGrpSpPr/>
            <p:nvPr/>
          </p:nvGrpSpPr>
          <p:grpSpPr>
            <a:xfrm>
              <a:off x="7322597" y="2663190"/>
              <a:ext cx="3860332" cy="3464591"/>
              <a:chOff x="7322597" y="2663190"/>
              <a:chExt cx="3860332" cy="3464591"/>
            </a:xfrm>
          </p:grpSpPr>
          <p:sp>
            <p:nvSpPr>
              <p:cNvPr descr="935f88a9-026e-4c31-a5c3-f5cf5ab54bd1" id="26" name="Text2">
                <a:extLst>
                  <a:ext uri="{FF2B5EF4-FFF2-40B4-BE49-F238E27FC236}">
                    <a16:creationId id="{E92096A0-8369-ED40-B90C-49E4656E43EE}"/>
                  </a:ext>
                </a:extLst>
              </p:cNvPr>
              <p:cNvSpPr txBox="1"/>
              <p:nvPr/>
            </p:nvSpPr>
            <p:spPr>
              <a:xfrm flipH="false" flipV="false">
                <a:off x="7322600" y="4168589"/>
                <a:ext cx="3860329" cy="1959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根据用户行为和历史数据，提供个性化的产品推荐和精准的广告投放，满足用户需求，提升营销效率。</a:t>
                </a:r>
              </a:p>
            </p:txBody>
          </p:sp>
          <p:sp>
            <p:nvSpPr>
              <p:cNvPr descr="5527b327-fdc6-49a6-b315-12fb79de2ef3" id="27" name="Number2">
                <a:extLst>
                  <a:ext uri="{FF2B5EF4-FFF2-40B4-BE49-F238E27FC236}">
                    <a16:creationId id="{FD71BE4E-DABE-84FC-C7D1-C695410B8D62}"/>
                  </a:ext>
                </a:extLst>
              </p:cNvPr>
              <p:cNvSpPr txBox="1"/>
              <p:nvPr/>
            </p:nvSpPr>
            <p:spPr>
              <a:xfrm flipH="false" flipV="false">
                <a:off x="7322597" y="2663190"/>
                <a:ext cx="1044163" cy="809268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normAutofit lnSpcReduction="10000"/>
              </a:bodyPr>
              <a:lstStyle/>
              <a:p>
                <a:pPr algn="l"/>
                <a:r>
                  <a:rPr b="true" i="false" lang="en-US" sz="4800" u="none">
                    <a:solidFill>
                      <a:srgbClr val="E8A724"/>
                    </a:solidFill>
                    <a:latin typeface="Arial"/>
                  </a:rPr>
                  <a:t>0</a:t>
                </a:r>
                <a:r>
                  <a:rPr b="true" i="false" lang="en-US" sz="500" u="none">
                    <a:solidFill>
                      <a:srgbClr val="E8A724"/>
                    </a:solidFill>
                    <a:latin typeface="Arial"/>
                  </a:rPr>
                  <a:t> </a:t>
                </a:r>
                <a:r>
                  <a:rPr b="true" i="false" lang="en-US" sz="4800" u="none">
                    <a:solidFill>
                      <a:srgbClr val="E8A724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0a59b4bf-339d-4c16-acf1-aa19a2819fef" id="28" name="Bullet2">
                <a:extLst>
                  <a:ext uri="{FF2B5EF4-FFF2-40B4-BE49-F238E27FC236}">
                    <a16:creationId id="{4A6BCD83-2576-EADA-21D7-B7AA7E59DE41}"/>
                  </a:ext>
                </a:extLst>
              </p:cNvPr>
              <p:cNvSpPr txBox="1"/>
              <p:nvPr/>
            </p:nvSpPr>
            <p:spPr>
              <a:xfrm flipH="false" flipV="false">
                <a:off x="7322600" y="3488085"/>
                <a:ext cx="3860329" cy="680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verage"/>
                  </a:rPr>
                  <a:t>AI精准营销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电商保险产品优化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585212c8-ec95-4eb9-8bc7-e9317f73ef0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latin typeface="Average"/>
              </a:rPr>
              <a:t>AI应用优势分析</a:t>
            </a:r>
          </a:p>
        </p:txBody>
      </p:sp>
      <p:sp>
        <p:nvSpPr>
          <p:cNvPr descr="8ff2b344-0921-4b78-962e-7ac53a72cd5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分析AI为保险业务带来的优势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404192e0-6e7e-4c0d-a978-14ec05720d3c" id="4" name="29466696-2af1-4380-9df0-5a9f69d47c97.source.3.zh-Hans.pptx">
            <a:extLst>
              <a:ext uri="{FF2B5EF4-FFF2-40B4-BE49-F238E27FC236}">
                <a16:creationId id="{500AFBF3-8F1D-1F9E-B521-CCE50FAE8F42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2ee8dd0d-faf8-4747-9803-0f698ebd3c75" id="46" name="ïŝḻîḍé">
              <a:extLst>
                <a:ext uri="{FF2B5EF4-FFF2-40B4-BE49-F238E27FC236}">
                  <a16:creationId id="{2C3FAC67-BFB7-4D3B-B175-E6F09FBE53C0}"/>
                </a:ext>
              </a:extLst>
            </p:cNvPr>
            <p:cNvSpPr/>
            <p:nvPr/>
          </p:nvSpPr>
          <p:spPr bwMode="auto">
            <a:xfrm flipH="false" flipV="false">
              <a:off x="961365" y="2720954"/>
              <a:ext cx="2679863" cy="1305603"/>
            </a:xfrm>
            <a:custGeom>
              <a:avLst/>
              <a:gdLst>
                <a:gd fmla="*/ 116 w 4473" name="T0"/>
                <a:gd fmla="*/ 2186 h 2186" name="T1"/>
                <a:gd fmla="*/ 737 w 4473" name="T2"/>
                <a:gd fmla="*/ 737 h 2186" name="T3"/>
                <a:gd fmla="*/ 2237 w 4473" name="T4"/>
                <a:gd fmla="*/ 116 h 2186" name="T5"/>
                <a:gd fmla="*/ 3737 w 4473" name="T6"/>
                <a:gd fmla="*/ 737 h 2186" name="T7"/>
                <a:gd fmla="*/ 4357 w 4473" name="T8"/>
                <a:gd fmla="*/ 2186 h 2186" name="T9"/>
                <a:gd fmla="*/ 4473 w 4473" name="T10"/>
                <a:gd fmla="*/ 2186 h 2186" name="T11"/>
                <a:gd fmla="*/ 3819 w 4473" name="T12"/>
                <a:gd fmla="*/ 656 h 2186" name="T13"/>
                <a:gd fmla="*/ 2237 w 4473" name="T14"/>
                <a:gd fmla="*/ 0 h 2186" name="T15"/>
                <a:gd fmla="*/ 655 w 4473" name="T16"/>
                <a:gd fmla="*/ 656 h 2186" name="T17"/>
                <a:gd fmla="*/ 0 w 4473" name="T18"/>
                <a:gd fmla="*/ 2186 h 2186" name="T19"/>
                <a:gd fmla="*/ 116 w 4473" name="T20"/>
                <a:gd fmla="*/ 2186 h 2186" name="T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b="b" l="0" r="r" t="0"/>
              <a:pathLst>
                <a:path h="2186" w="4473">
                  <a:moveTo>
                    <a:pt x="116" y="2186"/>
                  </a:moveTo>
                  <a:cubicBezTo>
                    <a:pt x="129" y="1639"/>
                    <a:pt x="348" y="1126"/>
                    <a:pt x="737" y="737"/>
                  </a:cubicBezTo>
                  <a:cubicBezTo>
                    <a:pt x="1137" y="337"/>
                    <a:pt x="1670" y="116"/>
                    <a:pt x="2237" y="116"/>
                  </a:cubicBezTo>
                  <a:cubicBezTo>
                    <a:pt x="2803" y="116"/>
                    <a:pt x="3336" y="337"/>
                    <a:pt x="3737" y="737"/>
                  </a:cubicBezTo>
                  <a:cubicBezTo>
                    <a:pt x="4125" y="1126"/>
                    <a:pt x="4345" y="1639"/>
                    <a:pt x="4357" y="2186"/>
                  </a:cubicBezTo>
                  <a:cubicBezTo>
                    <a:pt x="4473" y="2186"/>
                    <a:pt x="4473" y="2186"/>
                    <a:pt x="4473" y="2186"/>
                  </a:cubicBezTo>
                  <a:cubicBezTo>
                    <a:pt x="4460" y="1608"/>
                    <a:pt x="4229" y="1066"/>
                    <a:pt x="3819" y="656"/>
                  </a:cubicBezTo>
                  <a:cubicBezTo>
                    <a:pt x="3396" y="233"/>
                    <a:pt x="2834" y="0"/>
                    <a:pt x="2237" y="0"/>
                  </a:cubicBezTo>
                  <a:cubicBezTo>
                    <a:pt x="1639" y="0"/>
                    <a:pt x="1077" y="233"/>
                    <a:pt x="655" y="656"/>
                  </a:cubicBezTo>
                  <a:cubicBezTo>
                    <a:pt x="245" y="1066"/>
                    <a:pt x="13" y="1608"/>
                    <a:pt x="0" y="2186"/>
                  </a:cubicBezTo>
                  <a:lnTo>
                    <a:pt x="116" y="2186"/>
                  </a:ln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e538f27b-2c56-45ed-ac9b-851a3ed58b93" id="47" name="íṣḷiḍé">
              <a:extLst>
                <a:ext uri="{FF2B5EF4-FFF2-40B4-BE49-F238E27FC236}">
                  <a16:creationId id="{B2D32112-4814-4BEB-9D20-4ADDF85754F5}"/>
                </a:ext>
              </a:extLst>
            </p:cNvPr>
            <p:cNvSpPr/>
            <p:nvPr/>
          </p:nvSpPr>
          <p:spPr bwMode="auto">
            <a:xfrm flipH="false" flipV="false">
              <a:off x="1103940" y="2864230"/>
              <a:ext cx="2395062" cy="1092614"/>
            </a:xfrm>
            <a:custGeom>
              <a:avLst/>
              <a:gdLst>
                <a:gd fmla="*/ 3390 w 6837" name="T0"/>
                <a:gd fmla="*/ 0 h 3119" name="T1"/>
                <a:gd fmla="*/ 6406 w 6837" name="T2"/>
                <a:gd fmla="*/ 1736 h 3119" name="T3"/>
                <a:gd fmla="*/ 5878 w 6837" name="T4"/>
                <a:gd fmla="*/ 2039 h 3119" name="T5"/>
                <a:gd fmla="*/ 5112 w 6837" name="T6"/>
                <a:gd fmla="*/ 445 h 3119" name="T7"/>
                <a:gd fmla="*/ 5160 w 6837" name="T8"/>
                <a:gd fmla="*/ 472 h 3119" name="T9"/>
                <a:gd fmla="*/ 431 w 6837" name="T10"/>
                <a:gd fmla="*/ 1736 h 3119" name="T11"/>
                <a:gd fmla="*/ 2030 w 6837" name="T12"/>
                <a:gd fmla="*/ 972 h 3119" name="T13"/>
                <a:gd fmla="*/ 1982 w 6837" name="T14"/>
                <a:gd fmla="*/ 999 h 3119" name="T15"/>
                <a:gd fmla="*/ 3087 w 6837" name="T16"/>
                <a:gd fmla="*/ 15 h 3119" name="T17"/>
                <a:gd fmla="*/ 3111 w 6837" name="T18"/>
                <a:gd fmla="*/ 247 h 3119" name="T19"/>
                <a:gd fmla="*/ 2676 w 6837" name="T20"/>
                <a:gd fmla="*/ 80 h 3119" name="T21"/>
                <a:gd fmla="*/ 2456 w 6837" name="T22"/>
                <a:gd fmla="*/ 380 h 3119" name="T23"/>
                <a:gd fmla="*/ 2403 w 6837" name="T24"/>
                <a:gd fmla="*/ 397 h 3119" name="T25"/>
                <a:gd fmla="*/ 2047 w 6837" name="T26"/>
                <a:gd fmla="*/ 285 h 3119" name="T27"/>
                <a:gd fmla="*/ 2141 w 6837" name="T28"/>
                <a:gd fmla="*/ 498 h 3119" name="T29"/>
                <a:gd fmla="*/ 3725 w 6837" name="T30"/>
                <a:gd fmla="*/ 247 h 3119" name="T31"/>
                <a:gd fmla="*/ 4159 w 6837" name="T32"/>
                <a:gd fmla="*/ 80 h 3119" name="T33"/>
                <a:gd fmla="*/ 4111 w 6837" name="T34"/>
                <a:gd fmla="*/ 309 h 3119" name="T35"/>
                <a:gd fmla="*/ 4453 w 6837" name="T36"/>
                <a:gd fmla="*/ 159 h 3119" name="T37"/>
                <a:gd fmla="*/ 4506 w 6837" name="T38"/>
                <a:gd fmla="*/ 176 h 3119" name="T39"/>
                <a:gd fmla="*/ 4694 w 6837" name="T40"/>
                <a:gd fmla="*/ 498 h 3119" name="T41"/>
                <a:gd fmla="*/ 6837 w 6837" name="T42"/>
                <a:gd fmla="*/ 3093 h 3119" name="T43"/>
                <a:gd fmla="*/ 6605 w 6837" name="T44"/>
                <a:gd fmla="*/ 3119 h 3119" name="T45"/>
                <a:gd fmla="*/ 6772 w 6837" name="T46"/>
                <a:gd fmla="*/ 2686 h 3119" name="T47"/>
                <a:gd fmla="*/ 6782 w 6837" name="T48"/>
                <a:gd fmla="*/ 2740 h 3119" name="T49"/>
                <a:gd fmla="*/ 6454 w 6837" name="T50"/>
                <a:gd fmla="*/ 2411 h 3119" name="T51"/>
                <a:gd fmla="*/ 6567 w 6837" name="T52"/>
                <a:gd fmla="*/ 2056 h 3119" name="T53"/>
                <a:gd fmla="*/ 6353 w 6837" name="T54"/>
                <a:gd fmla="*/ 2152 h 3119" name="T55"/>
                <a:gd fmla="*/ 1450 w 6837" name="T56"/>
                <a:gd fmla="*/ 619 h 3119" name="T57"/>
                <a:gd fmla="*/ 1585 w 6837" name="T58"/>
                <a:gd fmla="*/ 808 h 3119" name="T59"/>
                <a:gd fmla="*/ 1125 w 6837" name="T60"/>
                <a:gd fmla="*/ 877 h 3119" name="T61"/>
                <a:gd fmla="*/ 1079 w 6837" name="T62"/>
                <a:gd fmla="*/ 1245 h 3119" name="T63"/>
                <a:gd fmla="*/ 1041 w 6837" name="T64"/>
                <a:gd fmla="*/ 1286 h 3119" name="T65"/>
                <a:gd fmla="*/ 677 w 6837" name="T66"/>
                <a:gd fmla="*/ 1362 h 3119" name="T67"/>
                <a:gd fmla="*/ 864 w 6837" name="T68"/>
                <a:gd fmla="*/ 1501 h 3119" name="T69"/>
                <a:gd fmla="*/ 6009 w 6837" name="T70"/>
                <a:gd fmla="*/ 1552 h 3119" name="T71"/>
                <a:gd fmla="*/ 6011 w 6837" name="T72"/>
                <a:gd fmla="*/ 1178 h 3119" name="T73"/>
                <a:gd fmla="*/ 5835 w 6837" name="T74"/>
                <a:gd fmla="*/ 1333 h 3119" name="T75"/>
                <a:gd fmla="*/ 5720 w 6837" name="T76"/>
                <a:gd fmla="*/ 883 h 3119" name="T77"/>
                <a:gd fmla="*/ 5762 w 6837" name="T78"/>
                <a:gd fmla="*/ 921 h 3119" name="T79"/>
                <a:gd fmla="*/ 5301 w 6837" name="T80"/>
                <a:gd fmla="*/ 844 h 3119" name="T81"/>
                <a:gd fmla="*/ 238 w 6837" name="T82"/>
                <a:gd fmla="*/ 3062 h 3119" name="T83"/>
                <a:gd fmla="*/ 233 w 6837" name="T84"/>
                <a:gd fmla="*/ 3119 h 3119" name="T85"/>
                <a:gd fmla="*/ 65 w 6837" name="T86"/>
                <a:gd fmla="*/ 2686 h 3119" name="T87"/>
                <a:gd fmla="*/ 292 w 6837" name="T88"/>
                <a:gd fmla="*/ 2733 h 3119" name="T89"/>
                <a:gd fmla="*/ 144 w 6837" name="T90"/>
                <a:gd fmla="*/ 2392 h 3119" name="T91"/>
                <a:gd fmla="*/ 506 w 6837" name="T92"/>
                <a:gd fmla="*/ 2101 h 3119" name="T93"/>
                <a:gd fmla="*/ 482 w 6837" name="T94"/>
                <a:gd fmla="*/ 2152 h 3119" name="T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b="b" l="0" r="r" t="0"/>
              <a:pathLst>
                <a:path h="3119" w="6837">
                  <a:moveTo>
                    <a:pt x="3446" y="609"/>
                  </a:moveTo>
                  <a:lnTo>
                    <a:pt x="3390" y="609"/>
                  </a:lnTo>
                  <a:lnTo>
                    <a:pt x="3390" y="0"/>
                  </a:lnTo>
                  <a:lnTo>
                    <a:pt x="3446" y="0"/>
                  </a:lnTo>
                  <a:lnTo>
                    <a:pt x="3446" y="609"/>
                  </a:lnTo>
                  <a:close/>
                  <a:moveTo>
                    <a:pt x="6406" y="1736"/>
                  </a:moveTo>
                  <a:lnTo>
                    <a:pt x="6379" y="1688"/>
                  </a:lnTo>
                  <a:lnTo>
                    <a:pt x="5850" y="1992"/>
                  </a:lnTo>
                  <a:lnTo>
                    <a:pt x="5878" y="2039"/>
                  </a:lnTo>
                  <a:lnTo>
                    <a:pt x="6406" y="1736"/>
                  </a:lnTo>
                  <a:close/>
                  <a:moveTo>
                    <a:pt x="5160" y="472"/>
                  </a:moveTo>
                  <a:lnTo>
                    <a:pt x="5112" y="445"/>
                  </a:lnTo>
                  <a:lnTo>
                    <a:pt x="4807" y="972"/>
                  </a:lnTo>
                  <a:lnTo>
                    <a:pt x="4855" y="999"/>
                  </a:lnTo>
                  <a:lnTo>
                    <a:pt x="5160" y="472"/>
                  </a:lnTo>
                  <a:close/>
                  <a:moveTo>
                    <a:pt x="987" y="1992"/>
                  </a:moveTo>
                  <a:lnTo>
                    <a:pt x="458" y="1688"/>
                  </a:lnTo>
                  <a:lnTo>
                    <a:pt x="431" y="1736"/>
                  </a:lnTo>
                  <a:lnTo>
                    <a:pt x="958" y="2039"/>
                  </a:lnTo>
                  <a:lnTo>
                    <a:pt x="987" y="1992"/>
                  </a:lnTo>
                  <a:close/>
                  <a:moveTo>
                    <a:pt x="2030" y="972"/>
                  </a:moveTo>
                  <a:lnTo>
                    <a:pt x="1726" y="445"/>
                  </a:lnTo>
                  <a:lnTo>
                    <a:pt x="1678" y="472"/>
                  </a:lnTo>
                  <a:lnTo>
                    <a:pt x="1982" y="999"/>
                  </a:lnTo>
                  <a:lnTo>
                    <a:pt x="2030" y="972"/>
                  </a:lnTo>
                  <a:close/>
                  <a:moveTo>
                    <a:pt x="3111" y="247"/>
                  </a:moveTo>
                  <a:lnTo>
                    <a:pt x="3087" y="15"/>
                  </a:lnTo>
                  <a:lnTo>
                    <a:pt x="3032" y="22"/>
                  </a:lnTo>
                  <a:lnTo>
                    <a:pt x="3056" y="254"/>
                  </a:lnTo>
                  <a:lnTo>
                    <a:pt x="3111" y="247"/>
                  </a:lnTo>
                  <a:close/>
                  <a:moveTo>
                    <a:pt x="2781" y="297"/>
                  </a:moveTo>
                  <a:lnTo>
                    <a:pt x="2731" y="70"/>
                  </a:lnTo>
                  <a:lnTo>
                    <a:pt x="2676" y="80"/>
                  </a:lnTo>
                  <a:lnTo>
                    <a:pt x="2726" y="309"/>
                  </a:lnTo>
                  <a:lnTo>
                    <a:pt x="2781" y="297"/>
                  </a:lnTo>
                  <a:close/>
                  <a:moveTo>
                    <a:pt x="2456" y="380"/>
                  </a:moveTo>
                  <a:lnTo>
                    <a:pt x="2384" y="159"/>
                  </a:lnTo>
                  <a:lnTo>
                    <a:pt x="2331" y="176"/>
                  </a:lnTo>
                  <a:lnTo>
                    <a:pt x="2403" y="397"/>
                  </a:lnTo>
                  <a:lnTo>
                    <a:pt x="2456" y="380"/>
                  </a:lnTo>
                  <a:close/>
                  <a:moveTo>
                    <a:pt x="2141" y="498"/>
                  </a:moveTo>
                  <a:lnTo>
                    <a:pt x="2047" y="285"/>
                  </a:lnTo>
                  <a:lnTo>
                    <a:pt x="1996" y="307"/>
                  </a:lnTo>
                  <a:lnTo>
                    <a:pt x="2092" y="520"/>
                  </a:lnTo>
                  <a:lnTo>
                    <a:pt x="2141" y="498"/>
                  </a:lnTo>
                  <a:close/>
                  <a:moveTo>
                    <a:pt x="3805" y="22"/>
                  </a:moveTo>
                  <a:lnTo>
                    <a:pt x="3749" y="15"/>
                  </a:lnTo>
                  <a:lnTo>
                    <a:pt x="3725" y="247"/>
                  </a:lnTo>
                  <a:lnTo>
                    <a:pt x="3781" y="254"/>
                  </a:lnTo>
                  <a:lnTo>
                    <a:pt x="3805" y="22"/>
                  </a:lnTo>
                  <a:close/>
                  <a:moveTo>
                    <a:pt x="4159" y="80"/>
                  </a:moveTo>
                  <a:lnTo>
                    <a:pt x="4104" y="70"/>
                  </a:lnTo>
                  <a:lnTo>
                    <a:pt x="4056" y="297"/>
                  </a:lnTo>
                  <a:lnTo>
                    <a:pt x="4111" y="309"/>
                  </a:lnTo>
                  <a:lnTo>
                    <a:pt x="4159" y="80"/>
                  </a:lnTo>
                  <a:close/>
                  <a:moveTo>
                    <a:pt x="4506" y="176"/>
                  </a:moveTo>
                  <a:lnTo>
                    <a:pt x="4453" y="159"/>
                  </a:lnTo>
                  <a:lnTo>
                    <a:pt x="4381" y="380"/>
                  </a:lnTo>
                  <a:lnTo>
                    <a:pt x="4434" y="397"/>
                  </a:lnTo>
                  <a:lnTo>
                    <a:pt x="4506" y="176"/>
                  </a:lnTo>
                  <a:close/>
                  <a:moveTo>
                    <a:pt x="4840" y="307"/>
                  </a:moveTo>
                  <a:lnTo>
                    <a:pt x="4790" y="285"/>
                  </a:lnTo>
                  <a:lnTo>
                    <a:pt x="4694" y="498"/>
                  </a:lnTo>
                  <a:lnTo>
                    <a:pt x="4746" y="520"/>
                  </a:lnTo>
                  <a:lnTo>
                    <a:pt x="4840" y="307"/>
                  </a:lnTo>
                  <a:close/>
                  <a:moveTo>
                    <a:pt x="6837" y="3093"/>
                  </a:moveTo>
                  <a:lnTo>
                    <a:pt x="6830" y="3038"/>
                  </a:lnTo>
                  <a:lnTo>
                    <a:pt x="6598" y="3062"/>
                  </a:lnTo>
                  <a:lnTo>
                    <a:pt x="6605" y="3119"/>
                  </a:lnTo>
                  <a:lnTo>
                    <a:pt x="6837" y="3093"/>
                  </a:lnTo>
                  <a:close/>
                  <a:moveTo>
                    <a:pt x="6782" y="2740"/>
                  </a:moveTo>
                  <a:lnTo>
                    <a:pt x="6772" y="2686"/>
                  </a:lnTo>
                  <a:lnTo>
                    <a:pt x="6543" y="2733"/>
                  </a:lnTo>
                  <a:lnTo>
                    <a:pt x="6555" y="2788"/>
                  </a:lnTo>
                  <a:lnTo>
                    <a:pt x="6782" y="2740"/>
                  </a:lnTo>
                  <a:close/>
                  <a:moveTo>
                    <a:pt x="6694" y="2392"/>
                  </a:moveTo>
                  <a:lnTo>
                    <a:pt x="6676" y="2339"/>
                  </a:lnTo>
                  <a:lnTo>
                    <a:pt x="6454" y="2411"/>
                  </a:lnTo>
                  <a:lnTo>
                    <a:pt x="6471" y="2464"/>
                  </a:lnTo>
                  <a:lnTo>
                    <a:pt x="6694" y="2392"/>
                  </a:lnTo>
                  <a:close/>
                  <a:moveTo>
                    <a:pt x="6567" y="2056"/>
                  </a:moveTo>
                  <a:lnTo>
                    <a:pt x="6545" y="2007"/>
                  </a:lnTo>
                  <a:lnTo>
                    <a:pt x="6331" y="2101"/>
                  </a:lnTo>
                  <a:lnTo>
                    <a:pt x="6353" y="2152"/>
                  </a:lnTo>
                  <a:lnTo>
                    <a:pt x="6567" y="2056"/>
                  </a:lnTo>
                  <a:close/>
                  <a:moveTo>
                    <a:pt x="1585" y="808"/>
                  </a:moveTo>
                  <a:lnTo>
                    <a:pt x="1450" y="619"/>
                  </a:lnTo>
                  <a:lnTo>
                    <a:pt x="1404" y="651"/>
                  </a:lnTo>
                  <a:lnTo>
                    <a:pt x="1539" y="841"/>
                  </a:lnTo>
                  <a:lnTo>
                    <a:pt x="1585" y="808"/>
                  </a:lnTo>
                  <a:close/>
                  <a:moveTo>
                    <a:pt x="1320" y="1013"/>
                  </a:moveTo>
                  <a:lnTo>
                    <a:pt x="1166" y="839"/>
                  </a:lnTo>
                  <a:lnTo>
                    <a:pt x="1125" y="877"/>
                  </a:lnTo>
                  <a:lnTo>
                    <a:pt x="1279" y="1050"/>
                  </a:lnTo>
                  <a:lnTo>
                    <a:pt x="1320" y="1013"/>
                  </a:lnTo>
                  <a:close/>
                  <a:moveTo>
                    <a:pt x="1079" y="1245"/>
                  </a:moveTo>
                  <a:lnTo>
                    <a:pt x="908" y="1088"/>
                  </a:lnTo>
                  <a:lnTo>
                    <a:pt x="870" y="1129"/>
                  </a:lnTo>
                  <a:lnTo>
                    <a:pt x="1041" y="1286"/>
                  </a:lnTo>
                  <a:lnTo>
                    <a:pt x="1079" y="1245"/>
                  </a:lnTo>
                  <a:close/>
                  <a:moveTo>
                    <a:pt x="864" y="1501"/>
                  </a:moveTo>
                  <a:lnTo>
                    <a:pt x="677" y="1362"/>
                  </a:lnTo>
                  <a:lnTo>
                    <a:pt x="643" y="1407"/>
                  </a:lnTo>
                  <a:lnTo>
                    <a:pt x="831" y="1547"/>
                  </a:lnTo>
                  <a:lnTo>
                    <a:pt x="864" y="1501"/>
                  </a:lnTo>
                  <a:close/>
                  <a:moveTo>
                    <a:pt x="6232" y="1461"/>
                  </a:moveTo>
                  <a:lnTo>
                    <a:pt x="6199" y="1415"/>
                  </a:lnTo>
                  <a:lnTo>
                    <a:pt x="6009" y="1552"/>
                  </a:lnTo>
                  <a:lnTo>
                    <a:pt x="6042" y="1596"/>
                  </a:lnTo>
                  <a:lnTo>
                    <a:pt x="6232" y="1461"/>
                  </a:lnTo>
                  <a:close/>
                  <a:moveTo>
                    <a:pt x="6011" y="1178"/>
                  </a:moveTo>
                  <a:lnTo>
                    <a:pt x="5974" y="1137"/>
                  </a:lnTo>
                  <a:lnTo>
                    <a:pt x="5799" y="1291"/>
                  </a:lnTo>
                  <a:lnTo>
                    <a:pt x="5835" y="1333"/>
                  </a:lnTo>
                  <a:lnTo>
                    <a:pt x="6011" y="1178"/>
                  </a:lnTo>
                  <a:close/>
                  <a:moveTo>
                    <a:pt x="5762" y="921"/>
                  </a:moveTo>
                  <a:lnTo>
                    <a:pt x="5720" y="883"/>
                  </a:lnTo>
                  <a:lnTo>
                    <a:pt x="5563" y="1056"/>
                  </a:lnTo>
                  <a:lnTo>
                    <a:pt x="5602" y="1093"/>
                  </a:lnTo>
                  <a:lnTo>
                    <a:pt x="5762" y="921"/>
                  </a:lnTo>
                  <a:close/>
                  <a:moveTo>
                    <a:pt x="5486" y="691"/>
                  </a:moveTo>
                  <a:lnTo>
                    <a:pt x="5442" y="658"/>
                  </a:lnTo>
                  <a:lnTo>
                    <a:pt x="5301" y="844"/>
                  </a:lnTo>
                  <a:lnTo>
                    <a:pt x="5348" y="878"/>
                  </a:lnTo>
                  <a:lnTo>
                    <a:pt x="5486" y="691"/>
                  </a:lnTo>
                  <a:close/>
                  <a:moveTo>
                    <a:pt x="238" y="3062"/>
                  </a:moveTo>
                  <a:lnTo>
                    <a:pt x="5" y="3038"/>
                  </a:lnTo>
                  <a:lnTo>
                    <a:pt x="0" y="3093"/>
                  </a:lnTo>
                  <a:lnTo>
                    <a:pt x="233" y="3119"/>
                  </a:lnTo>
                  <a:lnTo>
                    <a:pt x="238" y="3062"/>
                  </a:lnTo>
                  <a:close/>
                  <a:moveTo>
                    <a:pt x="292" y="2733"/>
                  </a:moveTo>
                  <a:lnTo>
                    <a:pt x="65" y="2686"/>
                  </a:lnTo>
                  <a:lnTo>
                    <a:pt x="53" y="2740"/>
                  </a:lnTo>
                  <a:lnTo>
                    <a:pt x="282" y="2788"/>
                  </a:lnTo>
                  <a:lnTo>
                    <a:pt x="292" y="2733"/>
                  </a:lnTo>
                  <a:close/>
                  <a:moveTo>
                    <a:pt x="383" y="2411"/>
                  </a:moveTo>
                  <a:lnTo>
                    <a:pt x="161" y="2339"/>
                  </a:lnTo>
                  <a:lnTo>
                    <a:pt x="144" y="2392"/>
                  </a:lnTo>
                  <a:lnTo>
                    <a:pt x="366" y="2464"/>
                  </a:lnTo>
                  <a:lnTo>
                    <a:pt x="383" y="2411"/>
                  </a:lnTo>
                  <a:close/>
                  <a:moveTo>
                    <a:pt x="506" y="2101"/>
                  </a:moveTo>
                  <a:lnTo>
                    <a:pt x="292" y="2007"/>
                  </a:lnTo>
                  <a:lnTo>
                    <a:pt x="270" y="2056"/>
                  </a:lnTo>
                  <a:lnTo>
                    <a:pt x="482" y="2152"/>
                  </a:lnTo>
                  <a:lnTo>
                    <a:pt x="506" y="2101"/>
                  </a:ln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98ed9366-05ba-439a-ac94-e27e72e763b5" id="43" name="îSľïdê">
              <a:extLst>
                <a:ext uri="{FF2B5EF4-FFF2-40B4-BE49-F238E27FC236}">
                  <a16:creationId id="{03A18EC8-9E79-4D19-A23C-CA37CEF35355}"/>
                </a:ext>
              </a:extLst>
            </p:cNvPr>
            <p:cNvSpPr/>
            <p:nvPr/>
          </p:nvSpPr>
          <p:spPr bwMode="auto">
            <a:xfrm flipH="false" flipV="false">
              <a:off x="2224228" y="3916209"/>
              <a:ext cx="172003" cy="171301"/>
            </a:xfrm>
            <a:custGeom>
              <a:avLst/>
              <a:gdLst>
                <a:gd fmla="*/ 8 w 287" name="T0"/>
                <a:gd fmla="*/ 130 h 287" name="T1"/>
                <a:gd fmla="*/ 131 w 287" name="T2"/>
                <a:gd fmla="*/ 279 h 287" name="T3"/>
                <a:gd fmla="*/ 279 w 287" name="T4"/>
                <a:gd fmla="*/ 156 h 287" name="T5"/>
                <a:gd fmla="*/ 156 w 287" name="T6"/>
                <a:gd fmla="*/ 8 h 287" name="T7"/>
                <a:gd fmla="*/ 8 w 287" name="T8"/>
                <a:gd fmla="*/ 130 h 287" name="T9"/>
                <a:gd fmla="*/ 208 w 287" name="T10"/>
                <a:gd fmla="*/ 150 h 287" name="T11"/>
                <a:gd fmla="*/ 137 w 287" name="T12"/>
                <a:gd fmla="*/ 208 h 287" name="T13"/>
                <a:gd fmla="*/ 79 w 287" name="T14"/>
                <a:gd fmla="*/ 137 h 287" name="T15"/>
                <a:gd fmla="*/ 150 w 287" name="T16"/>
                <a:gd fmla="*/ 79 h 287" name="T17"/>
                <a:gd fmla="*/ 208 w 287" name="T18"/>
                <a:gd fmla="*/ 150 h 287" name="T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b="b" l="0" r="r" t="0"/>
              <a:pathLst>
                <a:path h="287" w="287">
                  <a:moveTo>
                    <a:pt x="8" y="130"/>
                  </a:moveTo>
                  <a:cubicBezTo>
                    <a:pt x="0" y="206"/>
                    <a:pt x="55" y="272"/>
                    <a:pt x="131" y="279"/>
                  </a:cubicBezTo>
                  <a:cubicBezTo>
                    <a:pt x="206" y="287"/>
                    <a:pt x="272" y="232"/>
                    <a:pt x="279" y="156"/>
                  </a:cubicBezTo>
                  <a:cubicBezTo>
                    <a:pt x="287" y="81"/>
                    <a:pt x="232" y="15"/>
                    <a:pt x="156" y="8"/>
                  </a:cubicBezTo>
                  <a:cubicBezTo>
                    <a:pt x="81" y="0"/>
                    <a:pt x="15" y="55"/>
                    <a:pt x="8" y="130"/>
                  </a:cubicBezTo>
                  <a:close/>
                  <a:moveTo>
                    <a:pt x="208" y="150"/>
                  </a:moveTo>
                  <a:cubicBezTo>
                    <a:pt x="205" y="185"/>
                    <a:pt x="173" y="212"/>
                    <a:pt x="137" y="208"/>
                  </a:cubicBezTo>
                  <a:cubicBezTo>
                    <a:pt x="102" y="205"/>
                    <a:pt x="75" y="173"/>
                    <a:pt x="79" y="137"/>
                  </a:cubicBezTo>
                  <a:cubicBezTo>
                    <a:pt x="82" y="102"/>
                    <a:pt x="114" y="75"/>
                    <a:pt x="150" y="79"/>
                  </a:cubicBezTo>
                  <a:cubicBezTo>
                    <a:pt x="185" y="82"/>
                    <a:pt x="212" y="114"/>
                    <a:pt x="208" y="150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325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4201aad5-415a-49dc-a959-72408667d475" id="44" name="íṡḷïďê">
              <a:extLst>
                <a:ext uri="{FF2B5EF4-FFF2-40B4-BE49-F238E27FC236}">
                  <a16:creationId id="{9CB4D7D7-8697-4DD9-891A-38E23E282A5A}"/>
                </a:ext>
              </a:extLst>
            </p:cNvPr>
            <p:cNvSpPr/>
            <p:nvPr/>
          </p:nvSpPr>
          <p:spPr bwMode="auto">
            <a:xfrm flipH="false" flipV="false">
              <a:off x="1492082" y="3508100"/>
              <a:ext cx="774183" cy="485529"/>
            </a:xfrm>
            <a:custGeom>
              <a:avLst/>
              <a:gdLst>
                <a:gd fmla="*/ 1292 w 1292" name="T0"/>
                <a:gd fmla="*/ 711 h 813" name="T1"/>
                <a:gd fmla="*/ 0 w 1292" name="T2"/>
                <a:gd fmla="*/ 0 h 813" name="T3"/>
                <a:gd fmla="*/ 1230 w 1292" name="T4"/>
                <a:gd fmla="*/ 813 h 813" name="T5"/>
                <a:gd fmla="*/ 1292 w 1292" name="T6"/>
                <a:gd fmla="*/ 711 h 813" name="T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b="b" l="0" r="r" t="0"/>
              <a:pathLst>
                <a:path h="813" w="1292">
                  <a:moveTo>
                    <a:pt x="1292" y="71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30" y="813"/>
                    <a:pt x="1230" y="813"/>
                    <a:pt x="1230" y="813"/>
                  </a:cubicBezTo>
                  <a:cubicBezTo>
                    <a:pt x="1234" y="770"/>
                    <a:pt x="1258" y="733"/>
                    <a:pt x="1292" y="711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163a5349-43e1-48c4-9d4f-39378cc2de7b" id="45" name="ïŝḻiďè">
              <a:extLst>
                <a:ext uri="{FF2B5EF4-FFF2-40B4-BE49-F238E27FC236}">
                  <a16:creationId id="{89331C41-4478-4124-8115-485952E19E2F}"/>
                </a:ext>
              </a:extLst>
            </p:cNvPr>
            <p:cNvSpPr/>
            <p:nvPr/>
          </p:nvSpPr>
          <p:spPr bwMode="auto">
            <a:xfrm flipH="false" flipV="false">
              <a:off x="2349289" y="4002036"/>
              <a:ext cx="197224" cy="165346"/>
            </a:xfrm>
            <a:custGeom>
              <a:avLst/>
              <a:gdLst>
                <a:gd fmla="*/ 0 w 329" name="T0"/>
                <a:gd fmla="*/ 119 h 277" name="T1"/>
                <a:gd fmla="*/ 238 w 329" name="T2"/>
                <a:gd fmla="*/ 277 h 277" name="T3"/>
                <a:gd fmla="*/ 247 w 329" name="T4"/>
                <a:gd fmla="*/ 183 h 277" name="T5"/>
                <a:gd fmla="*/ 329 w 329" name="T6"/>
                <a:gd fmla="*/ 142 h 277" name="T7"/>
                <a:gd fmla="*/ 71 w 329" name="T8"/>
                <a:gd fmla="*/ 0 h 277" name="T9"/>
                <a:gd fmla="*/ 70 w 329" name="T10"/>
                <a:gd fmla="*/ 12 h 277" name="T11"/>
                <a:gd fmla="*/ 0 w 329" name="T12"/>
                <a:gd fmla="*/ 119 h 277" name="T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b="b" l="0" r="r" t="0"/>
              <a:pathLst>
                <a:path h="277" w="329">
                  <a:moveTo>
                    <a:pt x="0" y="119"/>
                  </a:moveTo>
                  <a:cubicBezTo>
                    <a:pt x="238" y="277"/>
                    <a:pt x="238" y="277"/>
                    <a:pt x="238" y="277"/>
                  </a:cubicBezTo>
                  <a:cubicBezTo>
                    <a:pt x="247" y="183"/>
                    <a:pt x="247" y="183"/>
                    <a:pt x="247" y="183"/>
                  </a:cubicBezTo>
                  <a:cubicBezTo>
                    <a:pt x="329" y="142"/>
                    <a:pt x="329" y="142"/>
                    <a:pt x="329" y="142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4"/>
                    <a:pt x="71" y="8"/>
                    <a:pt x="70" y="12"/>
                  </a:cubicBezTo>
                  <a:cubicBezTo>
                    <a:pt x="66" y="59"/>
                    <a:pt x="38" y="98"/>
                    <a:pt x="0" y="119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325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e912ef0a-ac6a-41e2-ae70-3c5f0f4db92f" id="32" name="işlíḋé">
              <a:extLst>
                <a:ext uri="{FF2B5EF4-FFF2-40B4-BE49-F238E27FC236}">
                  <a16:creationId id="{663B51C8-1A26-405D-853B-70E0E2AB1C42}"/>
                </a:ext>
              </a:extLst>
            </p:cNvPr>
            <p:cNvSpPr/>
            <p:nvPr/>
          </p:nvSpPr>
          <p:spPr bwMode="auto">
            <a:xfrm flipH="false" flipV="false">
              <a:off x="4749719" y="2720954"/>
              <a:ext cx="2679863" cy="1305603"/>
            </a:xfrm>
            <a:custGeom>
              <a:avLst/>
              <a:gdLst>
                <a:gd fmla="*/ 116 w 4473" name="T0"/>
                <a:gd fmla="*/ 2186 h 2186" name="T1"/>
                <a:gd fmla="*/ 737 w 4473" name="T2"/>
                <a:gd fmla="*/ 737 h 2186" name="T3"/>
                <a:gd fmla="*/ 2237 w 4473" name="T4"/>
                <a:gd fmla="*/ 116 h 2186" name="T5"/>
                <a:gd fmla="*/ 3737 w 4473" name="T6"/>
                <a:gd fmla="*/ 737 h 2186" name="T7"/>
                <a:gd fmla="*/ 4357 w 4473" name="T8"/>
                <a:gd fmla="*/ 2186 h 2186" name="T9"/>
                <a:gd fmla="*/ 4473 w 4473" name="T10"/>
                <a:gd fmla="*/ 2186 h 2186" name="T11"/>
                <a:gd fmla="*/ 3818 w 4473" name="T12"/>
                <a:gd fmla="*/ 656 h 2186" name="T13"/>
                <a:gd fmla="*/ 2237 w 4473" name="T14"/>
                <a:gd fmla="*/ 0 h 2186" name="T15"/>
                <a:gd fmla="*/ 655 w 4473" name="T16"/>
                <a:gd fmla="*/ 656 h 2186" name="T17"/>
                <a:gd fmla="*/ 0 w 4473" name="T18"/>
                <a:gd fmla="*/ 2186 h 2186" name="T19"/>
                <a:gd fmla="*/ 116 w 4473" name="T20"/>
                <a:gd fmla="*/ 2186 h 2186" name="T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b="b" l="0" r="r" t="0"/>
              <a:pathLst>
                <a:path h="2186" w="4473">
                  <a:moveTo>
                    <a:pt x="116" y="2186"/>
                  </a:moveTo>
                  <a:cubicBezTo>
                    <a:pt x="129" y="1639"/>
                    <a:pt x="348" y="1126"/>
                    <a:pt x="737" y="737"/>
                  </a:cubicBezTo>
                  <a:cubicBezTo>
                    <a:pt x="1137" y="337"/>
                    <a:pt x="1670" y="116"/>
                    <a:pt x="2237" y="116"/>
                  </a:cubicBezTo>
                  <a:cubicBezTo>
                    <a:pt x="2803" y="116"/>
                    <a:pt x="3336" y="337"/>
                    <a:pt x="3737" y="737"/>
                  </a:cubicBezTo>
                  <a:cubicBezTo>
                    <a:pt x="4125" y="1126"/>
                    <a:pt x="4344" y="1639"/>
                    <a:pt x="4357" y="2186"/>
                  </a:cubicBezTo>
                  <a:cubicBezTo>
                    <a:pt x="4473" y="2186"/>
                    <a:pt x="4473" y="2186"/>
                    <a:pt x="4473" y="2186"/>
                  </a:cubicBezTo>
                  <a:cubicBezTo>
                    <a:pt x="4460" y="1608"/>
                    <a:pt x="4229" y="1066"/>
                    <a:pt x="3818" y="656"/>
                  </a:cubicBezTo>
                  <a:cubicBezTo>
                    <a:pt x="3396" y="233"/>
                    <a:pt x="2834" y="0"/>
                    <a:pt x="2237" y="0"/>
                  </a:cubicBezTo>
                  <a:cubicBezTo>
                    <a:pt x="1639" y="0"/>
                    <a:pt x="1077" y="233"/>
                    <a:pt x="655" y="656"/>
                  </a:cubicBezTo>
                  <a:cubicBezTo>
                    <a:pt x="244" y="1066"/>
                    <a:pt x="13" y="1608"/>
                    <a:pt x="0" y="2186"/>
                  </a:cubicBezTo>
                  <a:lnTo>
                    <a:pt x="116" y="2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0262eed2-9903-4a75-97d0-5f6d2b134be7" id="33" name="íṥḻïḍé">
              <a:extLst>
                <a:ext uri="{FF2B5EF4-FFF2-40B4-BE49-F238E27FC236}">
                  <a16:creationId id="{06E3535B-7210-4618-9493-4D035907CE56}"/>
                </a:ext>
              </a:extLst>
            </p:cNvPr>
            <p:cNvSpPr/>
            <p:nvPr/>
          </p:nvSpPr>
          <p:spPr bwMode="auto">
            <a:xfrm flipH="false" flipV="false">
              <a:off x="4892295" y="2864230"/>
              <a:ext cx="2394711" cy="1092613"/>
            </a:xfrm>
            <a:custGeom>
              <a:avLst/>
              <a:gdLst>
                <a:gd fmla="*/ 3390 w 6836" name="T0"/>
                <a:gd fmla="*/ 0 h 3119" name="T1"/>
                <a:gd fmla="*/ 6407 w 6836" name="T2"/>
                <a:gd fmla="*/ 1736 h 3119" name="T3"/>
                <a:gd fmla="*/ 5878 w 6836" name="T4"/>
                <a:gd fmla="*/ 2039 h 3119" name="T5"/>
                <a:gd fmla="*/ 5112 w 6836" name="T6"/>
                <a:gd fmla="*/ 445 h 3119" name="T7"/>
                <a:gd fmla="*/ 5160 w 6836" name="T8"/>
                <a:gd fmla="*/ 472 h 3119" name="T9"/>
                <a:gd fmla="*/ 430 w 6836" name="T10"/>
                <a:gd fmla="*/ 1736 h 3119" name="T11"/>
                <a:gd fmla="*/ 2030 w 6836" name="T12"/>
                <a:gd fmla="*/ 972 h 3119" name="T13"/>
                <a:gd fmla="*/ 1982 w 6836" name="T14"/>
                <a:gd fmla="*/ 999 h 3119" name="T15"/>
                <a:gd fmla="*/ 3087 w 6836" name="T16"/>
                <a:gd fmla="*/ 15 h 3119" name="T17"/>
                <a:gd fmla="*/ 3111 w 6836" name="T18"/>
                <a:gd fmla="*/ 247 h 3119" name="T19"/>
                <a:gd fmla="*/ 2677 w 6836" name="T20"/>
                <a:gd fmla="*/ 80 h 3119" name="T21"/>
                <a:gd fmla="*/ 2456 w 6836" name="T22"/>
                <a:gd fmla="*/ 380 h 3119" name="T23"/>
                <a:gd fmla="*/ 2403 w 6836" name="T24"/>
                <a:gd fmla="*/ 397 h 3119" name="T25"/>
                <a:gd fmla="*/ 2047 w 6836" name="T26"/>
                <a:gd fmla="*/ 285 h 3119" name="T27"/>
                <a:gd fmla="*/ 2141 w 6836" name="T28"/>
                <a:gd fmla="*/ 498 h 3119" name="T29"/>
                <a:gd fmla="*/ 3725 w 6836" name="T30"/>
                <a:gd fmla="*/ 247 h 3119" name="T31"/>
                <a:gd fmla="*/ 4159 w 6836" name="T32"/>
                <a:gd fmla="*/ 80 h 3119" name="T33"/>
                <a:gd fmla="*/ 4112 w 6836" name="T34"/>
                <a:gd fmla="*/ 309 h 3119" name="T35"/>
                <a:gd fmla="*/ 4454 w 6836" name="T36"/>
                <a:gd fmla="*/ 159 h 3119" name="T37"/>
                <a:gd fmla="*/ 4507 w 6836" name="T38"/>
                <a:gd fmla="*/ 176 h 3119" name="T39"/>
                <a:gd fmla="*/ 4695 w 6836" name="T40"/>
                <a:gd fmla="*/ 498 h 3119" name="T41"/>
                <a:gd fmla="*/ 6836 w 6836" name="T42"/>
                <a:gd fmla="*/ 3093 h 3119" name="T43"/>
                <a:gd fmla="*/ 6605 w 6836" name="T44"/>
                <a:gd fmla="*/ 3119 h 3119" name="T45"/>
                <a:gd fmla="*/ 6771 w 6836" name="T46"/>
                <a:gd fmla="*/ 2686 h 3119" name="T47"/>
                <a:gd fmla="*/ 6783 w 6836" name="T48"/>
                <a:gd fmla="*/ 2740 h 3119" name="T49"/>
                <a:gd fmla="*/ 6453 w 6836" name="T50"/>
                <a:gd fmla="*/ 2411 h 3119" name="T51"/>
                <a:gd fmla="*/ 6567 w 6836" name="T52"/>
                <a:gd fmla="*/ 2056 h 3119" name="T53"/>
                <a:gd fmla="*/ 6354 w 6836" name="T54"/>
                <a:gd fmla="*/ 2152 h 3119" name="T55"/>
                <a:gd fmla="*/ 1449 w 6836" name="T56"/>
                <a:gd fmla="*/ 619 h 3119" name="T57"/>
                <a:gd fmla="*/ 1586 w 6836" name="T58"/>
                <a:gd fmla="*/ 808 h 3119" name="T59"/>
                <a:gd fmla="*/ 1124 w 6836" name="T60"/>
                <a:gd fmla="*/ 877 h 3119" name="T61"/>
                <a:gd fmla="*/ 1079 w 6836" name="T62"/>
                <a:gd fmla="*/ 1245 h 3119" name="T63"/>
                <a:gd fmla="*/ 1042 w 6836" name="T64"/>
                <a:gd fmla="*/ 1286 h 3119" name="T65"/>
                <a:gd fmla="*/ 676 w 6836" name="T66"/>
                <a:gd fmla="*/ 1362 h 3119" name="T67"/>
                <a:gd fmla="*/ 864 w 6836" name="T68"/>
                <a:gd fmla="*/ 1501 h 3119" name="T69"/>
                <a:gd fmla="*/ 6010 w 6836" name="T70"/>
                <a:gd fmla="*/ 1552 h 3119" name="T71"/>
                <a:gd fmla="*/ 6012 w 6836" name="T72"/>
                <a:gd fmla="*/ 1178 h 3119" name="T73"/>
                <a:gd fmla="*/ 5835 w 6836" name="T74"/>
                <a:gd fmla="*/ 1333 h 3119" name="T75"/>
                <a:gd fmla="*/ 5721 w 6836" name="T76"/>
                <a:gd fmla="*/ 883 h 3119" name="T77"/>
                <a:gd fmla="*/ 5762 w 6836" name="T78"/>
                <a:gd fmla="*/ 921 h 3119" name="T79"/>
                <a:gd fmla="*/ 5302 w 6836" name="T80"/>
                <a:gd fmla="*/ 844 h 3119" name="T81"/>
                <a:gd fmla="*/ 238 w 6836" name="T82"/>
                <a:gd fmla="*/ 3062 h 3119" name="T83"/>
                <a:gd fmla="*/ 233 w 6836" name="T84"/>
                <a:gd fmla="*/ 3119 h 3119" name="T85"/>
                <a:gd fmla="*/ 65 w 6836" name="T86"/>
                <a:gd fmla="*/ 2686 h 3119" name="T87"/>
                <a:gd fmla="*/ 293 w 6836" name="T88"/>
                <a:gd fmla="*/ 2733 h 3119" name="T89"/>
                <a:gd fmla="*/ 144 w 6836" name="T90"/>
                <a:gd fmla="*/ 2392 h 3119" name="T91"/>
                <a:gd fmla="*/ 505 w 6836" name="T92"/>
                <a:gd fmla="*/ 2101 h 3119" name="T93"/>
                <a:gd fmla="*/ 483 w 6836" name="T94"/>
                <a:gd fmla="*/ 2152 h 3119" name="T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b="b" l="0" r="r" t="0"/>
              <a:pathLst>
                <a:path h="3119" w="6836">
                  <a:moveTo>
                    <a:pt x="3446" y="609"/>
                  </a:moveTo>
                  <a:lnTo>
                    <a:pt x="3390" y="609"/>
                  </a:lnTo>
                  <a:lnTo>
                    <a:pt x="3390" y="0"/>
                  </a:lnTo>
                  <a:lnTo>
                    <a:pt x="3446" y="0"/>
                  </a:lnTo>
                  <a:lnTo>
                    <a:pt x="3446" y="609"/>
                  </a:lnTo>
                  <a:close/>
                  <a:moveTo>
                    <a:pt x="6407" y="1736"/>
                  </a:moveTo>
                  <a:lnTo>
                    <a:pt x="6378" y="1688"/>
                  </a:lnTo>
                  <a:lnTo>
                    <a:pt x="5851" y="1992"/>
                  </a:lnTo>
                  <a:lnTo>
                    <a:pt x="5878" y="2039"/>
                  </a:lnTo>
                  <a:lnTo>
                    <a:pt x="6407" y="1736"/>
                  </a:lnTo>
                  <a:close/>
                  <a:moveTo>
                    <a:pt x="5160" y="472"/>
                  </a:moveTo>
                  <a:lnTo>
                    <a:pt x="5112" y="445"/>
                  </a:lnTo>
                  <a:lnTo>
                    <a:pt x="4806" y="972"/>
                  </a:lnTo>
                  <a:lnTo>
                    <a:pt x="4856" y="999"/>
                  </a:lnTo>
                  <a:lnTo>
                    <a:pt x="5160" y="472"/>
                  </a:lnTo>
                  <a:close/>
                  <a:moveTo>
                    <a:pt x="985" y="1992"/>
                  </a:moveTo>
                  <a:lnTo>
                    <a:pt x="459" y="1688"/>
                  </a:lnTo>
                  <a:lnTo>
                    <a:pt x="430" y="1736"/>
                  </a:lnTo>
                  <a:lnTo>
                    <a:pt x="958" y="2039"/>
                  </a:lnTo>
                  <a:lnTo>
                    <a:pt x="985" y="1992"/>
                  </a:lnTo>
                  <a:close/>
                  <a:moveTo>
                    <a:pt x="2030" y="972"/>
                  </a:moveTo>
                  <a:lnTo>
                    <a:pt x="1726" y="445"/>
                  </a:lnTo>
                  <a:lnTo>
                    <a:pt x="1676" y="472"/>
                  </a:lnTo>
                  <a:lnTo>
                    <a:pt x="1982" y="999"/>
                  </a:lnTo>
                  <a:lnTo>
                    <a:pt x="2030" y="972"/>
                  </a:lnTo>
                  <a:close/>
                  <a:moveTo>
                    <a:pt x="3111" y="247"/>
                  </a:moveTo>
                  <a:lnTo>
                    <a:pt x="3087" y="15"/>
                  </a:lnTo>
                  <a:lnTo>
                    <a:pt x="3032" y="22"/>
                  </a:lnTo>
                  <a:lnTo>
                    <a:pt x="3056" y="254"/>
                  </a:lnTo>
                  <a:lnTo>
                    <a:pt x="3111" y="247"/>
                  </a:lnTo>
                  <a:close/>
                  <a:moveTo>
                    <a:pt x="2779" y="297"/>
                  </a:moveTo>
                  <a:lnTo>
                    <a:pt x="2731" y="70"/>
                  </a:lnTo>
                  <a:lnTo>
                    <a:pt x="2677" y="80"/>
                  </a:lnTo>
                  <a:lnTo>
                    <a:pt x="2726" y="309"/>
                  </a:lnTo>
                  <a:lnTo>
                    <a:pt x="2779" y="297"/>
                  </a:lnTo>
                  <a:close/>
                  <a:moveTo>
                    <a:pt x="2456" y="380"/>
                  </a:moveTo>
                  <a:lnTo>
                    <a:pt x="2384" y="159"/>
                  </a:lnTo>
                  <a:lnTo>
                    <a:pt x="2331" y="176"/>
                  </a:lnTo>
                  <a:lnTo>
                    <a:pt x="2403" y="397"/>
                  </a:lnTo>
                  <a:lnTo>
                    <a:pt x="2456" y="380"/>
                  </a:lnTo>
                  <a:close/>
                  <a:moveTo>
                    <a:pt x="2141" y="498"/>
                  </a:moveTo>
                  <a:lnTo>
                    <a:pt x="2047" y="285"/>
                  </a:lnTo>
                  <a:lnTo>
                    <a:pt x="1996" y="307"/>
                  </a:lnTo>
                  <a:lnTo>
                    <a:pt x="2090" y="520"/>
                  </a:lnTo>
                  <a:lnTo>
                    <a:pt x="2141" y="498"/>
                  </a:lnTo>
                  <a:close/>
                  <a:moveTo>
                    <a:pt x="3805" y="22"/>
                  </a:moveTo>
                  <a:lnTo>
                    <a:pt x="3749" y="15"/>
                  </a:lnTo>
                  <a:lnTo>
                    <a:pt x="3725" y="247"/>
                  </a:lnTo>
                  <a:lnTo>
                    <a:pt x="3780" y="254"/>
                  </a:lnTo>
                  <a:lnTo>
                    <a:pt x="3805" y="22"/>
                  </a:lnTo>
                  <a:close/>
                  <a:moveTo>
                    <a:pt x="4159" y="80"/>
                  </a:moveTo>
                  <a:lnTo>
                    <a:pt x="4105" y="70"/>
                  </a:lnTo>
                  <a:lnTo>
                    <a:pt x="4057" y="297"/>
                  </a:lnTo>
                  <a:lnTo>
                    <a:pt x="4112" y="309"/>
                  </a:lnTo>
                  <a:lnTo>
                    <a:pt x="4159" y="80"/>
                  </a:lnTo>
                  <a:close/>
                  <a:moveTo>
                    <a:pt x="4507" y="176"/>
                  </a:moveTo>
                  <a:lnTo>
                    <a:pt x="4454" y="159"/>
                  </a:lnTo>
                  <a:lnTo>
                    <a:pt x="4380" y="380"/>
                  </a:lnTo>
                  <a:lnTo>
                    <a:pt x="4433" y="397"/>
                  </a:lnTo>
                  <a:lnTo>
                    <a:pt x="4507" y="176"/>
                  </a:lnTo>
                  <a:close/>
                  <a:moveTo>
                    <a:pt x="4840" y="307"/>
                  </a:moveTo>
                  <a:lnTo>
                    <a:pt x="4789" y="285"/>
                  </a:lnTo>
                  <a:lnTo>
                    <a:pt x="4695" y="498"/>
                  </a:lnTo>
                  <a:lnTo>
                    <a:pt x="4746" y="520"/>
                  </a:lnTo>
                  <a:lnTo>
                    <a:pt x="4840" y="307"/>
                  </a:lnTo>
                  <a:close/>
                  <a:moveTo>
                    <a:pt x="6836" y="3093"/>
                  </a:moveTo>
                  <a:lnTo>
                    <a:pt x="6831" y="3038"/>
                  </a:lnTo>
                  <a:lnTo>
                    <a:pt x="6598" y="3062"/>
                  </a:lnTo>
                  <a:lnTo>
                    <a:pt x="6605" y="3119"/>
                  </a:lnTo>
                  <a:lnTo>
                    <a:pt x="6836" y="3093"/>
                  </a:lnTo>
                  <a:close/>
                  <a:moveTo>
                    <a:pt x="6783" y="2740"/>
                  </a:moveTo>
                  <a:lnTo>
                    <a:pt x="6771" y="2686"/>
                  </a:lnTo>
                  <a:lnTo>
                    <a:pt x="6543" y="2733"/>
                  </a:lnTo>
                  <a:lnTo>
                    <a:pt x="6555" y="2788"/>
                  </a:lnTo>
                  <a:lnTo>
                    <a:pt x="6783" y="2740"/>
                  </a:lnTo>
                  <a:close/>
                  <a:moveTo>
                    <a:pt x="6692" y="2392"/>
                  </a:moveTo>
                  <a:lnTo>
                    <a:pt x="6675" y="2339"/>
                  </a:lnTo>
                  <a:lnTo>
                    <a:pt x="6453" y="2411"/>
                  </a:lnTo>
                  <a:lnTo>
                    <a:pt x="6472" y="2464"/>
                  </a:lnTo>
                  <a:lnTo>
                    <a:pt x="6692" y="2392"/>
                  </a:lnTo>
                  <a:close/>
                  <a:moveTo>
                    <a:pt x="6567" y="2056"/>
                  </a:moveTo>
                  <a:lnTo>
                    <a:pt x="6543" y="2007"/>
                  </a:lnTo>
                  <a:lnTo>
                    <a:pt x="6331" y="2101"/>
                  </a:lnTo>
                  <a:lnTo>
                    <a:pt x="6354" y="2152"/>
                  </a:lnTo>
                  <a:lnTo>
                    <a:pt x="6567" y="2056"/>
                  </a:lnTo>
                  <a:close/>
                  <a:moveTo>
                    <a:pt x="1586" y="808"/>
                  </a:moveTo>
                  <a:lnTo>
                    <a:pt x="1449" y="619"/>
                  </a:lnTo>
                  <a:lnTo>
                    <a:pt x="1404" y="651"/>
                  </a:lnTo>
                  <a:lnTo>
                    <a:pt x="1540" y="841"/>
                  </a:lnTo>
                  <a:lnTo>
                    <a:pt x="1586" y="808"/>
                  </a:lnTo>
                  <a:close/>
                  <a:moveTo>
                    <a:pt x="1321" y="1013"/>
                  </a:moveTo>
                  <a:lnTo>
                    <a:pt x="1167" y="839"/>
                  </a:lnTo>
                  <a:lnTo>
                    <a:pt x="1124" y="877"/>
                  </a:lnTo>
                  <a:lnTo>
                    <a:pt x="1280" y="1050"/>
                  </a:lnTo>
                  <a:lnTo>
                    <a:pt x="1321" y="1013"/>
                  </a:lnTo>
                  <a:close/>
                  <a:moveTo>
                    <a:pt x="1079" y="1245"/>
                  </a:moveTo>
                  <a:lnTo>
                    <a:pt x="907" y="1088"/>
                  </a:lnTo>
                  <a:lnTo>
                    <a:pt x="871" y="1129"/>
                  </a:lnTo>
                  <a:lnTo>
                    <a:pt x="1042" y="1286"/>
                  </a:lnTo>
                  <a:lnTo>
                    <a:pt x="1079" y="1245"/>
                  </a:lnTo>
                  <a:close/>
                  <a:moveTo>
                    <a:pt x="864" y="1501"/>
                  </a:moveTo>
                  <a:lnTo>
                    <a:pt x="676" y="1362"/>
                  </a:lnTo>
                  <a:lnTo>
                    <a:pt x="643" y="1407"/>
                  </a:lnTo>
                  <a:lnTo>
                    <a:pt x="832" y="1547"/>
                  </a:lnTo>
                  <a:lnTo>
                    <a:pt x="864" y="1501"/>
                  </a:lnTo>
                  <a:close/>
                  <a:moveTo>
                    <a:pt x="6232" y="1461"/>
                  </a:moveTo>
                  <a:lnTo>
                    <a:pt x="6200" y="1415"/>
                  </a:lnTo>
                  <a:lnTo>
                    <a:pt x="6010" y="1552"/>
                  </a:lnTo>
                  <a:lnTo>
                    <a:pt x="6042" y="1596"/>
                  </a:lnTo>
                  <a:lnTo>
                    <a:pt x="6232" y="1461"/>
                  </a:lnTo>
                  <a:close/>
                  <a:moveTo>
                    <a:pt x="6012" y="1178"/>
                  </a:moveTo>
                  <a:lnTo>
                    <a:pt x="5974" y="1137"/>
                  </a:lnTo>
                  <a:lnTo>
                    <a:pt x="5800" y="1291"/>
                  </a:lnTo>
                  <a:lnTo>
                    <a:pt x="5835" y="1333"/>
                  </a:lnTo>
                  <a:lnTo>
                    <a:pt x="6012" y="1178"/>
                  </a:lnTo>
                  <a:close/>
                  <a:moveTo>
                    <a:pt x="5762" y="921"/>
                  </a:moveTo>
                  <a:lnTo>
                    <a:pt x="5721" y="883"/>
                  </a:lnTo>
                  <a:lnTo>
                    <a:pt x="5562" y="1056"/>
                  </a:lnTo>
                  <a:lnTo>
                    <a:pt x="5603" y="1093"/>
                  </a:lnTo>
                  <a:lnTo>
                    <a:pt x="5762" y="921"/>
                  </a:lnTo>
                  <a:close/>
                  <a:moveTo>
                    <a:pt x="5487" y="691"/>
                  </a:moveTo>
                  <a:lnTo>
                    <a:pt x="5442" y="658"/>
                  </a:lnTo>
                  <a:lnTo>
                    <a:pt x="5302" y="844"/>
                  </a:lnTo>
                  <a:lnTo>
                    <a:pt x="5346" y="878"/>
                  </a:lnTo>
                  <a:lnTo>
                    <a:pt x="5487" y="691"/>
                  </a:lnTo>
                  <a:close/>
                  <a:moveTo>
                    <a:pt x="238" y="3062"/>
                  </a:moveTo>
                  <a:lnTo>
                    <a:pt x="5" y="3038"/>
                  </a:lnTo>
                  <a:lnTo>
                    <a:pt x="0" y="3093"/>
                  </a:lnTo>
                  <a:lnTo>
                    <a:pt x="233" y="3119"/>
                  </a:lnTo>
                  <a:lnTo>
                    <a:pt x="238" y="3062"/>
                  </a:lnTo>
                  <a:close/>
                  <a:moveTo>
                    <a:pt x="293" y="2733"/>
                  </a:moveTo>
                  <a:lnTo>
                    <a:pt x="65" y="2686"/>
                  </a:lnTo>
                  <a:lnTo>
                    <a:pt x="53" y="2740"/>
                  </a:lnTo>
                  <a:lnTo>
                    <a:pt x="283" y="2788"/>
                  </a:lnTo>
                  <a:lnTo>
                    <a:pt x="293" y="2733"/>
                  </a:lnTo>
                  <a:close/>
                  <a:moveTo>
                    <a:pt x="383" y="2411"/>
                  </a:moveTo>
                  <a:lnTo>
                    <a:pt x="161" y="2339"/>
                  </a:lnTo>
                  <a:lnTo>
                    <a:pt x="144" y="2392"/>
                  </a:lnTo>
                  <a:lnTo>
                    <a:pt x="366" y="2464"/>
                  </a:lnTo>
                  <a:lnTo>
                    <a:pt x="383" y="2411"/>
                  </a:lnTo>
                  <a:close/>
                  <a:moveTo>
                    <a:pt x="505" y="2101"/>
                  </a:moveTo>
                  <a:lnTo>
                    <a:pt x="293" y="2007"/>
                  </a:lnTo>
                  <a:lnTo>
                    <a:pt x="271" y="2056"/>
                  </a:lnTo>
                  <a:lnTo>
                    <a:pt x="483" y="2152"/>
                  </a:lnTo>
                  <a:lnTo>
                    <a:pt x="505" y="21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0d92571b-465c-4a2d-9aa0-af1e8ef0fa70" id="29" name="iṩļiḋè">
              <a:extLst>
                <a:ext uri="{FF2B5EF4-FFF2-40B4-BE49-F238E27FC236}">
                  <a16:creationId id="{918350EB-4DF7-43AF-8010-16C195B55D8F}"/>
                </a:ext>
              </a:extLst>
            </p:cNvPr>
            <p:cNvSpPr/>
            <p:nvPr/>
          </p:nvSpPr>
          <p:spPr bwMode="auto">
            <a:xfrm flipH="false" flipV="false">
              <a:off x="6013984" y="3920762"/>
              <a:ext cx="163595" cy="163245"/>
            </a:xfrm>
            <a:custGeom>
              <a:avLst/>
              <a:gdLst>
                <a:gd fmla="*/ 137 w 273" name="T0"/>
                <a:gd fmla="*/ 0 h 273" name="T1"/>
                <a:gd fmla="*/ 0 w 273" name="T2"/>
                <a:gd fmla="*/ 136 h 273" name="T3"/>
                <a:gd fmla="*/ 137 w 273" name="T4"/>
                <a:gd fmla="*/ 273 h 273" name="T5"/>
                <a:gd fmla="*/ 273 w 273" name="T6"/>
                <a:gd fmla="*/ 136 h 273" name="T7"/>
                <a:gd fmla="*/ 137 w 273" name="T8"/>
                <a:gd fmla="*/ 0 h 273" name="T9"/>
                <a:gd fmla="*/ 137 w 273" name="T10"/>
                <a:gd fmla="*/ 202 h 273" name="T11"/>
                <a:gd fmla="*/ 72 w 273" name="T12"/>
                <a:gd fmla="*/ 136 h 273" name="T13"/>
                <a:gd fmla="*/ 137 w 273" name="T14"/>
                <a:gd fmla="*/ 71 h 273" name="T15"/>
                <a:gd fmla="*/ 202 w 273" name="T16"/>
                <a:gd fmla="*/ 136 h 273" name="T17"/>
                <a:gd fmla="*/ 137 w 273" name="T18"/>
                <a:gd fmla="*/ 202 h 273" name="T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b="b" l="0" r="r" t="0"/>
              <a:pathLst>
                <a:path h="273" w="273">
                  <a:moveTo>
                    <a:pt x="137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2"/>
                    <a:pt x="61" y="273"/>
                    <a:pt x="137" y="273"/>
                  </a:cubicBezTo>
                  <a:cubicBezTo>
                    <a:pt x="212" y="273"/>
                    <a:pt x="273" y="212"/>
                    <a:pt x="273" y="136"/>
                  </a:cubicBezTo>
                  <a:cubicBezTo>
                    <a:pt x="273" y="61"/>
                    <a:pt x="212" y="0"/>
                    <a:pt x="137" y="0"/>
                  </a:cubicBezTo>
                  <a:close/>
                  <a:moveTo>
                    <a:pt x="137" y="202"/>
                  </a:moveTo>
                  <a:cubicBezTo>
                    <a:pt x="101" y="202"/>
                    <a:pt x="72" y="172"/>
                    <a:pt x="72" y="136"/>
                  </a:cubicBezTo>
                  <a:cubicBezTo>
                    <a:pt x="72" y="101"/>
                    <a:pt x="101" y="71"/>
                    <a:pt x="137" y="71"/>
                  </a:cubicBezTo>
                  <a:cubicBezTo>
                    <a:pt x="173" y="71"/>
                    <a:pt x="202" y="101"/>
                    <a:pt x="202" y="136"/>
                  </a:cubicBezTo>
                  <a:cubicBezTo>
                    <a:pt x="202" y="172"/>
                    <a:pt x="173" y="202"/>
                    <a:pt x="137" y="2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e8671b69-da87-4c72-a163-8039e3c3ba86" id="30" name="í$ḻiḓè">
              <a:extLst>
                <a:ext uri="{FF2B5EF4-FFF2-40B4-BE49-F238E27FC236}">
                  <a16:creationId id="{19D5A1DE-7EFA-4526-8A6C-4879BDD9DD6F}"/>
                </a:ext>
              </a:extLst>
            </p:cNvPr>
            <p:cNvSpPr/>
            <p:nvPr/>
          </p:nvSpPr>
          <p:spPr bwMode="auto">
            <a:xfrm flipH="false" flipV="false">
              <a:off x="6095957" y="3143777"/>
              <a:ext cx="414765" cy="808864"/>
            </a:xfrm>
            <a:custGeom>
              <a:avLst/>
              <a:gdLst>
                <a:gd fmla="*/ 108 w 692" name="T0"/>
                <a:gd fmla="*/ 1354 h 1354" name="T1"/>
                <a:gd fmla="*/ 692 w 692" name="T2"/>
                <a:gd fmla="*/ 0 h 1354" name="T3"/>
                <a:gd fmla="*/ 0 w 692" name="T4"/>
                <a:gd fmla="*/ 1301 h 1354" name="T5"/>
                <a:gd fmla="*/ 108 w 692" name="T6"/>
                <a:gd fmla="*/ 1354 h 1354" name="T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b="b" l="0" r="r" t="0"/>
              <a:pathLst>
                <a:path h="1354" w="692">
                  <a:moveTo>
                    <a:pt x="108" y="1354"/>
                  </a:moveTo>
                  <a:cubicBezTo>
                    <a:pt x="692" y="0"/>
                    <a:pt x="692" y="0"/>
                    <a:pt x="692" y="0"/>
                  </a:cubicBezTo>
                  <a:cubicBezTo>
                    <a:pt x="0" y="1301"/>
                    <a:pt x="0" y="1301"/>
                    <a:pt x="0" y="1301"/>
                  </a:cubicBezTo>
                  <a:cubicBezTo>
                    <a:pt x="44" y="1301"/>
                    <a:pt x="83" y="1322"/>
                    <a:pt x="108" y="13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837b9b2b-2a51-443e-a5cd-60ba9f8a3ddb" id="31" name="islîḑe">
              <a:extLst>
                <a:ext uri="{FF2B5EF4-FFF2-40B4-BE49-F238E27FC236}">
                  <a16:creationId id="{A513CA4D-C95D-435F-8CF3-71A5B021250F}"/>
                </a:ext>
              </a:extLst>
            </p:cNvPr>
            <p:cNvSpPr/>
            <p:nvPr/>
          </p:nvSpPr>
          <p:spPr bwMode="auto">
            <a:xfrm flipH="false" flipV="false">
              <a:off x="5948126" y="4047925"/>
              <a:ext cx="155537" cy="197224"/>
            </a:xfrm>
            <a:custGeom>
              <a:avLst/>
              <a:gdLst>
                <a:gd fmla="*/ 134 w 260" name="T0"/>
                <a:gd fmla="*/ 0 h 330" name="T1"/>
                <a:gd fmla="*/ 0 w 260" name="T2"/>
                <a:gd fmla="*/ 252 h 330" name="T3"/>
                <a:gd fmla="*/ 94 w 260" name="T4"/>
                <a:gd fmla="*/ 252 h 330" name="T5"/>
                <a:gd fmla="*/ 143 w 260" name="T6"/>
                <a:gd fmla="*/ 330 h 330" name="T7"/>
                <a:gd fmla="*/ 260 w 260" name="T8"/>
                <a:gd fmla="*/ 59 h 330" name="T9"/>
                <a:gd fmla="*/ 247 w 260" name="T10"/>
                <a:gd fmla="*/ 60 h 330" name="T11"/>
                <a:gd fmla="*/ 134 w 260" name="T12"/>
                <a:gd fmla="*/ 0 h 330" name="T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b="b" l="0" r="r" t="0"/>
              <a:pathLst>
                <a:path h="330" w="260">
                  <a:moveTo>
                    <a:pt x="134" y="0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260" y="59"/>
                    <a:pt x="260" y="59"/>
                    <a:pt x="260" y="59"/>
                  </a:cubicBezTo>
                  <a:cubicBezTo>
                    <a:pt x="255" y="60"/>
                    <a:pt x="251" y="60"/>
                    <a:pt x="247" y="60"/>
                  </a:cubicBezTo>
                  <a:cubicBezTo>
                    <a:pt x="200" y="60"/>
                    <a:pt x="158" y="36"/>
                    <a:pt x="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f1bf6e9a-728d-4ea5-a5d4-17650b215f75" id="18" name="íslïḑé">
              <a:extLst>
                <a:ext uri="{FF2B5EF4-FFF2-40B4-BE49-F238E27FC236}">
                  <a16:creationId id="{6A2C24D1-CC70-46B2-8916-E362B6B75250}"/>
                </a:ext>
              </a:extLst>
            </p:cNvPr>
            <p:cNvSpPr/>
            <p:nvPr/>
          </p:nvSpPr>
          <p:spPr bwMode="auto">
            <a:xfrm flipH="false" flipV="false">
              <a:off x="8538073" y="2720956"/>
              <a:ext cx="2679863" cy="1305603"/>
            </a:xfrm>
            <a:custGeom>
              <a:avLst/>
              <a:gdLst>
                <a:gd fmla="*/ 116 w 4473" name="T0"/>
                <a:gd fmla="*/ 2186 h 2186" name="T1"/>
                <a:gd fmla="*/ 737 w 4473" name="T2"/>
                <a:gd fmla="*/ 737 h 2186" name="T3"/>
                <a:gd fmla="*/ 2237 w 4473" name="T4"/>
                <a:gd fmla="*/ 116 h 2186" name="T5"/>
                <a:gd fmla="*/ 3737 w 4473" name="T6"/>
                <a:gd fmla="*/ 737 h 2186" name="T7"/>
                <a:gd fmla="*/ 4357 w 4473" name="T8"/>
                <a:gd fmla="*/ 2186 h 2186" name="T9"/>
                <a:gd fmla="*/ 4473 w 4473" name="T10"/>
                <a:gd fmla="*/ 2186 h 2186" name="T11"/>
                <a:gd fmla="*/ 3819 w 4473" name="T12"/>
                <a:gd fmla="*/ 656 h 2186" name="T13"/>
                <a:gd fmla="*/ 2237 w 4473" name="T14"/>
                <a:gd fmla="*/ 0 h 2186" name="T15"/>
                <a:gd fmla="*/ 655 w 4473" name="T16"/>
                <a:gd fmla="*/ 656 h 2186" name="T17"/>
                <a:gd fmla="*/ 0 w 4473" name="T18"/>
                <a:gd fmla="*/ 2186 h 2186" name="T19"/>
                <a:gd fmla="*/ 116 w 4473" name="T20"/>
                <a:gd fmla="*/ 2186 h 2186" name="T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b="b" l="0" r="r" t="0"/>
              <a:pathLst>
                <a:path h="2186" w="4473">
                  <a:moveTo>
                    <a:pt x="116" y="2186"/>
                  </a:moveTo>
                  <a:cubicBezTo>
                    <a:pt x="129" y="1639"/>
                    <a:pt x="348" y="1126"/>
                    <a:pt x="737" y="737"/>
                  </a:cubicBezTo>
                  <a:cubicBezTo>
                    <a:pt x="1137" y="337"/>
                    <a:pt x="1670" y="116"/>
                    <a:pt x="2237" y="116"/>
                  </a:cubicBezTo>
                  <a:cubicBezTo>
                    <a:pt x="2803" y="116"/>
                    <a:pt x="3336" y="337"/>
                    <a:pt x="3737" y="737"/>
                  </a:cubicBezTo>
                  <a:cubicBezTo>
                    <a:pt x="4125" y="1126"/>
                    <a:pt x="4345" y="1639"/>
                    <a:pt x="4357" y="2186"/>
                  </a:cubicBezTo>
                  <a:cubicBezTo>
                    <a:pt x="4473" y="2186"/>
                    <a:pt x="4473" y="2186"/>
                    <a:pt x="4473" y="2186"/>
                  </a:cubicBezTo>
                  <a:cubicBezTo>
                    <a:pt x="4460" y="1608"/>
                    <a:pt x="4229" y="1066"/>
                    <a:pt x="3819" y="656"/>
                  </a:cubicBezTo>
                  <a:cubicBezTo>
                    <a:pt x="3396" y="233"/>
                    <a:pt x="2834" y="0"/>
                    <a:pt x="2237" y="0"/>
                  </a:cubicBezTo>
                  <a:cubicBezTo>
                    <a:pt x="1639" y="0"/>
                    <a:pt x="1077" y="233"/>
                    <a:pt x="655" y="656"/>
                  </a:cubicBezTo>
                  <a:cubicBezTo>
                    <a:pt x="245" y="1066"/>
                    <a:pt x="13" y="1608"/>
                    <a:pt x="0" y="2186"/>
                  </a:cubicBezTo>
                  <a:lnTo>
                    <a:pt x="116" y="2186"/>
                  </a:ln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d3e550ae-6965-4b32-bd1b-c366949e2de8" id="19" name="íšḻídè">
              <a:extLst>
                <a:ext uri="{FF2B5EF4-FFF2-40B4-BE49-F238E27FC236}">
                  <a16:creationId id="{F332DE26-A8B6-4AFC-BEBB-24511FFD691E}"/>
                </a:ext>
              </a:extLst>
            </p:cNvPr>
            <p:cNvSpPr/>
            <p:nvPr/>
          </p:nvSpPr>
          <p:spPr bwMode="auto">
            <a:xfrm flipH="false" flipV="false">
              <a:off x="8680648" y="2864230"/>
              <a:ext cx="2395062" cy="1092614"/>
            </a:xfrm>
            <a:custGeom>
              <a:avLst/>
              <a:gdLst>
                <a:gd fmla="*/ 3390 w 6837" name="T0"/>
                <a:gd fmla="*/ 0 h 3119" name="T1"/>
                <a:gd fmla="*/ 6406 w 6837" name="T2"/>
                <a:gd fmla="*/ 1736 h 3119" name="T3"/>
                <a:gd fmla="*/ 5878 w 6837" name="T4"/>
                <a:gd fmla="*/ 2039 h 3119" name="T5"/>
                <a:gd fmla="*/ 5112 w 6837" name="T6"/>
                <a:gd fmla="*/ 445 h 3119" name="T7"/>
                <a:gd fmla="*/ 5160 w 6837" name="T8"/>
                <a:gd fmla="*/ 472 h 3119" name="T9"/>
                <a:gd fmla="*/ 431 w 6837" name="T10"/>
                <a:gd fmla="*/ 1736 h 3119" name="T11"/>
                <a:gd fmla="*/ 2030 w 6837" name="T12"/>
                <a:gd fmla="*/ 972 h 3119" name="T13"/>
                <a:gd fmla="*/ 1982 w 6837" name="T14"/>
                <a:gd fmla="*/ 999 h 3119" name="T15"/>
                <a:gd fmla="*/ 3087 w 6837" name="T16"/>
                <a:gd fmla="*/ 15 h 3119" name="T17"/>
                <a:gd fmla="*/ 3111 w 6837" name="T18"/>
                <a:gd fmla="*/ 247 h 3119" name="T19"/>
                <a:gd fmla="*/ 2676 w 6837" name="T20"/>
                <a:gd fmla="*/ 80 h 3119" name="T21"/>
                <a:gd fmla="*/ 2456 w 6837" name="T22"/>
                <a:gd fmla="*/ 380 h 3119" name="T23"/>
                <a:gd fmla="*/ 2403 w 6837" name="T24"/>
                <a:gd fmla="*/ 397 h 3119" name="T25"/>
                <a:gd fmla="*/ 2047 w 6837" name="T26"/>
                <a:gd fmla="*/ 285 h 3119" name="T27"/>
                <a:gd fmla="*/ 2141 w 6837" name="T28"/>
                <a:gd fmla="*/ 498 h 3119" name="T29"/>
                <a:gd fmla="*/ 3725 w 6837" name="T30"/>
                <a:gd fmla="*/ 247 h 3119" name="T31"/>
                <a:gd fmla="*/ 4159 w 6837" name="T32"/>
                <a:gd fmla="*/ 80 h 3119" name="T33"/>
                <a:gd fmla="*/ 4111 w 6837" name="T34"/>
                <a:gd fmla="*/ 309 h 3119" name="T35"/>
                <a:gd fmla="*/ 4453 w 6837" name="T36"/>
                <a:gd fmla="*/ 159 h 3119" name="T37"/>
                <a:gd fmla="*/ 4506 w 6837" name="T38"/>
                <a:gd fmla="*/ 176 h 3119" name="T39"/>
                <a:gd fmla="*/ 4694 w 6837" name="T40"/>
                <a:gd fmla="*/ 498 h 3119" name="T41"/>
                <a:gd fmla="*/ 6837 w 6837" name="T42"/>
                <a:gd fmla="*/ 3093 h 3119" name="T43"/>
                <a:gd fmla="*/ 6605 w 6837" name="T44"/>
                <a:gd fmla="*/ 3119 h 3119" name="T45"/>
                <a:gd fmla="*/ 6772 w 6837" name="T46"/>
                <a:gd fmla="*/ 2686 h 3119" name="T47"/>
                <a:gd fmla="*/ 6782 w 6837" name="T48"/>
                <a:gd fmla="*/ 2740 h 3119" name="T49"/>
                <a:gd fmla="*/ 6454 w 6837" name="T50"/>
                <a:gd fmla="*/ 2411 h 3119" name="T51"/>
                <a:gd fmla="*/ 6567 w 6837" name="T52"/>
                <a:gd fmla="*/ 2056 h 3119" name="T53"/>
                <a:gd fmla="*/ 6353 w 6837" name="T54"/>
                <a:gd fmla="*/ 2152 h 3119" name="T55"/>
                <a:gd fmla="*/ 1450 w 6837" name="T56"/>
                <a:gd fmla="*/ 619 h 3119" name="T57"/>
                <a:gd fmla="*/ 1585 w 6837" name="T58"/>
                <a:gd fmla="*/ 808 h 3119" name="T59"/>
                <a:gd fmla="*/ 1125 w 6837" name="T60"/>
                <a:gd fmla="*/ 877 h 3119" name="T61"/>
                <a:gd fmla="*/ 1079 w 6837" name="T62"/>
                <a:gd fmla="*/ 1245 h 3119" name="T63"/>
                <a:gd fmla="*/ 1041 w 6837" name="T64"/>
                <a:gd fmla="*/ 1286 h 3119" name="T65"/>
                <a:gd fmla="*/ 677 w 6837" name="T66"/>
                <a:gd fmla="*/ 1362 h 3119" name="T67"/>
                <a:gd fmla="*/ 864 w 6837" name="T68"/>
                <a:gd fmla="*/ 1501 h 3119" name="T69"/>
                <a:gd fmla="*/ 6009 w 6837" name="T70"/>
                <a:gd fmla="*/ 1552 h 3119" name="T71"/>
                <a:gd fmla="*/ 6011 w 6837" name="T72"/>
                <a:gd fmla="*/ 1178 h 3119" name="T73"/>
                <a:gd fmla="*/ 5835 w 6837" name="T74"/>
                <a:gd fmla="*/ 1333 h 3119" name="T75"/>
                <a:gd fmla="*/ 5720 w 6837" name="T76"/>
                <a:gd fmla="*/ 883 h 3119" name="T77"/>
                <a:gd fmla="*/ 5762 w 6837" name="T78"/>
                <a:gd fmla="*/ 921 h 3119" name="T79"/>
                <a:gd fmla="*/ 5301 w 6837" name="T80"/>
                <a:gd fmla="*/ 844 h 3119" name="T81"/>
                <a:gd fmla="*/ 238 w 6837" name="T82"/>
                <a:gd fmla="*/ 3062 h 3119" name="T83"/>
                <a:gd fmla="*/ 233 w 6837" name="T84"/>
                <a:gd fmla="*/ 3119 h 3119" name="T85"/>
                <a:gd fmla="*/ 65 w 6837" name="T86"/>
                <a:gd fmla="*/ 2686 h 3119" name="T87"/>
                <a:gd fmla="*/ 292 w 6837" name="T88"/>
                <a:gd fmla="*/ 2733 h 3119" name="T89"/>
                <a:gd fmla="*/ 144 w 6837" name="T90"/>
                <a:gd fmla="*/ 2392 h 3119" name="T91"/>
                <a:gd fmla="*/ 506 w 6837" name="T92"/>
                <a:gd fmla="*/ 2101 h 3119" name="T93"/>
                <a:gd fmla="*/ 482 w 6837" name="T94"/>
                <a:gd fmla="*/ 2152 h 3119" name="T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b="b" l="0" r="r" t="0"/>
              <a:pathLst>
                <a:path h="3119" w="6837">
                  <a:moveTo>
                    <a:pt x="3446" y="609"/>
                  </a:moveTo>
                  <a:lnTo>
                    <a:pt x="3390" y="609"/>
                  </a:lnTo>
                  <a:lnTo>
                    <a:pt x="3390" y="0"/>
                  </a:lnTo>
                  <a:lnTo>
                    <a:pt x="3446" y="0"/>
                  </a:lnTo>
                  <a:lnTo>
                    <a:pt x="3446" y="609"/>
                  </a:lnTo>
                  <a:close/>
                  <a:moveTo>
                    <a:pt x="6406" y="1736"/>
                  </a:moveTo>
                  <a:lnTo>
                    <a:pt x="6379" y="1688"/>
                  </a:lnTo>
                  <a:lnTo>
                    <a:pt x="5850" y="1992"/>
                  </a:lnTo>
                  <a:lnTo>
                    <a:pt x="5878" y="2039"/>
                  </a:lnTo>
                  <a:lnTo>
                    <a:pt x="6406" y="1736"/>
                  </a:lnTo>
                  <a:close/>
                  <a:moveTo>
                    <a:pt x="5160" y="472"/>
                  </a:moveTo>
                  <a:lnTo>
                    <a:pt x="5112" y="445"/>
                  </a:lnTo>
                  <a:lnTo>
                    <a:pt x="4807" y="972"/>
                  </a:lnTo>
                  <a:lnTo>
                    <a:pt x="4855" y="999"/>
                  </a:lnTo>
                  <a:lnTo>
                    <a:pt x="5160" y="472"/>
                  </a:lnTo>
                  <a:close/>
                  <a:moveTo>
                    <a:pt x="987" y="1992"/>
                  </a:moveTo>
                  <a:lnTo>
                    <a:pt x="458" y="1688"/>
                  </a:lnTo>
                  <a:lnTo>
                    <a:pt x="431" y="1736"/>
                  </a:lnTo>
                  <a:lnTo>
                    <a:pt x="958" y="2039"/>
                  </a:lnTo>
                  <a:lnTo>
                    <a:pt x="987" y="1992"/>
                  </a:lnTo>
                  <a:close/>
                  <a:moveTo>
                    <a:pt x="2030" y="972"/>
                  </a:moveTo>
                  <a:lnTo>
                    <a:pt x="1726" y="445"/>
                  </a:lnTo>
                  <a:lnTo>
                    <a:pt x="1678" y="472"/>
                  </a:lnTo>
                  <a:lnTo>
                    <a:pt x="1982" y="999"/>
                  </a:lnTo>
                  <a:lnTo>
                    <a:pt x="2030" y="972"/>
                  </a:lnTo>
                  <a:close/>
                  <a:moveTo>
                    <a:pt x="3111" y="247"/>
                  </a:moveTo>
                  <a:lnTo>
                    <a:pt x="3087" y="15"/>
                  </a:lnTo>
                  <a:lnTo>
                    <a:pt x="3032" y="22"/>
                  </a:lnTo>
                  <a:lnTo>
                    <a:pt x="3056" y="254"/>
                  </a:lnTo>
                  <a:lnTo>
                    <a:pt x="3111" y="247"/>
                  </a:lnTo>
                  <a:close/>
                  <a:moveTo>
                    <a:pt x="2781" y="297"/>
                  </a:moveTo>
                  <a:lnTo>
                    <a:pt x="2731" y="70"/>
                  </a:lnTo>
                  <a:lnTo>
                    <a:pt x="2676" y="80"/>
                  </a:lnTo>
                  <a:lnTo>
                    <a:pt x="2726" y="309"/>
                  </a:lnTo>
                  <a:lnTo>
                    <a:pt x="2781" y="297"/>
                  </a:lnTo>
                  <a:close/>
                  <a:moveTo>
                    <a:pt x="2456" y="380"/>
                  </a:moveTo>
                  <a:lnTo>
                    <a:pt x="2384" y="159"/>
                  </a:lnTo>
                  <a:lnTo>
                    <a:pt x="2331" y="176"/>
                  </a:lnTo>
                  <a:lnTo>
                    <a:pt x="2403" y="397"/>
                  </a:lnTo>
                  <a:lnTo>
                    <a:pt x="2456" y="380"/>
                  </a:lnTo>
                  <a:close/>
                  <a:moveTo>
                    <a:pt x="2141" y="498"/>
                  </a:moveTo>
                  <a:lnTo>
                    <a:pt x="2047" y="285"/>
                  </a:lnTo>
                  <a:lnTo>
                    <a:pt x="1996" y="307"/>
                  </a:lnTo>
                  <a:lnTo>
                    <a:pt x="2092" y="520"/>
                  </a:lnTo>
                  <a:lnTo>
                    <a:pt x="2141" y="498"/>
                  </a:lnTo>
                  <a:close/>
                  <a:moveTo>
                    <a:pt x="3805" y="22"/>
                  </a:moveTo>
                  <a:lnTo>
                    <a:pt x="3749" y="15"/>
                  </a:lnTo>
                  <a:lnTo>
                    <a:pt x="3725" y="247"/>
                  </a:lnTo>
                  <a:lnTo>
                    <a:pt x="3781" y="254"/>
                  </a:lnTo>
                  <a:lnTo>
                    <a:pt x="3805" y="22"/>
                  </a:lnTo>
                  <a:close/>
                  <a:moveTo>
                    <a:pt x="4159" y="80"/>
                  </a:moveTo>
                  <a:lnTo>
                    <a:pt x="4104" y="70"/>
                  </a:lnTo>
                  <a:lnTo>
                    <a:pt x="4056" y="297"/>
                  </a:lnTo>
                  <a:lnTo>
                    <a:pt x="4111" y="309"/>
                  </a:lnTo>
                  <a:lnTo>
                    <a:pt x="4159" y="80"/>
                  </a:lnTo>
                  <a:close/>
                  <a:moveTo>
                    <a:pt x="4506" y="176"/>
                  </a:moveTo>
                  <a:lnTo>
                    <a:pt x="4453" y="159"/>
                  </a:lnTo>
                  <a:lnTo>
                    <a:pt x="4381" y="380"/>
                  </a:lnTo>
                  <a:lnTo>
                    <a:pt x="4434" y="397"/>
                  </a:lnTo>
                  <a:lnTo>
                    <a:pt x="4506" y="176"/>
                  </a:lnTo>
                  <a:close/>
                  <a:moveTo>
                    <a:pt x="4840" y="307"/>
                  </a:moveTo>
                  <a:lnTo>
                    <a:pt x="4790" y="285"/>
                  </a:lnTo>
                  <a:lnTo>
                    <a:pt x="4694" y="498"/>
                  </a:lnTo>
                  <a:lnTo>
                    <a:pt x="4746" y="520"/>
                  </a:lnTo>
                  <a:lnTo>
                    <a:pt x="4840" y="307"/>
                  </a:lnTo>
                  <a:close/>
                  <a:moveTo>
                    <a:pt x="6837" y="3093"/>
                  </a:moveTo>
                  <a:lnTo>
                    <a:pt x="6830" y="3038"/>
                  </a:lnTo>
                  <a:lnTo>
                    <a:pt x="6598" y="3062"/>
                  </a:lnTo>
                  <a:lnTo>
                    <a:pt x="6605" y="3119"/>
                  </a:lnTo>
                  <a:lnTo>
                    <a:pt x="6837" y="3093"/>
                  </a:lnTo>
                  <a:close/>
                  <a:moveTo>
                    <a:pt x="6782" y="2740"/>
                  </a:moveTo>
                  <a:lnTo>
                    <a:pt x="6772" y="2686"/>
                  </a:lnTo>
                  <a:lnTo>
                    <a:pt x="6543" y="2733"/>
                  </a:lnTo>
                  <a:lnTo>
                    <a:pt x="6555" y="2788"/>
                  </a:lnTo>
                  <a:lnTo>
                    <a:pt x="6782" y="2740"/>
                  </a:lnTo>
                  <a:close/>
                  <a:moveTo>
                    <a:pt x="6694" y="2392"/>
                  </a:moveTo>
                  <a:lnTo>
                    <a:pt x="6676" y="2339"/>
                  </a:lnTo>
                  <a:lnTo>
                    <a:pt x="6454" y="2411"/>
                  </a:lnTo>
                  <a:lnTo>
                    <a:pt x="6471" y="2464"/>
                  </a:lnTo>
                  <a:lnTo>
                    <a:pt x="6694" y="2392"/>
                  </a:lnTo>
                  <a:close/>
                  <a:moveTo>
                    <a:pt x="6567" y="2056"/>
                  </a:moveTo>
                  <a:lnTo>
                    <a:pt x="6545" y="2007"/>
                  </a:lnTo>
                  <a:lnTo>
                    <a:pt x="6331" y="2101"/>
                  </a:lnTo>
                  <a:lnTo>
                    <a:pt x="6353" y="2152"/>
                  </a:lnTo>
                  <a:lnTo>
                    <a:pt x="6567" y="2056"/>
                  </a:lnTo>
                  <a:close/>
                  <a:moveTo>
                    <a:pt x="1585" y="808"/>
                  </a:moveTo>
                  <a:lnTo>
                    <a:pt x="1450" y="619"/>
                  </a:lnTo>
                  <a:lnTo>
                    <a:pt x="1404" y="651"/>
                  </a:lnTo>
                  <a:lnTo>
                    <a:pt x="1539" y="841"/>
                  </a:lnTo>
                  <a:lnTo>
                    <a:pt x="1585" y="808"/>
                  </a:lnTo>
                  <a:close/>
                  <a:moveTo>
                    <a:pt x="1320" y="1013"/>
                  </a:moveTo>
                  <a:lnTo>
                    <a:pt x="1166" y="839"/>
                  </a:lnTo>
                  <a:lnTo>
                    <a:pt x="1125" y="877"/>
                  </a:lnTo>
                  <a:lnTo>
                    <a:pt x="1279" y="1050"/>
                  </a:lnTo>
                  <a:lnTo>
                    <a:pt x="1320" y="1013"/>
                  </a:lnTo>
                  <a:close/>
                  <a:moveTo>
                    <a:pt x="1079" y="1245"/>
                  </a:moveTo>
                  <a:lnTo>
                    <a:pt x="908" y="1088"/>
                  </a:lnTo>
                  <a:lnTo>
                    <a:pt x="870" y="1129"/>
                  </a:lnTo>
                  <a:lnTo>
                    <a:pt x="1041" y="1286"/>
                  </a:lnTo>
                  <a:lnTo>
                    <a:pt x="1079" y="1245"/>
                  </a:lnTo>
                  <a:close/>
                  <a:moveTo>
                    <a:pt x="864" y="1501"/>
                  </a:moveTo>
                  <a:lnTo>
                    <a:pt x="677" y="1362"/>
                  </a:lnTo>
                  <a:lnTo>
                    <a:pt x="643" y="1407"/>
                  </a:lnTo>
                  <a:lnTo>
                    <a:pt x="831" y="1547"/>
                  </a:lnTo>
                  <a:lnTo>
                    <a:pt x="864" y="1501"/>
                  </a:lnTo>
                  <a:close/>
                  <a:moveTo>
                    <a:pt x="6232" y="1461"/>
                  </a:moveTo>
                  <a:lnTo>
                    <a:pt x="6199" y="1415"/>
                  </a:lnTo>
                  <a:lnTo>
                    <a:pt x="6009" y="1552"/>
                  </a:lnTo>
                  <a:lnTo>
                    <a:pt x="6042" y="1596"/>
                  </a:lnTo>
                  <a:lnTo>
                    <a:pt x="6232" y="1461"/>
                  </a:lnTo>
                  <a:close/>
                  <a:moveTo>
                    <a:pt x="6011" y="1178"/>
                  </a:moveTo>
                  <a:lnTo>
                    <a:pt x="5974" y="1137"/>
                  </a:lnTo>
                  <a:lnTo>
                    <a:pt x="5799" y="1291"/>
                  </a:lnTo>
                  <a:lnTo>
                    <a:pt x="5835" y="1333"/>
                  </a:lnTo>
                  <a:lnTo>
                    <a:pt x="6011" y="1178"/>
                  </a:lnTo>
                  <a:close/>
                  <a:moveTo>
                    <a:pt x="5762" y="921"/>
                  </a:moveTo>
                  <a:lnTo>
                    <a:pt x="5720" y="883"/>
                  </a:lnTo>
                  <a:lnTo>
                    <a:pt x="5563" y="1056"/>
                  </a:lnTo>
                  <a:lnTo>
                    <a:pt x="5602" y="1093"/>
                  </a:lnTo>
                  <a:lnTo>
                    <a:pt x="5762" y="921"/>
                  </a:lnTo>
                  <a:close/>
                  <a:moveTo>
                    <a:pt x="5486" y="691"/>
                  </a:moveTo>
                  <a:lnTo>
                    <a:pt x="5442" y="658"/>
                  </a:lnTo>
                  <a:lnTo>
                    <a:pt x="5301" y="844"/>
                  </a:lnTo>
                  <a:lnTo>
                    <a:pt x="5348" y="878"/>
                  </a:lnTo>
                  <a:lnTo>
                    <a:pt x="5486" y="691"/>
                  </a:lnTo>
                  <a:close/>
                  <a:moveTo>
                    <a:pt x="238" y="3062"/>
                  </a:moveTo>
                  <a:lnTo>
                    <a:pt x="5" y="3038"/>
                  </a:lnTo>
                  <a:lnTo>
                    <a:pt x="0" y="3093"/>
                  </a:lnTo>
                  <a:lnTo>
                    <a:pt x="233" y="3119"/>
                  </a:lnTo>
                  <a:lnTo>
                    <a:pt x="238" y="3062"/>
                  </a:lnTo>
                  <a:close/>
                  <a:moveTo>
                    <a:pt x="292" y="2733"/>
                  </a:moveTo>
                  <a:lnTo>
                    <a:pt x="65" y="2686"/>
                  </a:lnTo>
                  <a:lnTo>
                    <a:pt x="53" y="2740"/>
                  </a:lnTo>
                  <a:lnTo>
                    <a:pt x="282" y="2788"/>
                  </a:lnTo>
                  <a:lnTo>
                    <a:pt x="292" y="2733"/>
                  </a:lnTo>
                  <a:close/>
                  <a:moveTo>
                    <a:pt x="383" y="2411"/>
                  </a:moveTo>
                  <a:lnTo>
                    <a:pt x="161" y="2339"/>
                  </a:lnTo>
                  <a:lnTo>
                    <a:pt x="144" y="2392"/>
                  </a:lnTo>
                  <a:lnTo>
                    <a:pt x="366" y="2464"/>
                  </a:lnTo>
                  <a:lnTo>
                    <a:pt x="383" y="2411"/>
                  </a:lnTo>
                  <a:close/>
                  <a:moveTo>
                    <a:pt x="506" y="2101"/>
                  </a:moveTo>
                  <a:lnTo>
                    <a:pt x="292" y="2007"/>
                  </a:lnTo>
                  <a:lnTo>
                    <a:pt x="270" y="2056"/>
                  </a:lnTo>
                  <a:lnTo>
                    <a:pt x="482" y="2152"/>
                  </a:lnTo>
                  <a:lnTo>
                    <a:pt x="506" y="2101"/>
                  </a:ln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2712e817-0d11-4a95-ad62-357b6d57e864" id="15" name="íṩḻîdè">
              <a:extLst>
                <a:ext uri="{FF2B5EF4-FFF2-40B4-BE49-F238E27FC236}">
                  <a16:creationId id="{F9472F0F-A4C5-45D8-88A0-60C4B03D664A}"/>
                </a:ext>
              </a:extLst>
            </p:cNvPr>
            <p:cNvSpPr/>
            <p:nvPr/>
          </p:nvSpPr>
          <p:spPr bwMode="auto">
            <a:xfrm flipH="false" flipV="false" rot="1769424">
              <a:off x="9792205" y="3890669"/>
              <a:ext cx="172003" cy="171301"/>
            </a:xfrm>
            <a:custGeom>
              <a:avLst/>
              <a:gdLst>
                <a:gd fmla="*/ 8 w 287" name="T0"/>
                <a:gd fmla="*/ 130 h 287" name="T1"/>
                <a:gd fmla="*/ 131 w 287" name="T2"/>
                <a:gd fmla="*/ 279 h 287" name="T3"/>
                <a:gd fmla="*/ 279 w 287" name="T4"/>
                <a:gd fmla="*/ 156 h 287" name="T5"/>
                <a:gd fmla="*/ 156 w 287" name="T6"/>
                <a:gd fmla="*/ 8 h 287" name="T7"/>
                <a:gd fmla="*/ 8 w 287" name="T8"/>
                <a:gd fmla="*/ 130 h 287" name="T9"/>
                <a:gd fmla="*/ 208 w 287" name="T10"/>
                <a:gd fmla="*/ 150 h 287" name="T11"/>
                <a:gd fmla="*/ 137 w 287" name="T12"/>
                <a:gd fmla="*/ 208 h 287" name="T13"/>
                <a:gd fmla="*/ 79 w 287" name="T14"/>
                <a:gd fmla="*/ 137 h 287" name="T15"/>
                <a:gd fmla="*/ 150 w 287" name="T16"/>
                <a:gd fmla="*/ 79 h 287" name="T17"/>
                <a:gd fmla="*/ 208 w 287" name="T18"/>
                <a:gd fmla="*/ 150 h 287" name="T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b="b" l="0" r="r" t="0"/>
              <a:pathLst>
                <a:path h="287" w="287">
                  <a:moveTo>
                    <a:pt x="8" y="130"/>
                  </a:moveTo>
                  <a:cubicBezTo>
                    <a:pt x="0" y="206"/>
                    <a:pt x="55" y="272"/>
                    <a:pt x="131" y="279"/>
                  </a:cubicBezTo>
                  <a:cubicBezTo>
                    <a:pt x="206" y="287"/>
                    <a:pt x="272" y="232"/>
                    <a:pt x="279" y="156"/>
                  </a:cubicBezTo>
                  <a:cubicBezTo>
                    <a:pt x="287" y="81"/>
                    <a:pt x="232" y="15"/>
                    <a:pt x="156" y="8"/>
                  </a:cubicBezTo>
                  <a:cubicBezTo>
                    <a:pt x="81" y="0"/>
                    <a:pt x="15" y="55"/>
                    <a:pt x="8" y="130"/>
                  </a:cubicBezTo>
                  <a:close/>
                  <a:moveTo>
                    <a:pt x="208" y="150"/>
                  </a:moveTo>
                  <a:cubicBezTo>
                    <a:pt x="205" y="185"/>
                    <a:pt x="173" y="212"/>
                    <a:pt x="137" y="208"/>
                  </a:cubicBezTo>
                  <a:cubicBezTo>
                    <a:pt x="102" y="205"/>
                    <a:pt x="75" y="173"/>
                    <a:pt x="79" y="137"/>
                  </a:cubicBezTo>
                  <a:cubicBezTo>
                    <a:pt x="82" y="102"/>
                    <a:pt x="114" y="75"/>
                    <a:pt x="150" y="79"/>
                  </a:cubicBezTo>
                  <a:cubicBezTo>
                    <a:pt x="185" y="82"/>
                    <a:pt x="212" y="114"/>
                    <a:pt x="208" y="150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325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7cc0479e-6e46-4ae8-bce2-0c43d9b908e5" id="16" name="îS1îďê">
              <a:extLst>
                <a:ext uri="{FF2B5EF4-FFF2-40B4-BE49-F238E27FC236}">
                  <a16:creationId id="{63017321-1EB7-4B6A-8512-D7B6D0F81454}"/>
                </a:ext>
              </a:extLst>
            </p:cNvPr>
            <p:cNvSpPr/>
            <p:nvPr/>
          </p:nvSpPr>
          <p:spPr bwMode="auto">
            <a:xfrm flipH="false" flipV="false" rot="1769424">
              <a:off x="9239467" y="3302880"/>
              <a:ext cx="774183" cy="485529"/>
            </a:xfrm>
            <a:custGeom>
              <a:avLst/>
              <a:gdLst>
                <a:gd fmla="*/ 1292 w 1292" name="T0"/>
                <a:gd fmla="*/ 711 h 813" name="T1"/>
                <a:gd fmla="*/ 0 w 1292" name="T2"/>
                <a:gd fmla="*/ 0 h 813" name="T3"/>
                <a:gd fmla="*/ 1230 w 1292" name="T4"/>
                <a:gd fmla="*/ 813 h 813" name="T5"/>
                <a:gd fmla="*/ 1292 w 1292" name="T6"/>
                <a:gd fmla="*/ 711 h 813" name="T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b="b" l="0" r="r" t="0"/>
              <a:pathLst>
                <a:path h="813" w="1292">
                  <a:moveTo>
                    <a:pt x="1292" y="71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30" y="813"/>
                    <a:pt x="1230" y="813"/>
                    <a:pt x="1230" y="813"/>
                  </a:cubicBezTo>
                  <a:cubicBezTo>
                    <a:pt x="1234" y="770"/>
                    <a:pt x="1258" y="733"/>
                    <a:pt x="1292" y="711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1a6962bf-106c-4229-a700-774397770e21" id="17" name="ísļiḍê">
              <a:extLst>
                <a:ext uri="{FF2B5EF4-FFF2-40B4-BE49-F238E27FC236}">
                  <a16:creationId id="{D7EA9EA0-568B-4B8A-9017-B2B9D72EFFD9}"/>
                </a:ext>
              </a:extLst>
            </p:cNvPr>
            <p:cNvSpPr/>
            <p:nvPr/>
          </p:nvSpPr>
          <p:spPr bwMode="auto">
            <a:xfrm flipH="false" flipV="false" rot="1769424">
              <a:off x="9858645" y="4033534"/>
              <a:ext cx="197224" cy="165346"/>
            </a:xfrm>
            <a:custGeom>
              <a:avLst/>
              <a:gdLst>
                <a:gd fmla="*/ 0 w 329" name="T0"/>
                <a:gd fmla="*/ 119 h 277" name="T1"/>
                <a:gd fmla="*/ 238 w 329" name="T2"/>
                <a:gd fmla="*/ 277 h 277" name="T3"/>
                <a:gd fmla="*/ 247 w 329" name="T4"/>
                <a:gd fmla="*/ 183 h 277" name="T5"/>
                <a:gd fmla="*/ 329 w 329" name="T6"/>
                <a:gd fmla="*/ 142 h 277" name="T7"/>
                <a:gd fmla="*/ 71 w 329" name="T8"/>
                <a:gd fmla="*/ 0 h 277" name="T9"/>
                <a:gd fmla="*/ 70 w 329" name="T10"/>
                <a:gd fmla="*/ 12 h 277" name="T11"/>
                <a:gd fmla="*/ 0 w 329" name="T12"/>
                <a:gd fmla="*/ 119 h 277" name="T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b="b" l="0" r="r" t="0"/>
              <a:pathLst>
                <a:path h="277" w="329">
                  <a:moveTo>
                    <a:pt x="0" y="119"/>
                  </a:moveTo>
                  <a:cubicBezTo>
                    <a:pt x="238" y="277"/>
                    <a:pt x="238" y="277"/>
                    <a:pt x="238" y="277"/>
                  </a:cubicBezTo>
                  <a:cubicBezTo>
                    <a:pt x="247" y="183"/>
                    <a:pt x="247" y="183"/>
                    <a:pt x="247" y="183"/>
                  </a:cubicBezTo>
                  <a:cubicBezTo>
                    <a:pt x="329" y="142"/>
                    <a:pt x="329" y="142"/>
                    <a:pt x="329" y="142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4"/>
                    <a:pt x="71" y="8"/>
                    <a:pt x="70" y="12"/>
                  </a:cubicBezTo>
                  <a:cubicBezTo>
                    <a:pt x="66" y="59"/>
                    <a:pt x="38" y="98"/>
                    <a:pt x="0" y="119"/>
                  </a:cubicBezTo>
                  <a:close/>
                </a:path>
              </a:pathLst>
            </a:custGeom>
            <a:solidFill>
              <a:schemeClr val="tx2">
                <a:alpha val="70000"/>
              </a:schemeClr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 fontScale="32500" lnSpcReduction="20000"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tx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tx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tx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tx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tx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tx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tx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tx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tx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a2d0c4f7-b895-4e0c-ac33-96c6aa54b310" id="48" name="Title">
              <a:extLst>
                <a:ext uri="{FF2B5EF4-FFF2-40B4-BE49-F238E27FC236}">
                  <a16:creationId id="{14DA6567-C36F-7FDD-BEED-5389452D1E35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了解AI如何提高业务处理效率</a:t>
              </a:r>
            </a:p>
          </p:txBody>
        </p:sp>
        <p:grpSp>
          <p:nvGrpSpPr>
            <p:cNvPr descr="6657dc09-898c-4396-b7b5-b969d7097f0a" id="55" name="组合 54">
              <a:extLst>
                <a:ext uri="{FF2B5EF4-FFF2-40B4-BE49-F238E27FC236}">
                  <a16:creationId id="{C789B156-3C0E-E7AF-A3E6-DB64BEFBCBFD}"/>
                </a:ext>
              </a:extLst>
            </p:cNvPr>
            <p:cNvGrpSpPr/>
            <p:nvPr/>
          </p:nvGrpSpPr>
          <p:grpSpPr>
            <a:xfrm>
              <a:off x="878896" y="1925942"/>
              <a:ext cx="2844800" cy="4208158"/>
              <a:chOff x="878896" y="1925942"/>
              <a:chExt cx="2844800" cy="4208158"/>
            </a:xfrm>
          </p:grpSpPr>
          <p:sp>
            <p:nvSpPr>
              <p:cNvPr descr="ff1d0093-4001-43d0-a4bc-5ccd47870d0f" id="39" name="Text1">
                <a:extLst>
                  <a:ext uri="{FF2B5EF4-FFF2-40B4-BE49-F238E27FC236}">
                    <a16:creationId id="{38DDDE23-DEC7-429E-991B-52E842AD9736}"/>
                  </a:ext>
                </a:extLst>
              </p:cNvPr>
              <p:cNvSpPr/>
              <p:nvPr/>
            </p:nvSpPr>
            <p:spPr bwMode="auto">
              <a:xfrm flipH="false" flipV="false">
                <a:off x="878896" y="4834014"/>
                <a:ext cx="2844800" cy="1300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人工智能可以自动化处理保险业务中的重复性任务，如数据录入、保单生成等，提高处理速度和准确性。</a:t>
                </a:r>
              </a:p>
            </p:txBody>
          </p:sp>
          <p:sp>
            <p:nvSpPr>
              <p:cNvPr descr="14f86345-39d0-44cd-9c06-3808377cfb27" id="40" name="Bullet1">
                <a:extLst>
                  <a:ext uri="{FF2B5EF4-FFF2-40B4-BE49-F238E27FC236}">
                    <a16:creationId id="{D7942424-0EFE-400F-82BA-0FD56AB1F2E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78896" y="4364952"/>
                <a:ext cx="2844800" cy="4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自动化流程</a:t>
                </a:r>
              </a:p>
            </p:txBody>
          </p:sp>
          <p:sp>
            <p:nvSpPr>
              <p:cNvPr descr="89cce8c3-5937-4516-ac68-e7cc321fa3a7" id="37" name="ComponentBackground1">
                <a:extLst>
                  <a:ext uri="{FF2B5EF4-FFF2-40B4-BE49-F238E27FC236}">
                    <a16:creationId id="{E53EA848-A5BE-477D-8142-15E6444082EC}"/>
                  </a:ext>
                </a:extLst>
              </p:cNvPr>
              <p:cNvSpPr/>
              <p:nvPr/>
            </p:nvSpPr>
            <p:spPr>
              <a:xfrm flipH="false" flipV="false">
                <a:off x="1864304" y="1925942"/>
                <a:ext cx="873984" cy="747387"/>
              </a:xfrm>
              <a:custGeom>
                <a:avLst/>
                <a:gdLst>
                  <a:gd fmla="*/ 70237 w 873984" name="connsiteX0"/>
                  <a:gd fmla="*/ 0 h 747387" name="connsiteY0"/>
                  <a:gd fmla="*/ 803747 w 873984" name="connsiteX1"/>
                  <a:gd fmla="*/ 0 h 747387" name="connsiteY1"/>
                  <a:gd fmla="*/ 873984 w 873984" name="connsiteX2"/>
                  <a:gd fmla="*/ 70237 h 747387" name="connsiteY2"/>
                  <a:gd fmla="*/ 873984 w 873984" name="connsiteX3"/>
                  <a:gd fmla="*/ 512548 h 747387" name="connsiteY3"/>
                  <a:gd fmla="*/ 803747 w 873984" name="connsiteX4"/>
                  <a:gd fmla="*/ 582785 h 747387" name="connsiteY4"/>
                  <a:gd fmla="*/ 533703 w 873984" name="connsiteX5"/>
                  <a:gd fmla="*/ 582785 h 747387" name="connsiteY5"/>
                  <a:gd fmla="*/ 436992 w 873984" name="connsiteX6"/>
                  <a:gd fmla="*/ 747387 h 747387" name="connsiteY6"/>
                  <a:gd fmla="*/ 340281 w 873984" name="connsiteX7"/>
                  <a:gd fmla="*/ 582785 h 747387" name="connsiteY7"/>
                  <a:gd fmla="*/ 70237 w 873984" name="connsiteX8"/>
                  <a:gd fmla="*/ 582785 h 747387" name="connsiteY8"/>
                  <a:gd fmla="*/ 0 w 873984" name="connsiteX9"/>
                  <a:gd fmla="*/ 512548 h 747387" name="connsiteY9"/>
                  <a:gd fmla="*/ 0 w 873984" name="connsiteX10"/>
                  <a:gd fmla="*/ 70237 h 747387" name="connsiteY10"/>
                  <a:gd fmla="*/ 70237 w 873984" name="connsiteX11"/>
                  <a:gd fmla="*/ 0 h 747387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747387" w="873984">
                    <a:moveTo>
                      <a:pt x="70237" y="0"/>
                    </a:moveTo>
                    <a:lnTo>
                      <a:pt x="803747" y="0"/>
                    </a:lnTo>
                    <a:cubicBezTo>
                      <a:pt x="842538" y="0"/>
                      <a:pt x="873984" y="31446"/>
                      <a:pt x="873984" y="70237"/>
                    </a:cubicBezTo>
                    <a:lnTo>
                      <a:pt x="873984" y="512548"/>
                    </a:lnTo>
                    <a:cubicBezTo>
                      <a:pt x="873984" y="551339"/>
                      <a:pt x="842538" y="582785"/>
                      <a:pt x="803747" y="582785"/>
                    </a:cubicBezTo>
                    <a:lnTo>
                      <a:pt x="533703" y="582785"/>
                    </a:lnTo>
                    <a:lnTo>
                      <a:pt x="436992" y="747387"/>
                    </a:lnTo>
                    <a:lnTo>
                      <a:pt x="340281" y="582785"/>
                    </a:lnTo>
                    <a:lnTo>
                      <a:pt x="70237" y="582785"/>
                    </a:lnTo>
                    <a:cubicBezTo>
                      <a:pt x="31446" y="582785"/>
                      <a:pt x="0" y="551339"/>
                      <a:pt x="0" y="512548"/>
                    </a:cubicBezTo>
                    <a:lnTo>
                      <a:pt x="0" y="70237"/>
                    </a:lnTo>
                    <a:cubicBezTo>
                      <a:pt x="0" y="31446"/>
                      <a:pt x="31446" y="0"/>
                      <a:pt x="70237" y="0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76e54f5b-0f4b-4241-9d7c-c397033bda1e" id="38" name="Number1">
                <a:extLst>
                  <a:ext uri="{FF2B5EF4-FFF2-40B4-BE49-F238E27FC236}">
                    <a16:creationId id="{65D41933-9658-457A-8F69-FA85540F89A7}"/>
                  </a:ext>
                </a:extLst>
              </p:cNvPr>
              <p:cNvSpPr/>
              <p:nvPr/>
            </p:nvSpPr>
            <p:spPr>
              <a:xfrm flipH="false" flipV="false">
                <a:off x="1945379" y="1978342"/>
                <a:ext cx="711835" cy="461665"/>
              </a:xfrm>
              <a:prstGeom prst="rect">
                <a:avLst/>
              </a:prstGeom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  <a:r>
                  <a:rPr b="false" i="false" lang="en-US" sz="20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8f3ba9ba-cd4f-4502-ae59-6c9a04ec7e35" id="56" name="组合 55">
              <a:extLst>
                <a:ext uri="{FF2B5EF4-FFF2-40B4-BE49-F238E27FC236}">
                  <a16:creationId id="{F935A4D5-112F-BE5E-A0F3-ADE25655A145}"/>
                </a:ext>
              </a:extLst>
            </p:cNvPr>
            <p:cNvGrpSpPr/>
            <p:nvPr/>
          </p:nvGrpSpPr>
          <p:grpSpPr>
            <a:xfrm>
              <a:off x="4667250" y="1925942"/>
              <a:ext cx="2844800" cy="4208158"/>
              <a:chOff x="4667250" y="1925942"/>
              <a:chExt cx="2844800" cy="4208158"/>
            </a:xfrm>
          </p:grpSpPr>
          <p:sp>
            <p:nvSpPr>
              <p:cNvPr descr="57dc384b-e41b-494b-b30f-f5988a7ba212" id="25" name="Text2">
                <a:extLst>
                  <a:ext uri="{FF2B5EF4-FFF2-40B4-BE49-F238E27FC236}">
                    <a16:creationId id="{38DDDE23-DEC7-429E-991B-52E842AD9736}"/>
                  </a:ext>
                </a:extLst>
              </p:cNvPr>
              <p:cNvSpPr/>
              <p:nvPr/>
            </p:nvSpPr>
            <p:spPr bwMode="auto">
              <a:xfrm flipH="false" flipV="false">
                <a:off x="4667250" y="4834014"/>
                <a:ext cx="2844800" cy="1300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通过图像识别和自然语言处理等技术，人工智能可以快速识别文档和图像中的信息，进一步加速业务流程。</a:t>
                </a:r>
              </a:p>
            </p:txBody>
          </p:sp>
          <p:sp>
            <p:nvSpPr>
              <p:cNvPr descr="ad05cfd5-87e0-425b-86bf-481ce1a3a9c1" id="26" name="Bullet2">
                <a:extLst>
                  <a:ext uri="{FF2B5EF4-FFF2-40B4-BE49-F238E27FC236}">
                    <a16:creationId id="{D7942424-0EFE-400F-82BA-0FD56AB1F2E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4667250" y="4364952"/>
                <a:ext cx="2844800" cy="4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智能识别</a:t>
                </a:r>
              </a:p>
            </p:txBody>
          </p:sp>
          <p:sp>
            <p:nvSpPr>
              <p:cNvPr descr="07d84f10-18fa-4fb4-b843-7f8e193458d1" id="23" name="ComponentBackground2">
                <a:extLst>
                  <a:ext uri="{FF2B5EF4-FFF2-40B4-BE49-F238E27FC236}">
                    <a16:creationId id="{0A950D4B-78FC-4B53-BFD9-4B9A6A5FCA81}"/>
                  </a:ext>
                </a:extLst>
              </p:cNvPr>
              <p:cNvSpPr/>
              <p:nvPr/>
            </p:nvSpPr>
            <p:spPr>
              <a:xfrm flipH="false" flipV="false">
                <a:off x="5652658" y="1925942"/>
                <a:ext cx="873984" cy="747387"/>
              </a:xfrm>
              <a:custGeom>
                <a:avLst/>
                <a:gdLst>
                  <a:gd fmla="*/ 70237 w 873984" name="connsiteX0"/>
                  <a:gd fmla="*/ 0 h 747387" name="connsiteY0"/>
                  <a:gd fmla="*/ 803747 w 873984" name="connsiteX1"/>
                  <a:gd fmla="*/ 0 h 747387" name="connsiteY1"/>
                  <a:gd fmla="*/ 873984 w 873984" name="connsiteX2"/>
                  <a:gd fmla="*/ 70237 h 747387" name="connsiteY2"/>
                  <a:gd fmla="*/ 873984 w 873984" name="connsiteX3"/>
                  <a:gd fmla="*/ 512548 h 747387" name="connsiteY3"/>
                  <a:gd fmla="*/ 803747 w 873984" name="connsiteX4"/>
                  <a:gd fmla="*/ 582785 h 747387" name="connsiteY4"/>
                  <a:gd fmla="*/ 533703 w 873984" name="connsiteX5"/>
                  <a:gd fmla="*/ 582785 h 747387" name="connsiteY5"/>
                  <a:gd fmla="*/ 436992 w 873984" name="connsiteX6"/>
                  <a:gd fmla="*/ 747387 h 747387" name="connsiteY6"/>
                  <a:gd fmla="*/ 340281 w 873984" name="connsiteX7"/>
                  <a:gd fmla="*/ 582785 h 747387" name="connsiteY7"/>
                  <a:gd fmla="*/ 70237 w 873984" name="connsiteX8"/>
                  <a:gd fmla="*/ 582785 h 747387" name="connsiteY8"/>
                  <a:gd fmla="*/ 0 w 873984" name="connsiteX9"/>
                  <a:gd fmla="*/ 512548 h 747387" name="connsiteY9"/>
                  <a:gd fmla="*/ 0 w 873984" name="connsiteX10"/>
                  <a:gd fmla="*/ 70237 h 747387" name="connsiteY10"/>
                  <a:gd fmla="*/ 70237 w 873984" name="connsiteX11"/>
                  <a:gd fmla="*/ 0 h 747387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747387" w="873984">
                    <a:moveTo>
                      <a:pt x="70237" y="0"/>
                    </a:moveTo>
                    <a:lnTo>
                      <a:pt x="803747" y="0"/>
                    </a:lnTo>
                    <a:cubicBezTo>
                      <a:pt x="842538" y="0"/>
                      <a:pt x="873984" y="31446"/>
                      <a:pt x="873984" y="70237"/>
                    </a:cubicBezTo>
                    <a:lnTo>
                      <a:pt x="873984" y="512548"/>
                    </a:lnTo>
                    <a:cubicBezTo>
                      <a:pt x="873984" y="551339"/>
                      <a:pt x="842538" y="582785"/>
                      <a:pt x="803747" y="582785"/>
                    </a:cubicBezTo>
                    <a:lnTo>
                      <a:pt x="533703" y="582785"/>
                    </a:lnTo>
                    <a:lnTo>
                      <a:pt x="436992" y="747387"/>
                    </a:lnTo>
                    <a:lnTo>
                      <a:pt x="340281" y="582785"/>
                    </a:lnTo>
                    <a:lnTo>
                      <a:pt x="70237" y="582785"/>
                    </a:lnTo>
                    <a:cubicBezTo>
                      <a:pt x="31446" y="582785"/>
                      <a:pt x="0" y="551339"/>
                      <a:pt x="0" y="512548"/>
                    </a:cubicBezTo>
                    <a:lnTo>
                      <a:pt x="0" y="70237"/>
                    </a:lnTo>
                    <a:cubicBezTo>
                      <a:pt x="0" y="31446"/>
                      <a:pt x="31446" y="0"/>
                      <a:pt x="70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77a838e0-ca7c-468f-82f8-78234d9d47c2" id="24" name="Number2">
                <a:extLst>
                  <a:ext uri="{FF2B5EF4-FFF2-40B4-BE49-F238E27FC236}">
                    <a16:creationId id="{FA42C6C9-EB5E-400A-8835-D5D7ACF4A965}"/>
                  </a:ext>
                </a:extLst>
              </p:cNvPr>
              <p:cNvSpPr/>
              <p:nvPr/>
            </p:nvSpPr>
            <p:spPr>
              <a:xfrm flipH="false" flipV="false">
                <a:off x="5733733" y="1978342"/>
                <a:ext cx="711835" cy="461665"/>
              </a:xfrm>
              <a:prstGeom prst="rect">
                <a:avLst/>
              </a:prstGeom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  <a:r>
                  <a:rPr b="fals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945c40b0-e8b5-45bd-a809-aca392c15796" id="57" name="组合 56">
              <a:extLst>
                <a:ext uri="{FF2B5EF4-FFF2-40B4-BE49-F238E27FC236}">
                  <a16:creationId id="{D54CD5EE-5864-4F94-B73B-236C2F95BBDC}"/>
                </a:ext>
              </a:extLst>
            </p:cNvPr>
            <p:cNvGrpSpPr/>
            <p:nvPr/>
          </p:nvGrpSpPr>
          <p:grpSpPr>
            <a:xfrm>
              <a:off x="8455604" y="1925942"/>
              <a:ext cx="2844800" cy="4208158"/>
              <a:chOff x="8455604" y="1925942"/>
              <a:chExt cx="2844800" cy="4208158"/>
            </a:xfrm>
          </p:grpSpPr>
          <p:sp>
            <p:nvSpPr>
              <p:cNvPr descr="7d55def1-8881-4382-a261-8c92d9e88560" id="11" name="Text3">
                <a:extLst>
                  <a:ext uri="{FF2B5EF4-FFF2-40B4-BE49-F238E27FC236}">
                    <a16:creationId id="{38DDDE23-DEC7-429E-991B-52E842AD9736}"/>
                  </a:ext>
                </a:extLst>
              </p:cNvPr>
              <p:cNvSpPr/>
              <p:nvPr/>
            </p:nvSpPr>
            <p:spPr bwMode="auto">
              <a:xfrm flipH="false" flipV="false">
                <a:off x="8455604" y="4834014"/>
                <a:ext cx="2844800" cy="1300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人工智能系统可以实时处理和分析大量数据，迅速做出决策，缩短保险业务处理时间。</a:t>
                </a:r>
              </a:p>
            </p:txBody>
          </p:sp>
          <p:sp>
            <p:nvSpPr>
              <p:cNvPr descr="b6cb8f02-15d9-4bf9-9a54-56fc9dec8bd5" id="12" name="Bullet3">
                <a:extLst>
                  <a:ext uri="{FF2B5EF4-FFF2-40B4-BE49-F238E27FC236}">
                    <a16:creationId id="{D7942424-0EFE-400F-82BA-0FD56AB1F2E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455604" y="4364952"/>
                <a:ext cx="2844800" cy="4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实时响应</a:t>
                </a:r>
              </a:p>
            </p:txBody>
          </p:sp>
          <p:sp>
            <p:nvSpPr>
              <p:cNvPr descr="44e06756-e7ca-4ff4-8444-933bd98d869b" id="9" name="ComponentBackground3">
                <a:extLst>
                  <a:ext uri="{FF2B5EF4-FFF2-40B4-BE49-F238E27FC236}">
                    <a16:creationId id="{FCB29BA6-40F7-4A4D-9265-FEE147CC2C51}"/>
                  </a:ext>
                </a:extLst>
              </p:cNvPr>
              <p:cNvSpPr/>
              <p:nvPr/>
            </p:nvSpPr>
            <p:spPr>
              <a:xfrm flipH="false" flipV="false">
                <a:off x="9441012" y="1925942"/>
                <a:ext cx="873984" cy="747387"/>
              </a:xfrm>
              <a:custGeom>
                <a:avLst/>
                <a:gdLst>
                  <a:gd fmla="*/ 70237 w 873984" name="connsiteX0"/>
                  <a:gd fmla="*/ 0 h 747387" name="connsiteY0"/>
                  <a:gd fmla="*/ 803747 w 873984" name="connsiteX1"/>
                  <a:gd fmla="*/ 0 h 747387" name="connsiteY1"/>
                  <a:gd fmla="*/ 873984 w 873984" name="connsiteX2"/>
                  <a:gd fmla="*/ 70237 h 747387" name="connsiteY2"/>
                  <a:gd fmla="*/ 873984 w 873984" name="connsiteX3"/>
                  <a:gd fmla="*/ 512548 h 747387" name="connsiteY3"/>
                  <a:gd fmla="*/ 803747 w 873984" name="connsiteX4"/>
                  <a:gd fmla="*/ 582785 h 747387" name="connsiteY4"/>
                  <a:gd fmla="*/ 533703 w 873984" name="connsiteX5"/>
                  <a:gd fmla="*/ 582785 h 747387" name="connsiteY5"/>
                  <a:gd fmla="*/ 436992 w 873984" name="connsiteX6"/>
                  <a:gd fmla="*/ 747387 h 747387" name="connsiteY6"/>
                  <a:gd fmla="*/ 340281 w 873984" name="connsiteX7"/>
                  <a:gd fmla="*/ 582785 h 747387" name="connsiteY7"/>
                  <a:gd fmla="*/ 70237 w 873984" name="connsiteX8"/>
                  <a:gd fmla="*/ 582785 h 747387" name="connsiteY8"/>
                  <a:gd fmla="*/ 0 w 873984" name="connsiteX9"/>
                  <a:gd fmla="*/ 512548 h 747387" name="connsiteY9"/>
                  <a:gd fmla="*/ 0 w 873984" name="connsiteX10"/>
                  <a:gd fmla="*/ 70237 h 747387" name="connsiteY10"/>
                  <a:gd fmla="*/ 70237 w 873984" name="connsiteX11"/>
                  <a:gd fmla="*/ 0 h 747387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747387" w="873984">
                    <a:moveTo>
                      <a:pt x="70237" y="0"/>
                    </a:moveTo>
                    <a:lnTo>
                      <a:pt x="803747" y="0"/>
                    </a:lnTo>
                    <a:cubicBezTo>
                      <a:pt x="842538" y="0"/>
                      <a:pt x="873984" y="31446"/>
                      <a:pt x="873984" y="70237"/>
                    </a:cubicBezTo>
                    <a:lnTo>
                      <a:pt x="873984" y="512548"/>
                    </a:lnTo>
                    <a:cubicBezTo>
                      <a:pt x="873984" y="551339"/>
                      <a:pt x="842538" y="582785"/>
                      <a:pt x="803747" y="582785"/>
                    </a:cubicBezTo>
                    <a:lnTo>
                      <a:pt x="533703" y="582785"/>
                    </a:lnTo>
                    <a:lnTo>
                      <a:pt x="436992" y="747387"/>
                    </a:lnTo>
                    <a:lnTo>
                      <a:pt x="340281" y="582785"/>
                    </a:lnTo>
                    <a:lnTo>
                      <a:pt x="70237" y="582785"/>
                    </a:lnTo>
                    <a:cubicBezTo>
                      <a:pt x="31446" y="582785"/>
                      <a:pt x="0" y="551339"/>
                      <a:pt x="0" y="512548"/>
                    </a:cubicBezTo>
                    <a:lnTo>
                      <a:pt x="0" y="70237"/>
                    </a:lnTo>
                    <a:cubicBezTo>
                      <a:pt x="0" y="31446"/>
                      <a:pt x="31446" y="0"/>
                      <a:pt x="70237" y="0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descr="85534435-9962-4e4e-bd18-d09244572448" id="10" name="Number3">
                <a:extLst>
                  <a:ext uri="{FF2B5EF4-FFF2-40B4-BE49-F238E27FC236}">
                    <a16:creationId id="{92518357-749C-40E6-8622-87B6BB914082}"/>
                  </a:ext>
                </a:extLst>
              </p:cNvPr>
              <p:cNvSpPr/>
              <p:nvPr/>
            </p:nvSpPr>
            <p:spPr>
              <a:xfrm flipH="false" flipV="false">
                <a:off x="9522087" y="1978342"/>
                <a:ext cx="711835" cy="461665"/>
              </a:xfrm>
              <a:prstGeom prst="rect">
                <a:avLst/>
              </a:prstGeom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  <a:r>
                  <a:rPr b="false" i="false" lang="en-US" sz="20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提升业务处理效率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1eff36d1-bbb2-4a5d-8893-37a52a14db1f" id="22" name="412d42a5-5acf-4561-b76e-96394f42fa1e.source.3.zh-Hans.pptx">
            <a:extLst>
              <a:ext uri="{FF2B5EF4-FFF2-40B4-BE49-F238E27FC236}">
                <a16:creationId id="{BE536420-97F3-D53E-C6CF-6D46A6A8C8E2}"/>
              </a:ext>
            </a:extLst>
          </p:cNvPr>
          <p:cNvGrpSpPr/>
          <p:nvPr/>
        </p:nvGrpSpPr>
        <p:grpSpPr>
          <a:xfrm>
            <a:off x="660400" y="1130300"/>
            <a:ext cx="10858500" cy="4790996"/>
            <a:chOff x="660400" y="1130300"/>
            <a:chExt cx="10858500" cy="4790996"/>
          </a:xfrm>
        </p:grpSpPr>
        <p:cxnSp>
          <p:nvCxnSpPr>
            <p:cNvPr descr="408ef8de-0e5a-4673-b56e-c8902d1f61fe" id="11" name="ïṡ1îdé">
              <a:extLst>
                <a:ext uri="{FF2B5EF4-FFF2-40B4-BE49-F238E27FC236}">
                  <a16:creationId id="{1C8A83AF-75C9-468A-AA06-59640EABC5B1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4600677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2717ad76-77bb-468d-83b5-c1c5242cc36e" id="14" name="íS1íďè">
              <a:extLst>
                <a:ext uri="{FF2B5EF4-FFF2-40B4-BE49-F238E27FC236}">
                  <a16:creationId id="{6F2BBC08-14D2-475D-BD2C-ED65A75C6E41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8190900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10000cc-3577-4bda-bd1e-1fa89c6c46fe" id="15" name="îşḷiḑè">
              <a:extLst>
                <a:ext uri="{FF2B5EF4-FFF2-40B4-BE49-F238E27FC236}">
                  <a16:creationId id="{EF99776C-078F-42C0-BA3D-A542E93B5C28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991704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55c01fcb-a776-4133-b893-ec55ea1485dd" id="13" name="Title">
              <a:extLst>
                <a:ext uri="{FF2B5EF4-FFF2-40B4-BE49-F238E27FC236}">
                  <a16:creationId id="{3EDA9AF7-DAFD-3F2E-F277-9DE4416C8BD7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探究AI如何降低保险运营成本</a:t>
              </a:r>
            </a:p>
          </p:txBody>
        </p:sp>
        <p:grpSp>
          <p:nvGrpSpPr>
            <p:cNvPr descr="fd439a85-5a28-4b14-8157-f1bb01e7b43a" id="26" name="组合 25">
              <a:extLst>
                <a:ext uri="{FF2B5EF4-FFF2-40B4-BE49-F238E27FC236}">
                  <a16:creationId id="{5A0DC6F4-AC0A-930A-BC98-DE641F6C7407}"/>
                </a:ext>
              </a:extLst>
            </p:cNvPr>
            <p:cNvGrpSpPr/>
            <p:nvPr/>
          </p:nvGrpSpPr>
          <p:grpSpPr>
            <a:xfrm>
              <a:off x="1156293" y="2737627"/>
              <a:ext cx="2873285" cy="3183669"/>
              <a:chOff x="1156293" y="2737627"/>
              <a:chExt cx="2873285" cy="3183669"/>
            </a:xfrm>
          </p:grpSpPr>
          <p:sp>
            <p:nvSpPr>
              <p:cNvPr descr="6234fd89-bf84-4ab6-b42f-a687eac5021f" id="3" name="Text1">
                <a:extLst>
                  <a:ext uri="{FF2B5EF4-FFF2-40B4-BE49-F238E27FC236}">
                    <a16:creationId id="{637CA285-4713-4D8A-B4E7-F8F847F1631F}"/>
                  </a:ext>
                </a:extLst>
              </p:cNvPr>
              <p:cNvSpPr txBox="1"/>
              <p:nvPr/>
            </p:nvSpPr>
            <p:spPr>
              <a:xfrm flipH="false" flipV="false">
                <a:off x="1185168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自动化和智能化技术的应用可显著减少保险业务对人力资源的依赖，降低人力成本，提高盈利能力。</a:t>
                </a:r>
              </a:p>
            </p:txBody>
          </p:sp>
          <p:sp>
            <p:nvSpPr>
              <p:cNvPr descr="59f4a2c3-e97b-451a-b572-6247ab93ab8f" id="8" name="Number1">
                <a:extLst>
                  <a:ext uri="{FF2B5EF4-FFF2-40B4-BE49-F238E27FC236}">
                    <a16:creationId id="{D372DAE6-E349-4E27-ACE9-F93D8FC178C0}"/>
                  </a:ext>
                </a:extLst>
              </p:cNvPr>
              <p:cNvSpPr txBox="1"/>
              <p:nvPr/>
            </p:nvSpPr>
            <p:spPr>
              <a:xfrm flipH="false" flipV="false">
                <a:off x="1156293" y="2737627"/>
                <a:ext cx="639919" cy="584775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true" i="true" lang="en-US" sz="32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86292f65-17c0-4397-8375-8f516e63b5ab" id="2" name="Bullet1">
                <a:extLst>
                  <a:ext uri="{FF2B5EF4-FFF2-40B4-BE49-F238E27FC236}">
                    <a16:creationId id="{9AF84ACC-AF39-4279-AB46-E56FCDF929BC}"/>
                  </a:ext>
                </a:extLst>
              </p:cNvPr>
              <p:cNvSpPr txBox="1"/>
              <p:nvPr/>
            </p:nvSpPr>
            <p:spPr>
              <a:xfrm flipH="false" flipV="false">
                <a:off x="1185169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减少人力成本</a:t>
                </a:r>
              </a:p>
            </p:txBody>
          </p:sp>
        </p:grpSp>
        <p:grpSp>
          <p:nvGrpSpPr>
            <p:cNvPr descr="32f8863b-d985-4d4f-ba77-93038f0254e4" id="27" name="组合 26">
              <a:extLst>
                <a:ext uri="{FF2B5EF4-FFF2-40B4-BE49-F238E27FC236}">
                  <a16:creationId id="{F082E479-D7DB-9662-6813-0F9F03E54875}"/>
                </a:ext>
              </a:extLst>
            </p:cNvPr>
            <p:cNvGrpSpPr/>
            <p:nvPr/>
          </p:nvGrpSpPr>
          <p:grpSpPr>
            <a:xfrm>
              <a:off x="4736891" y="2737627"/>
              <a:ext cx="2873285" cy="3183669"/>
              <a:chOff x="4736891" y="2737627"/>
              <a:chExt cx="2873285" cy="3183669"/>
            </a:xfrm>
          </p:grpSpPr>
          <p:sp>
            <p:nvSpPr>
              <p:cNvPr descr="72db3f29-84dd-4260-aaa7-d165d8ff9895" id="5" name="Text2">
                <a:extLst>
                  <a:ext uri="{FF2B5EF4-FFF2-40B4-BE49-F238E27FC236}">
                    <a16:creationId id="{210E0045-2650-4860-9B5C-9E43FD99A812}"/>
                  </a:ext>
                </a:extLst>
              </p:cNvPr>
              <p:cNvSpPr txBox="1"/>
              <p:nvPr/>
            </p:nvSpPr>
            <p:spPr>
              <a:xfrm flipH="false" flipV="false">
                <a:off x="4765766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latin typeface="Average"/>
                  </a:rPr>
                  <a:t>AI系统能够避免因人为因素导致的错误和疏漏，降低纠错成本，保证业务处理的准确性。</a:t>
                </a:r>
              </a:p>
            </p:txBody>
          </p:sp>
          <p:sp>
            <p:nvSpPr>
              <p:cNvPr descr="7e5d3e70-f59e-4b62-9be6-f143be644bb9" id="9" name="Number2">
                <a:extLst>
                  <a:ext uri="{FF2B5EF4-FFF2-40B4-BE49-F238E27FC236}">
                    <a16:creationId id="{11385C60-2D04-4CD1-86BA-7A1142490EAE}"/>
                  </a:ext>
                </a:extLst>
              </p:cNvPr>
              <p:cNvSpPr txBox="1"/>
              <p:nvPr/>
            </p:nvSpPr>
            <p:spPr>
              <a:xfrm flipH="false" flipV="false">
                <a:off x="4736891" y="2737627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>
                <a:defPPr>
                  <a:defRPr lang="zh-CN"/>
                </a:defPPr>
                <a:lvl1pPr>
                  <a:defRPr b="1" i="1" sz="320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2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true" i="true" lang="en-US" sz="3200" u="none">
                    <a:solidFill>
                      <a:srgbClr val="E8A724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97786ce4-c338-47ad-ae7e-a232e796b5b5" id="4" name="Bullet2">
                <a:extLst>
                  <a:ext uri="{FF2B5EF4-FFF2-40B4-BE49-F238E27FC236}">
                    <a16:creationId id="{48C58392-8FCC-42DE-AAFE-059518F99D16}"/>
                  </a:ext>
                </a:extLst>
              </p:cNvPr>
              <p:cNvSpPr txBox="1"/>
              <p:nvPr/>
            </p:nvSpPr>
            <p:spPr>
              <a:xfrm flipH="false" flipV="false">
                <a:off x="4765767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defRPr b="1" sz="140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</a:defRPr>
                </a:lvl1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避免错误</a:t>
                </a:r>
              </a:p>
            </p:txBody>
          </p:sp>
        </p:grpSp>
        <p:grpSp>
          <p:nvGrpSpPr>
            <p:cNvPr descr="5d0909cf-1129-4aa2-bb07-ddbbe35f4412" id="28" name="组合 27">
              <a:extLst>
                <a:ext uri="{FF2B5EF4-FFF2-40B4-BE49-F238E27FC236}">
                  <a16:creationId id="{6423E8A4-E5F0-06BF-CEB8-54D3A6C8A1AE}"/>
                </a:ext>
              </a:extLst>
            </p:cNvPr>
            <p:cNvGrpSpPr/>
            <p:nvPr/>
          </p:nvGrpSpPr>
          <p:grpSpPr>
            <a:xfrm>
              <a:off x="8327013" y="2737627"/>
              <a:ext cx="2873285" cy="3183669"/>
              <a:chOff x="8327013" y="2737627"/>
              <a:chExt cx="2873285" cy="3183669"/>
            </a:xfrm>
          </p:grpSpPr>
          <p:sp>
            <p:nvSpPr>
              <p:cNvPr descr="f784051d-7676-4e2e-9dc8-36500b3ddffe" id="7" name="Text3">
                <a:extLst>
                  <a:ext uri="{FF2B5EF4-FFF2-40B4-BE49-F238E27FC236}">
                    <a16:creationId id="{AF75D14A-EEA5-465A-A0F0-8E7B2A7F19D7}"/>
                  </a:ext>
                </a:extLst>
              </p:cNvPr>
              <p:cNvSpPr txBox="1"/>
              <p:nvPr/>
            </p:nvSpPr>
            <p:spPr>
              <a:xfrm flipH="false" flipV="false">
                <a:off x="8355888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通过智能分析和预测，人工智能可以帮助保险公司更合理地利用资源，避免浪费，提高资源利用效率。</a:t>
                </a:r>
              </a:p>
            </p:txBody>
          </p:sp>
          <p:sp>
            <p:nvSpPr>
              <p:cNvPr descr="bf16c1d3-769a-480f-967a-30a76c4a24d3" id="10" name="Number3">
                <a:extLst>
                  <a:ext uri="{FF2B5EF4-FFF2-40B4-BE49-F238E27FC236}">
                    <a16:creationId id="{E6665CCB-DDE3-49D6-BB34-0BBFED45FE5B}"/>
                  </a:ext>
                </a:extLst>
              </p:cNvPr>
              <p:cNvSpPr txBox="1"/>
              <p:nvPr/>
            </p:nvSpPr>
            <p:spPr>
              <a:xfrm flipH="false" flipV="false">
                <a:off x="8327013" y="2737627"/>
                <a:ext cx="639919" cy="584775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txBody>
              <a:bodyPr anchorCtr="false" rtlCol="0" wrap="none">
                <a:spAutoFit/>
              </a:bodyPr>
              <a:lstStyle>
                <a:defPPr>
                  <a:defRPr lang="zh-CN"/>
                </a:defPPr>
                <a:lvl1pPr>
                  <a:defRPr b="1" i="1" sz="320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3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true" i="true" lang="en-US" sz="32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23c983c3-c95c-4e8a-a1a8-e0a8b9f61b49" id="6" name="Bullet3">
                <a:extLst>
                  <a:ext uri="{FF2B5EF4-FFF2-40B4-BE49-F238E27FC236}">
                    <a16:creationId id="{0313E0C5-A949-4584-B225-2BF1100287F8}"/>
                  </a:ext>
                </a:extLst>
              </p:cNvPr>
              <p:cNvSpPr txBox="1"/>
              <p:nvPr/>
            </p:nvSpPr>
            <p:spPr>
              <a:xfrm flipH="false" flipV="false">
                <a:off x="8355889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优化资源利用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降低运营成本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86310662-db3b-4a31-a228-10bc6a56aaeb" id="24" name="09d8c31b-048c-4203-8746-0acb7d2eb967.source.3.zh-Hans.pptx">
            <a:extLst>
              <a:ext uri="{FF2B5EF4-FFF2-40B4-BE49-F238E27FC236}">
                <a16:creationId id="{8A87771D-9DC5-700D-D885-FBD089EC9644}"/>
              </a:ext>
            </a:extLst>
          </p:cNvPr>
          <p:cNvGrpSpPr/>
          <p:nvPr/>
        </p:nvGrpSpPr>
        <p:grpSpPr>
          <a:xfrm>
            <a:off x="644525" y="1130300"/>
            <a:ext cx="10888663" cy="5003800"/>
            <a:chOff x="644525" y="1130300"/>
            <a:chExt cx="10888663" cy="5003800"/>
          </a:xfrm>
        </p:grpSpPr>
        <p:grpSp>
          <p:nvGrpSpPr>
            <p:cNvPr descr="7c7bd298-8359-42cf-9f84-d00c0fcf0686" id="23" name="组合 22">
              <a:extLst>
                <a:ext uri="{FF2B5EF4-FFF2-40B4-BE49-F238E27FC236}">
                  <a16:creationId id="{AC0EF2BB-7EA7-1457-63D1-2D80E211C36F}"/>
                </a:ext>
              </a:extLst>
            </p:cNvPr>
            <p:cNvGrpSpPr/>
            <p:nvPr/>
          </p:nvGrpSpPr>
          <p:grpSpPr>
            <a:xfrm>
              <a:off x="644525" y="1892482"/>
              <a:ext cx="10888663" cy="4241618"/>
              <a:chOff x="644525" y="1892482"/>
              <a:chExt cx="10888663" cy="4241618"/>
            </a:xfrm>
          </p:grpSpPr>
          <p:grpSp>
            <p:nvGrpSpPr>
              <p:cNvPr descr="b2a95f2d-3027-426c-bdbc-87ea0c9839e9" id="20" name="组合 19">
                <a:extLst>
                  <a:ext uri="{FF2B5EF4-FFF2-40B4-BE49-F238E27FC236}">
                    <a16:creationId id="{5F2F066E-EAC5-F579-F619-DCF0F7C68465}"/>
                  </a:ext>
                </a:extLst>
              </p:cNvPr>
              <p:cNvGrpSpPr/>
              <p:nvPr/>
            </p:nvGrpSpPr>
            <p:grpSpPr>
              <a:xfrm>
                <a:off x="658813" y="1892482"/>
                <a:ext cx="10874375" cy="1136732"/>
                <a:chOff x="658813" y="1930437"/>
                <a:chExt cx="10874375" cy="1136732"/>
              </a:xfrm>
            </p:grpSpPr>
            <p:sp>
              <p:nvSpPr>
                <p:cNvPr descr="1f7f5b83-c5ea-4cc2-add8-043ee68b3e4c" id="2" name="矩形: 圆角 1">
                  <a:extLst>
                    <a:ext uri="{FF2B5EF4-FFF2-40B4-BE49-F238E27FC236}">
                      <a16:creationId id="{67F9D564-71F1-4741-82B3-4DBEFB8966EB}"/>
                    </a:ext>
                  </a:extLst>
                </p:cNvPr>
                <p:cNvSpPr/>
                <p:nvPr/>
              </p:nvSpPr>
              <p:spPr>
                <a:xfrm flipH="false" flipV="false">
                  <a:off x="658813" y="2057739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15000"/>
                  </a:schemeClr>
                </a:solidFill>
                <a:ln w="6350">
                  <a:noFill/>
                </a:ln>
              </p:spPr>
              <p:txBody>
                <a:bodyPr anchor="ctr" anchorCtr="false" bIns="46800" lIns="90000" rIns="90000" rtlCol="0" tIns="46800" vert="horz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</a:p>
              </p:txBody>
            </p:sp>
            <p:sp>
              <p:nvSpPr>
                <p:cNvPr descr="3fdd6c4b-8e87-4945-9cc7-6d02141ba37a" id="3" name="Number1">
                  <a:extLst>
                    <a:ext uri="{FF2B5EF4-FFF2-40B4-BE49-F238E27FC236}">
                      <a16:creationId id="{AD76E0F4-1C3A-4A5C-A519-AED07CE30D0F}"/>
                    </a:ext>
                  </a:extLst>
                </p:cNvPr>
                <p:cNvSpPr/>
                <p:nvPr/>
              </p:nvSpPr>
              <p:spPr>
                <a:xfrm flipH="false" flipV="false">
                  <a:off x="1749337" y="1930437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cap="rnd" w="57150">
                  <a:noFill/>
                  <a:prstDash val="solid"/>
                  <a:round/>
                </a:ln>
                <a:effectLst>
                  <a:outerShdw algn="ctr" blurRad="76200" dir="5400000" dist="50800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b="true" i="false" lang="en-US" sz="2800" u="none">
                      <a:solidFill>
                        <a:srgbClr val="FFFFFF"/>
                      </a:solidFill>
                      <a:latin typeface="Arial"/>
                    </a:rPr>
                    <a:t>01-</a:t>
                  </a:r>
                </a:p>
              </p:txBody>
            </p:sp>
            <p:grpSp>
              <p:nvGrpSpPr>
                <p:cNvPr descr="8c7d76ea-51d0-4daa-bb97-879f723c982b" id="17" name="组合 16">
                  <a:extLst>
                    <a:ext uri="{FF2B5EF4-FFF2-40B4-BE49-F238E27FC236}">
                      <a16:creationId id="{0217C5E1-42B2-9851-00F8-FE03EB7D838E}"/>
                    </a:ext>
                  </a:extLst>
                </p:cNvPr>
                <p:cNvGrpSpPr/>
                <p:nvPr/>
              </p:nvGrpSpPr>
              <p:grpSpPr>
                <a:xfrm>
                  <a:off x="3119717" y="2174492"/>
                  <a:ext cx="7556589" cy="648622"/>
                  <a:chOff x="3119717" y="2174492"/>
                  <a:chExt cx="7556589" cy="648622"/>
                </a:xfrm>
              </p:grpSpPr>
              <p:sp>
                <p:nvSpPr>
                  <p:cNvPr descr="5c12ce93-3731-400e-be42-a22e7f2d6458" id="4" name="Bullet1">
                    <a:extLst>
                      <a:ext uri="{FF2B5EF4-FFF2-40B4-BE49-F238E27FC236}">
                        <a16:creationId id="{3998689F-A193-493C-9843-2145090E251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3119717" y="2174492"/>
                    <a:ext cx="2592461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汉仪行楷简"/>
                      </a:rPr>
                      <a:t>个性化服务</a:t>
                    </a:r>
                  </a:p>
                </p:txBody>
              </p:sp>
              <p:sp>
                <p:nvSpPr>
                  <p:cNvPr descr="7895b58e-8bce-4093-85e2-475b5cbb6f08" id="5" name="Text1">
                    <a:extLst>
                      <a:ext uri="{FF2B5EF4-FFF2-40B4-BE49-F238E27FC236}">
                        <a16:creationId id="{5DE5B607-96A3-4B8B-92C6-A66FF239AB8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6208890" y="2174492"/>
                    <a:ext cx="4467416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思源黑体 CN Regular"/>
                      </a:rPr>
                      <a:t>人工智能可以根据客户的需求和行为习惯，提供个性化的保险产品和服务，满足客户的多样化需求。</a:t>
                    </a:r>
                  </a:p>
                </p:txBody>
              </p:sp>
            </p:grpSp>
          </p:grpSp>
          <p:grpSp>
            <p:nvGrpSpPr>
              <p:cNvPr descr="fcdc4db8-3b06-46bc-8c2f-f8f3fa313b21" id="21" name="组合 20">
                <a:extLst>
                  <a:ext uri="{FF2B5EF4-FFF2-40B4-BE49-F238E27FC236}">
                    <a16:creationId id="{9BB14AE1-9CFE-D74E-D9AF-0916D5B92DEF}"/>
                  </a:ext>
                </a:extLst>
              </p:cNvPr>
              <p:cNvGrpSpPr/>
              <p:nvPr/>
            </p:nvGrpSpPr>
            <p:grpSpPr>
              <a:xfrm>
                <a:off x="644525" y="3444925"/>
                <a:ext cx="10874375" cy="1136732"/>
                <a:chOff x="644525" y="3489746"/>
                <a:chExt cx="10874375" cy="1136732"/>
              </a:xfrm>
            </p:grpSpPr>
            <p:sp>
              <p:nvSpPr>
                <p:cNvPr descr="a5730a50-61d7-48b9-85a6-6915cf619c10" id="6" name="矩形: 圆角 5">
                  <a:extLst>
                    <a:ext uri="{FF2B5EF4-FFF2-40B4-BE49-F238E27FC236}">
                      <a16:creationId id="{2E0F664F-ECE8-493F-A4ED-F66D85369B59}"/>
                    </a:ext>
                  </a:extLst>
                </p:cNvPr>
                <p:cNvSpPr/>
                <p:nvPr/>
              </p:nvSpPr>
              <p:spPr>
                <a:xfrm flipH="false" flipV="false">
                  <a:off x="644525" y="3617048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15000"/>
                  </a:schemeClr>
                </a:solidFill>
                <a:ln w="6350">
                  <a:noFill/>
                </a:ln>
              </p:spPr>
              <p:txBody>
                <a:bodyPr anchor="ctr" anchorCtr="false" bIns="46800" lIns="90000" rIns="90000" rtlCol="0" tIns="46800" vert="horz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</a:p>
              </p:txBody>
            </p:sp>
            <p:sp>
              <p:nvSpPr>
                <p:cNvPr descr="e0505ba1-919e-43ab-9766-45937b1c3978" id="7" name="Number2">
                  <a:extLst>
                    <a:ext uri="{FF2B5EF4-FFF2-40B4-BE49-F238E27FC236}">
                      <a16:creationId id="{F63E13ED-54F4-4AB2-B800-1AC548CFC4C3}"/>
                    </a:ext>
                  </a:extLst>
                </p:cNvPr>
                <p:cNvSpPr/>
                <p:nvPr/>
              </p:nvSpPr>
              <p:spPr>
                <a:xfrm flipH="false" flipV="false">
                  <a:off x="1735049" y="3489746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cap="rnd" w="57150">
                  <a:noFill/>
                  <a:prstDash val="solid"/>
                  <a:round/>
                </a:ln>
                <a:effectLst>
                  <a:outerShdw algn="ctr" blurRad="76200" dir="5400000" dist="508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b="true" i="false" lang="en-US" sz="2800" u="none">
                      <a:solidFill>
                        <a:srgbClr val="FFFFFF"/>
                      </a:solidFill>
                      <a:latin typeface="Arial"/>
                    </a:rPr>
                    <a:t>02-</a:t>
                  </a:r>
                </a:p>
              </p:txBody>
            </p:sp>
            <p:grpSp>
              <p:nvGrpSpPr>
                <p:cNvPr descr="9990193d-5461-45a1-ada5-2b1cc0afdaeb" id="18" name="组合 17">
                  <a:extLst>
                    <a:ext uri="{FF2B5EF4-FFF2-40B4-BE49-F238E27FC236}">
                      <a16:creationId id="{DE66762C-B938-9C70-44BE-8F9CDA368086}"/>
                    </a:ext>
                  </a:extLst>
                </p:cNvPr>
                <p:cNvGrpSpPr/>
                <p:nvPr/>
              </p:nvGrpSpPr>
              <p:grpSpPr>
                <a:xfrm>
                  <a:off x="3105429" y="3733801"/>
                  <a:ext cx="7556589" cy="648622"/>
                  <a:chOff x="3105429" y="3733801"/>
                  <a:chExt cx="7556589" cy="648622"/>
                </a:xfrm>
              </p:grpSpPr>
              <p:sp>
                <p:nvSpPr>
                  <p:cNvPr descr="a2f81294-8bdd-4152-870d-69ccd85ec038" id="8" name="Bullet2">
                    <a:extLst>
                      <a:ext uri="{FF2B5EF4-FFF2-40B4-BE49-F238E27FC236}">
                        <a16:creationId id="{9CAE9025-1F3A-412C-9A2F-9249550D84B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3105429" y="3733801"/>
                    <a:ext cx="2592461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汉仪行楷简"/>
                      </a:rPr>
                      <a:t>智能咨询</a:t>
                    </a:r>
                  </a:p>
                </p:txBody>
              </p:sp>
              <p:sp>
                <p:nvSpPr>
                  <p:cNvPr descr="dbf202ac-0417-42c1-8143-70394311e5af" id="9" name="Text2">
                    <a:extLst>
                      <a:ext uri="{FF2B5EF4-FFF2-40B4-BE49-F238E27FC236}">
                        <a16:creationId id="{05EDE060-0B75-467F-83E0-B7334422E52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6194602" y="3733801"/>
                    <a:ext cx="4467416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思源黑体 CN Regular"/>
                      </a:rPr>
                      <a:t>通过智能客服和聊天机器人，客户可以随时随地获取保险咨询和解答，提升客户的便捷感和满意度。</a:t>
                    </a:r>
                  </a:p>
                </p:txBody>
              </p:sp>
            </p:grpSp>
          </p:grpSp>
          <p:grpSp>
            <p:nvGrpSpPr>
              <p:cNvPr descr="74db8b7e-821e-497e-a5dc-6c25100c96d2" id="22" name="组合 21">
                <a:extLst>
                  <a:ext uri="{FF2B5EF4-FFF2-40B4-BE49-F238E27FC236}">
                    <a16:creationId id="{798339C3-EDAF-ECE9-81B1-E7FA7E95A031}"/>
                  </a:ext>
                </a:extLst>
              </p:cNvPr>
              <p:cNvGrpSpPr/>
              <p:nvPr/>
            </p:nvGrpSpPr>
            <p:grpSpPr>
              <a:xfrm>
                <a:off x="658812" y="4997368"/>
                <a:ext cx="10874375" cy="1136732"/>
                <a:chOff x="658812" y="5035323"/>
                <a:chExt cx="10874375" cy="1136732"/>
              </a:xfrm>
            </p:grpSpPr>
            <p:sp>
              <p:nvSpPr>
                <p:cNvPr descr="ee0a5282-5684-49d2-b53c-e100e601e49c" id="10" name="矩形: 圆角 9">
                  <a:extLst>
                    <a:ext uri="{FF2B5EF4-FFF2-40B4-BE49-F238E27FC236}">
                      <a16:creationId id="{DAE6CA78-FF7D-404C-A476-CFCD3C0BD2C0}"/>
                    </a:ext>
                  </a:extLst>
                </p:cNvPr>
                <p:cNvSpPr/>
                <p:nvPr/>
              </p:nvSpPr>
              <p:spPr>
                <a:xfrm flipH="false" flipV="false">
                  <a:off x="658812" y="5162625"/>
                  <a:ext cx="10874375" cy="882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15000"/>
                  </a:schemeClr>
                </a:solidFill>
                <a:ln w="6350">
                  <a:noFill/>
                </a:ln>
              </p:spPr>
              <p:txBody>
                <a:bodyPr anchor="ctr" anchorCtr="false" bIns="46800" lIns="90000" rIns="90000" rtlCol="0" tIns="46800" vert="horz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</a:p>
              </p:txBody>
            </p:sp>
            <p:sp>
              <p:nvSpPr>
                <p:cNvPr descr="22ff8b93-f238-4307-9dae-5de1899f6e3a" id="11" name="Number3">
                  <a:extLst>
                    <a:ext uri="{FF2B5EF4-FFF2-40B4-BE49-F238E27FC236}">
                      <a16:creationId id="{C35C6658-2B1A-4BC0-AFE8-1628045B0BBA}"/>
                    </a:ext>
                  </a:extLst>
                </p:cNvPr>
                <p:cNvSpPr/>
                <p:nvPr/>
              </p:nvSpPr>
              <p:spPr>
                <a:xfrm flipH="false" flipV="false">
                  <a:off x="1749336" y="5035323"/>
                  <a:ext cx="1136738" cy="1136732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cap="rnd" w="57150">
                  <a:noFill/>
                  <a:prstDash val="solid"/>
                  <a:round/>
                </a:ln>
                <a:effectLst>
                  <a:outerShdw algn="ctr" blurRad="76200" dir="5400000" dist="50800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b="true" i="false" lang="en-US" sz="2800" u="none">
                      <a:solidFill>
                        <a:srgbClr val="FFFFFF"/>
                      </a:solidFill>
                      <a:latin typeface="Arial"/>
                    </a:rPr>
                    <a:t>03-</a:t>
                  </a:r>
                </a:p>
              </p:txBody>
            </p:sp>
            <p:grpSp>
              <p:nvGrpSpPr>
                <p:cNvPr descr="bbd68a51-7ba7-4bf8-95bc-8e4e5b963914" id="19" name="组合 18">
                  <a:extLst>
                    <a:ext uri="{FF2B5EF4-FFF2-40B4-BE49-F238E27FC236}">
                      <a16:creationId id="{321FD1EB-4C8C-9022-C1B1-2BFC9F379730}"/>
                    </a:ext>
                  </a:extLst>
                </p:cNvPr>
                <p:cNvGrpSpPr/>
                <p:nvPr/>
              </p:nvGrpSpPr>
              <p:grpSpPr>
                <a:xfrm>
                  <a:off x="3119716" y="5279378"/>
                  <a:ext cx="7556589" cy="648622"/>
                  <a:chOff x="3119716" y="5279378"/>
                  <a:chExt cx="7556589" cy="648622"/>
                </a:xfrm>
              </p:grpSpPr>
              <p:sp>
                <p:nvSpPr>
                  <p:cNvPr descr="c24bb998-b13b-4596-9604-68edef76f2d1" id="12" name="Bullet3">
                    <a:extLst>
                      <a:ext uri="{FF2B5EF4-FFF2-40B4-BE49-F238E27FC236}">
                        <a16:creationId id="{5C5B16D4-0804-4787-8397-035F54C06E7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3119716" y="5279378"/>
                    <a:ext cx="2592461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/>
                  <a:p>
                    <a:pPr algn="l"/>
                    <a:r>
                      <a:rPr b="true" i="false" lang="en-US" sz="1800" u="none">
                        <a:solidFill>
                          <a:srgbClr val="FFFFFF"/>
                        </a:solidFill>
                        <a:ea typeface="汉仪行楷简"/>
                      </a:rPr>
                      <a:t>便捷操作</a:t>
                    </a:r>
                  </a:p>
                </p:txBody>
              </p:sp>
              <p:sp>
                <p:nvSpPr>
                  <p:cNvPr descr="14907041-4cde-4e1b-bc5b-c3ee628d4cea" id="13" name="Text3">
                    <a:extLst>
                      <a:ext uri="{FF2B5EF4-FFF2-40B4-BE49-F238E27FC236}">
                        <a16:creationId id="{2ECFEBCE-3E2A-4724-9F69-BF83F71B61B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6208889" y="5279378"/>
                    <a:ext cx="4467416" cy="648622"/>
                  </a:xfrm>
                  <a:prstGeom prst="rect">
                    <a:avLst/>
                  </a:prstGeom>
                  <a:noFill/>
                </p:spPr>
                <p:txBody>
                  <a:bodyPr anchor="ctr" anchorCtr="false" rtlCol="0" wrap="square">
                    <a:normAutofit/>
                  </a:bodyPr>
                  <a:lstStyle>
                    <a:defPPr>
                      <a:defRPr lang="zh-CN"/>
                    </a:defPPr>
                    <a:lvl1pPr>
                      <a:lnSpc>
                        <a:spcPts val="1500"/>
                      </a:lnSpc>
                      <a:defRPr sz="900"/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latin typeface="Average"/>
                      </a:rPr>
                      <a:t>AI技术可以简化保险业务流程和操作步骤，让客户更轻松地购买和管理保险产品，提高客户黏性。</a:t>
                    </a:r>
                  </a:p>
                </p:txBody>
              </p:sp>
            </p:grpSp>
          </p:grpSp>
        </p:grpSp>
        <p:sp>
          <p:nvSpPr>
            <p:cNvPr descr="67cd3941-c2c6-4546-b462-cdf9744ee072" id="14" name="Title">
              <a:extLst>
                <a:ext uri="{FF2B5EF4-FFF2-40B4-BE49-F238E27FC236}">
                  <a16:creationId id="{1CB64835-7114-B6E3-05F9-D5ADD24D7928}"/>
                </a:ext>
              </a:extLst>
            </p:cNvPr>
            <p:cNvSpPr/>
            <p:nvPr/>
          </p:nvSpPr>
          <p:spPr>
            <a:xfrm flipH="false" flipV="false">
              <a:off x="660400" y="1130300"/>
              <a:ext cx="10858500" cy="681247"/>
            </a:xfrm>
            <a:prstGeom prst="rect">
              <a:avLst/>
            </a:prstGeom>
          </p:spPr>
          <p:txBody>
            <a:bodyPr anchor="t" anchorCtr="true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分析AI如何提升客户体验</a:t>
              </a:r>
            </a:p>
          </p:txBody>
        </p: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优化客户体验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9c805a49-5add-4a8d-bf64-16dc67af4079" id="8" name="1955e6a3-65eb-4a9b-bef5-6ccc3ec5da36.source.3.zh-Hans.pptx">
            <a:extLst>
              <a:ext uri="{FF2B5EF4-FFF2-40B4-BE49-F238E27FC236}">
                <a16:creationId id="{DE3FFE87-2144-15A4-6773-C664973CB708}"/>
              </a:ext>
            </a:extLst>
          </p:cNvPr>
          <p:cNvGrpSpPr/>
          <p:nvPr/>
        </p:nvGrpSpPr>
        <p:grpSpPr>
          <a:xfrm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descr="496d9961-a997-4f0d-a5a0-b3f826508333" id="9" name="任意多边形: 形状 8">
              <a:extLst>
                <a:ext uri="{FF2B5EF4-FFF2-40B4-BE49-F238E27FC236}">
                  <a16:creationId id="{E21CA85F-41F5-4507-92EF-A1F9F570E95C}"/>
                </a:ext>
              </a:extLst>
            </p:cNvPr>
            <p:cNvSpPr/>
            <p:nvPr/>
          </p:nvSpPr>
          <p:spPr>
            <a:xfrm flipH="false" flipV="false">
              <a:off x="695325" y="1040108"/>
              <a:ext cx="10801350" cy="5184183"/>
            </a:xfrm>
            <a:custGeom>
              <a:avLst/>
              <a:gdLst>
                <a:gd fmla="*/ 443220 w 10801350" name="connsiteX0"/>
                <a:gd fmla="*/ 0 h 5184183" name="connsiteY0"/>
                <a:gd fmla="*/ 1138467 w 10801350" name="connsiteX1"/>
                <a:gd fmla="*/ 0 h 5184183" name="connsiteY1"/>
                <a:gd fmla="*/ 1303588 w 10801350" name="connsiteX2"/>
                <a:gd fmla="*/ 147234 h 5184183" name="connsiteY2"/>
                <a:gd fmla="*/ 3754333 w 10801350" name="connsiteX3"/>
                <a:gd fmla="*/ 147234 h 5184183" name="connsiteY3"/>
                <a:gd fmla="*/ 3910763 w 10801350" name="connsiteX4"/>
                <a:gd fmla="*/ 7750 h 5184183" name="connsiteY4"/>
                <a:gd fmla="*/ 5997575 w 10801350" name="connsiteX5"/>
                <a:gd fmla="*/ 7750 h 5184183" name="connsiteY5"/>
                <a:gd fmla="*/ 6200775 w 10801350" name="connsiteX6"/>
                <a:gd fmla="*/ 7750 h 5184183" name="connsiteY6"/>
                <a:gd fmla="*/ 10245152 w 10801350" name="connsiteX7"/>
                <a:gd fmla="*/ 7750 h 5184183" name="connsiteY7"/>
                <a:gd fmla="*/ 10792658 w 10801350" name="connsiteX8"/>
                <a:gd fmla="*/ 495946 h 5184183" name="connsiteY8"/>
                <a:gd fmla="*/ 10792658 w 10801350" name="connsiteX9"/>
                <a:gd fmla="*/ 3556861 h 5184183" name="connsiteY9"/>
                <a:gd fmla="*/ 10679682 w 10801350" name="connsiteX10"/>
                <a:gd fmla="*/ 3657599 h 5184183" name="connsiteY10"/>
                <a:gd fmla="*/ 10679682 w 10801350" name="connsiteX11"/>
                <a:gd fmla="*/ 4587499 h 5184183" name="connsiteY11"/>
                <a:gd fmla="*/ 10801350 w 10801350" name="connsiteX12"/>
                <a:gd fmla="*/ 4695987 h 5184183" name="connsiteY12"/>
                <a:gd fmla="*/ 10801350 w 10801350" name="connsiteX13"/>
                <a:gd fmla="*/ 4990454 h 5184183" name="connsiteY13"/>
                <a:gd fmla="*/ 10592776 w 10801350" name="connsiteX14"/>
                <a:gd fmla="*/ 5176434 h 5184183" name="connsiteY14"/>
                <a:gd fmla="*/ 9723717 w 10801350" name="connsiteX15"/>
                <a:gd fmla="*/ 5176434 h 5184183" name="connsiteY15"/>
                <a:gd fmla="*/ 9549906 w 10801350" name="connsiteX16"/>
                <a:gd fmla="*/ 5021451 h 5184183" name="connsiteY16"/>
                <a:gd fmla="*/ 7159995 w 10801350" name="connsiteX17"/>
                <a:gd fmla="*/ 5021451 h 5184183" name="connsiteY17"/>
                <a:gd fmla="*/ 6977493 w 10801350" name="connsiteX18"/>
                <a:gd fmla="*/ 5184183 h 5184183" name="connsiteY18"/>
                <a:gd fmla="*/ 6200775 w 10801350" name="connsiteX19"/>
                <a:gd fmla="*/ 5184183 h 5184183" name="connsiteY19"/>
                <a:gd fmla="*/ 5997575 w 10801350" name="connsiteX20"/>
                <a:gd fmla="*/ 5184183 h 5184183" name="connsiteY20"/>
                <a:gd fmla="*/ 608342 w 10801350" name="connsiteX21"/>
                <a:gd fmla="*/ 5184183 h 5184183" name="connsiteY21"/>
                <a:gd fmla="*/ 26073 w 10801350" name="connsiteX22"/>
                <a:gd fmla="*/ 4664990 h 5184183" name="connsiteY22"/>
                <a:gd fmla="*/ 26073 w 10801350" name="connsiteX23"/>
                <a:gd fmla="*/ 3386380 h 5184183" name="connsiteY23"/>
                <a:gd fmla="*/ 139049 w 10801350" name="connsiteX24"/>
                <a:gd fmla="*/ 3285642 h 5184183" name="connsiteY24"/>
                <a:gd fmla="*/ 139049 w 10801350" name="connsiteX25"/>
                <a:gd fmla="*/ 2076773 h 5184183" name="connsiteY25"/>
                <a:gd fmla="*/ 0 w 10801350" name="connsiteX26"/>
                <a:gd fmla="*/ 1952787 h 5184183" name="connsiteY26"/>
                <a:gd fmla="*/ 0 w 10801350" name="connsiteX27"/>
                <a:gd fmla="*/ 395207 h 5184183" name="connsiteY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b="b" l="l" r="r" t="t"/>
              <a:pathLst>
                <a:path h="5184183" w="10801350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67c2c5bd-3669-4037-99a4-f58b6dcfa75a" id="11" name="Title">
              <a:extLst>
                <a:ext uri="{FF2B5EF4-FFF2-40B4-BE49-F238E27FC236}">
                  <a16:creationId id="{EAE2587F-9AD4-4782-97C8-BF83BA61A2B4}"/>
                </a:ext>
              </a:extLst>
            </p:cNvPr>
            <p:cNvSpPr/>
            <p:nvPr/>
          </p:nvSpPr>
          <p:spPr>
            <a:xfrm flipH="false" flipV="false">
              <a:off x="2795404" y="1716476"/>
              <a:ext cx="6601193" cy="1214199"/>
            </a:xfrm>
            <a:prstGeom prst="trapezoid">
              <a:avLst>
                <a:gd fmla="val 39524" name="adj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0"/>
            </a:gradFill>
          </p:spPr>
          <p:txBody>
            <a:bodyPr anchor="ctr" anchorCtr="false" bIns="108000" lIns="108000" rIns="108000" rtlCol="0" tIns="108000" wrap="non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了解AI如何增强风险控制</a:t>
              </a:r>
            </a:p>
          </p:txBody>
        </p:sp>
        <p:sp>
          <p:nvSpPr>
            <p:cNvPr descr="baf59e68-e1ab-4c43-b9d7-2bce7bcce07f" id="13" name="平行四边形 12">
              <a:extLst>
                <a:ext uri="{FF2B5EF4-FFF2-40B4-BE49-F238E27FC236}">
                  <a16:creationId id="{345B3E85-C066-4F55-9854-A68F96841C56}"/>
                </a:ext>
              </a:extLst>
            </p:cNvPr>
            <p:cNvSpPr/>
            <p:nvPr/>
          </p:nvSpPr>
          <p:spPr>
            <a:xfrm flipH="false" flipV="true">
              <a:off x="9076740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b1fb4c77-19cf-4b48-945b-66b9dbce19fd" id="14" name="平行四边形 13">
              <a:extLst>
                <a:ext uri="{FF2B5EF4-FFF2-40B4-BE49-F238E27FC236}">
                  <a16:creationId id="{FAE05313-DFC0-497F-A68D-2E0360E53655}"/>
                </a:ext>
              </a:extLst>
            </p:cNvPr>
            <p:cNvSpPr/>
            <p:nvPr/>
          </p:nvSpPr>
          <p:spPr>
            <a:xfrm flipH="false" flipV="true">
              <a:off x="9759479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9800af90-4f0c-4ceb-bacc-0a26e369819c" id="15" name="平行四边形 14">
              <a:extLst>
                <a:ext uri="{FF2B5EF4-FFF2-40B4-BE49-F238E27FC236}">
                  <a16:creationId id="{6C7AA0A5-BB99-4B37-8F9E-4FD0429C1969}"/>
                </a:ext>
              </a:extLst>
            </p:cNvPr>
            <p:cNvSpPr/>
            <p:nvPr/>
          </p:nvSpPr>
          <p:spPr>
            <a:xfrm flipH="false" flipV="false">
              <a:off x="2125461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9689aa79-2669-4893-80c8-6a130a4ee242" id="16" name="平行四边形 15">
              <a:extLst>
                <a:ext uri="{FF2B5EF4-FFF2-40B4-BE49-F238E27FC236}">
                  <a16:creationId id="{172D278D-E5B4-4DF9-BE67-D785E0006CBC}"/>
                </a:ext>
              </a:extLst>
            </p:cNvPr>
            <p:cNvSpPr/>
            <p:nvPr/>
          </p:nvSpPr>
          <p:spPr>
            <a:xfrm flipH="false" flipV="false">
              <a:off x="1442723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>
                <a:lnSpc>
                  <a:spcPct val="120000"/>
                </a:lnSpc>
              </a:pPr>
            </a:p>
          </p:txBody>
        </p:sp>
        <p:grpSp>
          <p:nvGrpSpPr>
            <p:cNvPr descr="7fbfda63-de7d-4de6-95c8-93e8f5d9af43" id="2" name="组合 1">
              <a:extLst>
                <a:ext uri="{FF2B5EF4-FFF2-40B4-BE49-F238E27FC236}">
                  <a16:creationId id="{4742ADAB-8FFB-A8B1-A3BB-7BFD9CC3FA39}"/>
                </a:ext>
              </a:extLst>
            </p:cNvPr>
            <p:cNvGrpSpPr/>
            <p:nvPr/>
          </p:nvGrpSpPr>
          <p:grpSpPr>
            <a:xfrm>
              <a:off x="2040295" y="3379491"/>
              <a:ext cx="2172594" cy="2261616"/>
              <a:chOff x="2040295" y="3379491"/>
              <a:chExt cx="2172594" cy="2261616"/>
            </a:xfrm>
          </p:grpSpPr>
          <p:sp>
            <p:nvSpPr>
              <p:cNvPr descr="15d43bd4-5a0b-4933-a4f7-11973ea88d9c" id="24" name="Number1">
                <a:extLst>
                  <a:ext uri="{FF2B5EF4-FFF2-40B4-BE49-F238E27FC236}">
                    <a16:creationId id="{7F43DD11-9989-47EF-9543-2675DB8B8C83}"/>
                  </a:ext>
                </a:extLst>
              </p:cNvPr>
              <p:cNvSpPr/>
              <p:nvPr/>
            </p:nvSpPr>
            <p:spPr>
              <a:xfrm flipH="false" flipV="false">
                <a:off x="2040295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77722a5a-f2a2-4793-a688-c78470f52e69" id="21" name="Text1">
                <a:extLst>
                  <a:ext uri="{FF2B5EF4-FFF2-40B4-BE49-F238E27FC236}">
                    <a16:creationId id="{3DDB2467-8AB6-4087-9985-12C58DE378E8}"/>
                  </a:ext>
                </a:extLst>
              </p:cNvPr>
              <p:cNvSpPr txBox="1"/>
              <p:nvPr/>
            </p:nvSpPr>
            <p:spPr>
              <a:xfrm flipH="false" flipV="false">
                <a:off x="2040295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人工智能可以通过数据分析和模型预测，帮助保险公司更准确地识别和评估风险，提前做好防范。</a:t>
                </a:r>
              </a:p>
            </p:txBody>
          </p:sp>
          <p:sp>
            <p:nvSpPr>
              <p:cNvPr descr="51b50024-4098-444e-9cb7-aed6a86c6d39" id="5" name="Bullet1">
                <a:extLst>
                  <a:ext uri="{FF2B5EF4-FFF2-40B4-BE49-F238E27FC236}">
                    <a16:creationId id="{C78FE511-4C9E-F9C4-0545-9031EB2AF5F3}"/>
                  </a:ext>
                </a:extLst>
              </p:cNvPr>
              <p:cNvSpPr txBox="1"/>
              <p:nvPr/>
            </p:nvSpPr>
            <p:spPr>
              <a:xfrm flipH="false" flipV="false">
                <a:off x="2040295" y="4103371"/>
                <a:ext cx="2172594" cy="47263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风险识别</a:t>
                </a:r>
              </a:p>
            </p:txBody>
          </p:sp>
        </p:grpSp>
        <p:grpSp>
          <p:nvGrpSpPr>
            <p:cNvPr descr="8eaf414f-7326-4ced-b4c9-8bbdb5c71c9a" id="3" name="组合 2">
              <a:extLst>
                <a:ext uri="{FF2B5EF4-FFF2-40B4-BE49-F238E27FC236}">
                  <a16:creationId id="{26E5461A-F490-67DA-5683-0187D14EF0E1}"/>
                </a:ext>
              </a:extLst>
            </p:cNvPr>
            <p:cNvGrpSpPr/>
            <p:nvPr/>
          </p:nvGrpSpPr>
          <p:grpSpPr>
            <a:xfrm>
              <a:off x="5009704" y="3379491"/>
              <a:ext cx="2172594" cy="2261616"/>
              <a:chOff x="5009704" y="3379491"/>
              <a:chExt cx="2172594" cy="2261616"/>
            </a:xfrm>
          </p:grpSpPr>
          <p:sp>
            <p:nvSpPr>
              <p:cNvPr descr="920487c8-e889-496e-883e-5777336a9b21" id="10" name="Number2">
                <a:extLst>
                  <a:ext uri="{FF2B5EF4-FFF2-40B4-BE49-F238E27FC236}">
                    <a16:creationId id="{595008C8-BE7F-0642-AB63-E125674FE5F4}"/>
                  </a:ext>
                </a:extLst>
              </p:cNvPr>
              <p:cNvSpPr/>
              <p:nvPr/>
            </p:nvSpPr>
            <p:spPr>
              <a:xfrm flipH="false" flipV="false">
                <a:off x="5009704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6ebd5974-2da4-4fe5-a21c-63c09a4bd180" id="17" name="Text2">
                <a:extLst>
                  <a:ext uri="{FF2B5EF4-FFF2-40B4-BE49-F238E27FC236}">
                    <a16:creationId id="{7EC9D1F3-14B6-1D78-2D4F-780F716D4852}"/>
                  </a:ext>
                </a:extLst>
              </p:cNvPr>
              <p:cNvSpPr txBox="1"/>
              <p:nvPr/>
            </p:nvSpPr>
            <p:spPr>
              <a:xfrm flipH="false" flipV="false">
                <a:off x="5009704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通过实时监测和分析，人工智能可以及时发现潜在风险，并提醒保险公司采取相应措施进行防范。</a:t>
                </a:r>
              </a:p>
            </p:txBody>
          </p:sp>
          <p:sp>
            <p:nvSpPr>
              <p:cNvPr descr="4cdfee6a-45af-48ca-9a39-17cf13a5919e" id="18" name="Bullet2">
                <a:extLst>
                  <a:ext uri="{FF2B5EF4-FFF2-40B4-BE49-F238E27FC236}">
                    <a16:creationId id="{F7F049A7-7EAD-E85A-6BC8-7C716BC59805}"/>
                  </a:ext>
                </a:extLst>
              </p:cNvPr>
              <p:cNvSpPr txBox="1"/>
              <p:nvPr/>
            </p:nvSpPr>
            <p:spPr>
              <a:xfrm flipH="false" flipV="false">
                <a:off x="5009704" y="4103371"/>
                <a:ext cx="2172594" cy="47263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风险预警</a:t>
                </a:r>
              </a:p>
            </p:txBody>
          </p:sp>
        </p:grpSp>
        <p:grpSp>
          <p:nvGrpSpPr>
            <p:cNvPr descr="3ca272c0-bfe2-4d65-a9f7-7f3aa3a15b8f" id="22" name="组合 21">
              <a:extLst>
                <a:ext uri="{FF2B5EF4-FFF2-40B4-BE49-F238E27FC236}">
                  <a16:creationId id="{54CE5182-A998-C38E-0E32-A55CCBA5F0E0}"/>
                </a:ext>
              </a:extLst>
            </p:cNvPr>
            <p:cNvGrpSpPr/>
            <p:nvPr/>
          </p:nvGrpSpPr>
          <p:grpSpPr>
            <a:xfrm>
              <a:off x="7979112" y="3379491"/>
              <a:ext cx="2172594" cy="2261616"/>
              <a:chOff x="7979112" y="3379491"/>
              <a:chExt cx="2172594" cy="2261616"/>
            </a:xfrm>
          </p:grpSpPr>
          <p:sp>
            <p:nvSpPr>
              <p:cNvPr descr="cd716257-ef4f-4360-92b2-fa5f03e06f75" id="20" name="Number3">
                <a:extLst>
                  <a:ext uri="{FF2B5EF4-FFF2-40B4-BE49-F238E27FC236}">
                    <a16:creationId id="{4968227F-42F2-6FBE-6CB5-914AF839A5FC}"/>
                  </a:ext>
                </a:extLst>
              </p:cNvPr>
              <p:cNvSpPr/>
              <p:nvPr/>
            </p:nvSpPr>
            <p:spPr>
              <a:xfrm flipH="false" flipV="false">
                <a:off x="7979112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be79ed1b-da6d-432b-85ff-99b4d1b9ee86" id="28" name="Text3">
                <a:extLst>
                  <a:ext uri="{FF2B5EF4-FFF2-40B4-BE49-F238E27FC236}">
                    <a16:creationId id="{7636C720-1BCC-7DC0-BF1F-D88DF0432C1C}"/>
                  </a:ext>
                </a:extLst>
              </p:cNvPr>
              <p:cNvSpPr txBox="1"/>
              <p:nvPr/>
            </p:nvSpPr>
            <p:spPr>
              <a:xfrm flipH="false" flipV="false">
                <a:off x="7979112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基于大数据分析和人工智能技术，保险公司可以更科学地进行风险分散和产品设计，降低单一风险对整体业务的影响。</a:t>
                </a:r>
              </a:p>
            </p:txBody>
          </p:sp>
          <p:sp>
            <p:nvSpPr>
              <p:cNvPr descr="59d89808-943f-47bd-b503-6d35b86255e2" id="29" name="Bullet3">
                <a:extLst>
                  <a:ext uri="{FF2B5EF4-FFF2-40B4-BE49-F238E27FC236}">
                    <a16:creationId id="{5D1EF515-FB56-84CE-1E73-B5860D65A913}"/>
                  </a:ext>
                </a:extLst>
              </p:cNvPr>
              <p:cNvSpPr txBox="1"/>
              <p:nvPr/>
            </p:nvSpPr>
            <p:spPr>
              <a:xfrm flipH="false" flipV="false">
                <a:off x="7979112" y="4103371"/>
                <a:ext cx="2172594" cy="47263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风险分散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提升风险控制能力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585212c8-ec95-4eb9-8bc7-e9317f73ef0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latin typeface="Average"/>
              </a:rPr>
              <a:t>AI应用挑战与风险</a:t>
            </a:r>
          </a:p>
        </p:txBody>
      </p:sp>
      <p:sp>
        <p:nvSpPr>
          <p:cNvPr descr="8ff2b344-0921-4b78-962e-7ac53a72cd5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探讨AI在保险业应用面临的挑战与风险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daf1c736-af7c-497c-9c95-4a498012a59c" id="21" name="cab30aaf-5a66-4b3e-9aff-c20f99377c65.source.3.zh-Hans.pptx">
            <a:extLst>
              <a:ext uri="{FF2B5EF4-FFF2-40B4-BE49-F238E27FC236}">
                <a16:creationId id="{7C44EBF8-D02B-4004-532F-02847C26A77C}"/>
              </a:ext>
            </a:extLst>
          </p:cNvPr>
          <p:cNvGrpSpPr/>
          <p:nvPr/>
        </p:nvGrpSpPr>
        <p:grpSpPr>
          <a:xfrm>
            <a:off x="660401" y="1028700"/>
            <a:ext cx="10858501" cy="4576587"/>
            <a:chOff x="660401" y="1028700"/>
            <a:chExt cx="10858501" cy="4576587"/>
          </a:xfrm>
        </p:grpSpPr>
        <p:sp>
          <p:nvSpPr>
            <p:cNvPr descr="6751702e-1291-4000-a883-627b34442414" id="67" name="Title">
              <a:extLst>
                <a:ext uri="{FF2B5EF4-FFF2-40B4-BE49-F238E27FC236}">
                  <a16:creationId id="{3F366F08-CD6A-838C-6EE2-2CC53F7E22D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1" y="1028700"/>
              <a:ext cx="6337301" cy="1104900"/>
            </a:xfrm>
            <a:prstGeom prst="rect">
              <a:avLst/>
            </a:prstGeom>
          </p:spPr>
          <p:txBody>
            <a:bodyPr anchor="b" anchorCtr="false" wrap="square">
              <a:normAutofit/>
            </a:bodyPr>
            <a:lstStyle/>
            <a:p>
              <a:pPr algn="l"/>
              <a:r>
                <a:rPr b="true" i="false" lang="en-US" sz="2800" u="none">
                  <a:solidFill>
                    <a:srgbClr val="FFFFFF"/>
                  </a:solidFill>
                  <a:ea typeface="汉仪行楷简"/>
                </a:rPr>
                <a:t>关注数据安全与隐私问题</a:t>
              </a:r>
            </a:p>
          </p:txBody>
        </p:sp>
        <p:grpSp>
          <p:nvGrpSpPr>
            <p:cNvPr descr="d68ae40f-3a2d-4633-9614-10fcb31cf866" id="7" name="组合 6">
              <a:extLst>
                <a:ext uri="{FF2B5EF4-FFF2-40B4-BE49-F238E27FC236}">
                  <a16:creationId id="{1D0552C5-2F26-D1BB-1E7D-8AB0D4CFC0BB}"/>
                </a:ext>
              </a:extLst>
            </p:cNvPr>
            <p:cNvGrpSpPr/>
            <p:nvPr/>
          </p:nvGrpSpPr>
          <p:grpSpPr>
            <a:xfrm>
              <a:off x="660401" y="3342449"/>
              <a:ext cx="10858501" cy="2262838"/>
              <a:chOff x="660401" y="3342449"/>
              <a:chExt cx="10858501" cy="2262838"/>
            </a:xfrm>
          </p:grpSpPr>
          <p:grpSp>
            <p:nvGrpSpPr>
              <p:cNvPr descr="46261d64-df9a-494c-b3ed-249be06bc799" id="3" name="组合 2">
                <a:extLst>
                  <a:ext uri="{FF2B5EF4-FFF2-40B4-BE49-F238E27FC236}">
                    <a16:creationId id="{41B37758-8AE4-CA88-F1F2-B4E0E512A126}"/>
                  </a:ext>
                </a:extLst>
              </p:cNvPr>
              <p:cNvGrpSpPr/>
              <p:nvPr/>
            </p:nvGrpSpPr>
            <p:grpSpPr>
              <a:xfrm>
                <a:off x="660401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4932a982-ce1f-4972-9738-f25d52f2c5e3" id="37" name="直接连接符 36">
                  <a:extLst>
                    <a:ext uri="{FF2B5EF4-FFF2-40B4-BE49-F238E27FC236}">
                      <a16:creationId id="{31BF43F5-7BA9-D384-F08D-9FF18B0EE59F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aad24f33-d5d6-419a-8255-6a2c78f38729" id="2" name="组合 1">
                  <a:extLst>
                    <a:ext uri="{FF2B5EF4-FFF2-40B4-BE49-F238E27FC236}">
                      <a16:creationId id="{ABDAF4AD-9BAC-197B-1D20-16A684034B56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c49dc693-993e-4620-b3a8-11d60b261c0b" id="38" name="直接连接符 37">
                    <a:extLst>
                      <a:ext uri="{FF2B5EF4-FFF2-40B4-BE49-F238E27FC236}">
                        <a16:creationId id="{538E6D56-72FA-5118-836D-6915FC224F15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2c0f5964-240b-4d55-9994-098ce83e6e34" id="40" name="组合 39">
                    <a:extLst>
                      <a:ext uri="{FF2B5EF4-FFF2-40B4-BE49-F238E27FC236}">
                        <a16:creationId id="{F5001B9D-BC81-D8E0-2E74-172DF40FC5F9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48913917-7da3-4ae6-a817-3b092098f995" id="41" name="组合 40">
                      <a:extLst>
                        <a:ext uri="{FF2B5EF4-FFF2-40B4-BE49-F238E27FC236}">
                          <a16:creationId id="{ACE2534D-D38F-9456-4ABE-B1818AC1B99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e9680877-239d-4d32-bf7a-296cde5c16b1" id="43" name="Bullet1">
                        <a:extLst>
                          <a:ext uri="{FF2B5EF4-FFF2-40B4-BE49-F238E27FC236}">
                            <a16:creationId id="{760D2B42-3868-BB78-72FD-98AC3644DA64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FFFFFF"/>
                            </a:solidFill>
                            <a:ea typeface="汉仪行楷简"/>
                          </a:rPr>
                          <a:t>数据泄露风险</a:t>
                        </a:r>
                      </a:p>
                    </p:txBody>
                  </p:sp>
                  <p:sp>
                    <p:nvSpPr>
                      <p:cNvPr descr="0523df80-d922-4551-816f-f1753648b06b" id="44" name="Text1">
                        <a:extLst>
                          <a:ext uri="{FF2B5EF4-FFF2-40B4-BE49-F238E27FC236}">
                            <a16:creationId id="{6FEEEA45-88CF-F8B7-426A-278BC899ECBB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FFFFFF"/>
                            </a:solidFill>
                            <a:ea typeface="思源黑体 CN Regular"/>
                          </a:rPr>
                          <a:t>保险公司处理大量敏感数据，包括客户身份信息、财务状况和健康信息等，存在数据泄露的风险，威胁客户隐私。</a:t>
                        </a:r>
                      </a:p>
                    </p:txBody>
                  </p:sp>
                </p:grpSp>
                <p:sp>
                  <p:nvSpPr>
                    <p:cNvPr descr="22550faa-cf8d-4738-9c33-d693c93473c0" id="42" name="Number1">
                      <a:extLst>
                        <a:ext uri="{FF2B5EF4-FFF2-40B4-BE49-F238E27FC236}">
                          <a16:creationId id="{1C4A05F9-A72E-C462-23C5-0E016514ABD9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E8A724"/>
                          </a:solidFill>
                          <a:latin typeface="Calibri"/>
                        </a:rPr>
                        <a:t>01</a:t>
                      </a:r>
                    </a:p>
                  </p:txBody>
                </p:sp>
              </p:grpSp>
            </p:grpSp>
          </p:grpSp>
          <p:grpSp>
            <p:nvGrpSpPr>
              <p:cNvPr descr="77bda777-4e1c-460a-8262-3e59febdf6c1" id="55" name="组合 54">
                <a:extLst>
                  <a:ext uri="{FF2B5EF4-FFF2-40B4-BE49-F238E27FC236}">
                    <a16:creationId id="{91CA1392-9631-9EAB-639D-002CC642D3BC}"/>
                  </a:ext>
                </a:extLst>
              </p:cNvPr>
              <p:cNvGrpSpPr/>
              <p:nvPr/>
            </p:nvGrpSpPr>
            <p:grpSpPr>
              <a:xfrm>
                <a:off x="4279900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f25fbf6c-fb90-40fb-b47a-82b776f6244b" id="56" name="直接连接符 55">
                  <a:extLst>
                    <a:ext uri="{FF2B5EF4-FFF2-40B4-BE49-F238E27FC236}">
                      <a16:creationId id="{5B772728-D7F0-F6D4-C406-72DE7F4D2E1A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f01373e9-b220-4b42-853a-dcf77999e302" id="57" name="组合 56">
                  <a:extLst>
                    <a:ext uri="{FF2B5EF4-FFF2-40B4-BE49-F238E27FC236}">
                      <a16:creationId id="{882C0C18-9E46-4B42-231E-A5A2023601FD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36f429aa-8aac-470f-936a-d8439ec12a65" id="58" name="直接连接符 57">
                    <a:extLst>
                      <a:ext uri="{FF2B5EF4-FFF2-40B4-BE49-F238E27FC236}">
                        <a16:creationId id="{F361C839-431C-233A-F931-4A1ED8EC408E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bfbdad38-64b6-4158-9eab-c9d51b38808b" id="60" name="组合 59">
                    <a:extLst>
                      <a:ext uri="{FF2B5EF4-FFF2-40B4-BE49-F238E27FC236}">
                        <a16:creationId id="{83274491-25B3-6070-E18E-47F3CE4DA794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c9480f43-97fd-4d72-bcfb-cbc974b19398" id="61" name="组合 60">
                      <a:extLst>
                        <a:ext uri="{FF2B5EF4-FFF2-40B4-BE49-F238E27FC236}">
                          <a16:creationId id="{F11D170A-E20F-D11E-6EBA-E0F3298DB02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179834e9-51fd-4475-bf61-656cb977ce0d" id="63" name="Bullet2">
                        <a:extLst>
                          <a:ext uri="{FF2B5EF4-FFF2-40B4-BE49-F238E27FC236}">
                            <a16:creationId id="{18044FBD-195B-0E07-CBB0-60A46A3F0FAD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FFFFFF"/>
                            </a:solidFill>
                            <a:ea typeface="汉仪行楷简"/>
                          </a:rPr>
                          <a:t>数据安全存储</a:t>
                        </a:r>
                      </a:p>
                    </p:txBody>
                  </p:sp>
                  <p:sp>
                    <p:nvSpPr>
                      <p:cNvPr descr="a77ae84a-691f-4a23-a4e8-0bd7caccccc4" id="64" name="Text2">
                        <a:extLst>
                          <a:ext uri="{FF2B5EF4-FFF2-40B4-BE49-F238E27FC236}">
                            <a16:creationId id="{B6202F99-1A8F-6FAD-D639-B82186CA00FC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FFFFFF"/>
                            </a:solidFill>
                            <a:ea typeface="思源黑体 CN Regular"/>
                          </a:rPr>
                          <a:t>需要采取严格的数据安全措施，如加密存储、访问控制等，确保数据的保密性、完整性和可用性。</a:t>
                        </a:r>
                      </a:p>
                    </p:txBody>
                  </p:sp>
                </p:grpSp>
                <p:sp>
                  <p:nvSpPr>
                    <p:cNvPr descr="e9188aa9-b40c-459d-9934-03b4937363e1" id="62" name="Number2">
                      <a:extLst>
                        <a:ext uri="{FF2B5EF4-FFF2-40B4-BE49-F238E27FC236}">
                          <a16:creationId id="{CA81620C-A4B7-67BE-A699-25D1698D73BC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E8A724"/>
                          </a:solidFill>
                          <a:latin typeface="Calibri"/>
                        </a:rPr>
                        <a:t>02</a:t>
                      </a:r>
                    </a:p>
                  </p:txBody>
                </p:sp>
              </p:grpSp>
            </p:grpSp>
          </p:grpSp>
          <p:grpSp>
            <p:nvGrpSpPr>
              <p:cNvPr descr="e55cc12d-ea0d-450b-944b-fb3c2094f43d" id="30" name="组合 29">
                <a:extLst>
                  <a:ext uri="{FF2B5EF4-FFF2-40B4-BE49-F238E27FC236}">
                    <a16:creationId id="{2CF11F52-C57B-E1EC-28B1-9656A886C789}"/>
                  </a:ext>
                </a:extLst>
              </p:cNvPr>
              <p:cNvGrpSpPr/>
              <p:nvPr/>
            </p:nvGrpSpPr>
            <p:grpSpPr>
              <a:xfrm>
                <a:off x="7899400" y="3342449"/>
                <a:ext cx="3619502" cy="2262838"/>
                <a:chOff x="3797300" y="1550337"/>
                <a:chExt cx="3414307" cy="2262838"/>
              </a:xfrm>
            </p:grpSpPr>
            <p:sp>
              <p:nvSpPr>
                <p:cNvPr descr="36eb583c-017d-4477-999d-c845da03e711" id="31" name="直接连接符 30">
                  <a:extLst>
                    <a:ext uri="{FF2B5EF4-FFF2-40B4-BE49-F238E27FC236}">
                      <a16:creationId id="{5F0DD870-D4A5-1B46-AB04-9E39E33C2ACE}"/>
                    </a:ext>
                  </a:extLst>
                </p:cNvPr>
                <p:cNvSpPr/>
                <p:nvPr/>
              </p:nvSpPr>
              <p:spPr>
                <a:xfrm flipH="false" flipV="false">
                  <a:off x="3797300" y="1966913"/>
                  <a:ext cx="3414306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Ctr="false"/>
                <a:lstStyle/>
                <a:p>
                  <a:pPr algn="l"/>
                </a:p>
              </p:txBody>
            </p:sp>
            <p:grpSp>
              <p:nvGrpSpPr>
                <p:cNvPr descr="0c37bb19-9e76-41a9-81ed-e43ee2c206a3" id="32" name="组合 31">
                  <a:extLst>
                    <a:ext uri="{FF2B5EF4-FFF2-40B4-BE49-F238E27FC236}">
                      <a16:creationId id="{9F26638C-D927-B769-32CD-63C80F2E39B6}"/>
                    </a:ext>
                  </a:extLst>
                </p:cNvPr>
                <p:cNvGrpSpPr/>
                <p:nvPr/>
              </p:nvGrpSpPr>
              <p:grpSpPr>
                <a:xfrm>
                  <a:off x="4166990" y="1550337"/>
                  <a:ext cx="3044617" cy="2262838"/>
                  <a:chOff x="4166990" y="1550337"/>
                  <a:chExt cx="3044617" cy="2262838"/>
                </a:xfrm>
              </p:grpSpPr>
              <p:sp>
                <p:nvSpPr>
                  <p:cNvPr descr="c31f37db-7f7f-498e-a8d4-37794a7bff31" id="33" name="直接连接符 32">
                    <a:extLst>
                      <a:ext uri="{FF2B5EF4-FFF2-40B4-BE49-F238E27FC236}">
                        <a16:creationId id="{4EB8D1EB-A7F7-8921-1F9F-4C8FC4338A3A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560638" y="3813175"/>
                    <a:ext cx="26509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anchorCtr="false"/>
                  <a:lstStyle/>
                  <a:p>
                    <a:pPr algn="l"/>
                  </a:p>
                </p:txBody>
              </p:sp>
              <p:grpSp>
                <p:nvGrpSpPr>
                  <p:cNvPr descr="65f62b12-cd2b-495b-97cc-4a43f7e9ad78" id="35" name="组合 34">
                    <a:extLst>
                      <a:ext uri="{FF2B5EF4-FFF2-40B4-BE49-F238E27FC236}">
                        <a16:creationId id="{699529E4-F77F-B9CA-ED8C-97F1E0326052}"/>
                      </a:ext>
                    </a:extLst>
                  </p:cNvPr>
                  <p:cNvGrpSpPr/>
                  <p:nvPr/>
                </p:nvGrpSpPr>
                <p:grpSpPr>
                  <a:xfrm>
                    <a:off x="4166990" y="1550337"/>
                    <a:ext cx="3044617" cy="2246372"/>
                    <a:chOff x="1129518" y="1274565"/>
                    <a:chExt cx="3994025" cy="2246372"/>
                  </a:xfrm>
                </p:grpSpPr>
                <p:grpSp>
                  <p:nvGrpSpPr>
                    <p:cNvPr descr="3e700368-7b41-499e-a0d1-9bc7d7fc30ec" id="36" name="组合 35">
                      <a:extLst>
                        <a:ext uri="{FF2B5EF4-FFF2-40B4-BE49-F238E27FC236}">
                          <a16:creationId id="{806191C3-FF7D-1457-9178-AEF4413DE2E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1711125" y="1674675"/>
                      <a:ext cx="3412418" cy="1846262"/>
                      <a:chOff x="4978400" y="-844577"/>
                      <a:chExt cx="5098204" cy="1417774"/>
                    </a:xfrm>
                  </p:grpSpPr>
                  <p:sp>
                    <p:nvSpPr>
                      <p:cNvPr descr="14f193d1-675b-46db-8f4c-4f94bab05c79" id="46" name="Bullet3">
                        <a:extLst>
                          <a:ext uri="{FF2B5EF4-FFF2-40B4-BE49-F238E27FC236}">
                            <a16:creationId id="{0EA17BB3-A4FA-285E-1918-DF35B1D04CBC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0" y="-844577"/>
                        <a:ext cx="5098202" cy="40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b" anchorCtr="false" bIns="45720" lIns="91440" rIns="91440" rtlCol="0" tIns="45720" wrap="square">
                        <a:normAutofit/>
                      </a:bodyPr>
                      <a:lstStyle/>
                      <a:p>
                        <a:pPr algn="l"/>
                        <a:r>
                          <a:rPr b="true" i="false" lang="en-US" sz="1800" u="none">
                            <a:solidFill>
                              <a:srgbClr val="FFFFFF"/>
                            </a:solidFill>
                            <a:ea typeface="汉仪行楷简"/>
                          </a:rPr>
                          <a:t>隐私保护法规遵从</a:t>
                        </a:r>
                      </a:p>
                    </p:txBody>
                  </p:sp>
                  <p:sp>
                    <p:nvSpPr>
                      <p:cNvPr descr="225a14cf-06cb-469d-8388-82f7ffbca3bc" id="49" name="Text3">
                        <a:extLst>
                          <a:ext uri="{FF2B5EF4-FFF2-40B4-BE49-F238E27FC236}">
                            <a16:creationId id="{669AA45F-C605-F2DC-A3DE-609762EFF651}"/>
                          </a:ext>
                        </a:extLst>
                      </p:cNvPr>
                      <p:cNvSpPr/>
                      <p:nvPr/>
                    </p:nvSpPr>
                    <p:spPr>
                      <a:xfrm flipH="false" flipV="false">
                        <a:off x="4978402" y="-397902"/>
                        <a:ext cx="5098202" cy="971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t" anchorCtr="false" bIns="45720" lIns="91440" rIns="91440" rtlCol="0" tIns="45720" wrap="square">
                        <a:normAutofit/>
                      </a:bodyPr>
                      <a:lstStyle/>
                      <a:p>
                        <a:pPr algn="l">
                          <a:lnSpc>
                            <a:spcPct val="120000"/>
                          </a:lnSpc>
                        </a:pPr>
                        <a:r>
                          <a:rPr b="false" i="false" lang="en-US" sz="1200" u="none">
                            <a:solidFill>
                              <a:srgbClr val="FFFFFF"/>
                            </a:solidFill>
                            <a:ea typeface="思源黑体 CN Regular"/>
                          </a:rPr>
                          <a:t>保险公司需遵守相关法律法规，如《个人信息保护法》等，确保个人隐私得到保护，避免法律风险。</a:t>
                        </a:r>
                      </a:p>
                    </p:txBody>
                  </p:sp>
                </p:grpSp>
                <p:sp>
                  <p:nvSpPr>
                    <p:cNvPr descr="150e117a-1006-4f66-a4ea-081eb698790a" id="39" name="Number3">
                      <a:extLst>
                        <a:ext uri="{FF2B5EF4-FFF2-40B4-BE49-F238E27FC236}">
                          <a16:creationId id="{9BC1061E-E8B9-EC1A-4C87-C00B95486A38}"/>
                        </a:ext>
                      </a:extLst>
                    </p:cNvPr>
                    <p:cNvSpPr txBox="1"/>
                    <p:nvPr/>
                  </p:nvSpPr>
                  <p:spPr>
                    <a:xfrm flipH="false" flipV="false">
                      <a:off x="1129518" y="1274565"/>
                      <a:ext cx="581607" cy="400110"/>
                    </a:xfrm>
                    <a:prstGeom prst="rect">
                      <a:avLst/>
                    </a:prstGeom>
                    <a:noFill/>
                  </p:spPr>
                  <p:txBody>
                    <a:bodyPr anchor="b" anchorCtr="false" bIns="45720" lIns="91440" rIns="91440" rtlCol="0" tIns="45720" wrap="none">
                      <a:spAutoFit/>
                    </a:bodyPr>
                    <a:lstStyle/>
                    <a:p>
                      <a:pPr algn="r"/>
                      <a:r>
                        <a:rPr b="true" i="false" lang="en-US" sz="2000" u="none">
                          <a:solidFill>
                            <a:srgbClr val="E8A724"/>
                          </a:solidFill>
                          <a:latin typeface="Calibri"/>
                        </a:rPr>
                        <a:t>03</a:t>
                      </a:r>
                    </a:p>
                  </p:txBody>
                </p:sp>
              </p:grpSp>
            </p:grpSp>
          </p:grp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数据安全与隐私保护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a483570-7172-4043-b8a4-5540eff034c7" id="11" name="447f078b-6dd5-48c7-9ec3-50160ebdcf17.source.3.zh-Hans.pptx">
            <a:extLst>
              <a:ext uri="{FF2B5EF4-FFF2-40B4-BE49-F238E27FC236}">
                <a16:creationId id="{9B8703AC-67A6-18D3-5850-44AC6DFEF9A8}"/>
              </a:ext>
            </a:extLst>
          </p:cNvPr>
          <p:cNvGrpSpPr/>
          <p:nvPr/>
        </p:nvGrpSpPr>
        <p:grpSpPr>
          <a:xfrm>
            <a:off x="660400" y="1292726"/>
            <a:ext cx="10858500" cy="4371474"/>
            <a:chOff x="660400" y="1292726"/>
            <a:chExt cx="10858500" cy="4371474"/>
          </a:xfrm>
        </p:grpSpPr>
        <p:grpSp>
          <p:nvGrpSpPr>
            <p:cNvPr descr="860d332b-9fc7-4a0a-86ce-901770320ebb" id="7" name="组合 6">
              <a:extLst>
                <a:ext uri="{FF2B5EF4-FFF2-40B4-BE49-F238E27FC236}">
                  <a16:creationId id="{A1253C65-4503-5C6D-2972-7E90A57A28EE}"/>
                </a:ext>
              </a:extLst>
            </p:cNvPr>
            <p:cNvGrpSpPr/>
            <p:nvPr/>
          </p:nvGrpSpPr>
          <p:grpSpPr>
            <a:xfrm>
              <a:off x="1103970" y="2900184"/>
              <a:ext cx="2553629" cy="2764016"/>
              <a:chOff x="1103970" y="2900184"/>
              <a:chExt cx="2553629" cy="2764016"/>
            </a:xfrm>
          </p:grpSpPr>
          <p:sp>
            <p:nvSpPr>
              <p:cNvPr descr="6200978c-3cb5-407e-9a13-f75f903ce536" id="12" name="Bullet1">
                <a:extLst>
                  <a:ext uri="{FF2B5EF4-FFF2-40B4-BE49-F238E27FC236}">
                    <a16:creationId id="{7D9B28C2-B968-4F21-8AB6-B9B94E6C5983}"/>
                  </a:ext>
                </a:extLst>
              </p:cNvPr>
              <p:cNvSpPr txBox="1"/>
              <p:nvPr/>
            </p:nvSpPr>
            <p:spPr>
              <a:xfrm flipH="false" flipV="false">
                <a:off x="1103970" y="3553952"/>
                <a:ext cx="2553629" cy="584775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系统稳定性不足</a:t>
                </a:r>
              </a:p>
            </p:txBody>
          </p:sp>
          <p:sp>
            <p:nvSpPr>
              <p:cNvPr descr="9987f40c-14be-4697-8163-6bfadb1c9f70" id="13" name="Number1">
                <a:extLst>
                  <a:ext uri="{FF2B5EF4-FFF2-40B4-BE49-F238E27FC236}">
                    <a16:creationId id="{DA5234AB-CB1C-4364-A2A4-4633FD17561F}"/>
                  </a:ext>
                </a:extLst>
              </p:cNvPr>
              <p:cNvSpPr txBox="1"/>
              <p:nvPr/>
            </p:nvSpPr>
            <p:spPr>
              <a:xfrm flipH="false" flipV="false">
                <a:off x="2060827" y="2900184"/>
                <a:ext cx="639920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/>
              <a:p>
                <a:pPr algn="ctr"/>
                <a:r>
                  <a:rPr b="true" i="false" lang="en-US" sz="3200" u="none">
                    <a:solidFill>
                      <a:srgbClr val="E8A724"/>
                    </a:solidFill>
                    <a:latin typeface="Aptos"/>
                  </a:rPr>
                  <a:t>01</a:t>
                </a:r>
              </a:p>
            </p:txBody>
          </p:sp>
          <p:sp>
            <p:nvSpPr>
              <p:cNvPr descr="5f57988a-efa3-42f4-9805-c715a0cfedd8" id="4" name="Text1">
                <a:extLst>
                  <a:ext uri="{FF2B5EF4-FFF2-40B4-BE49-F238E27FC236}">
                    <a16:creationId id="{CCCBA7A7-31B5-59EA-A9A1-740F8F07C40E}"/>
                  </a:ext>
                </a:extLst>
              </p:cNvPr>
              <p:cNvSpPr txBox="1"/>
              <p:nvPr/>
            </p:nvSpPr>
            <p:spPr>
              <a:xfrm flipH="false" flipV="false">
                <a:off x="1103970" y="4150090"/>
                <a:ext cx="2553629" cy="1514110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人工智能系统的稳定性不足可能导致业务中断或数据丢失，影响保险公司的正常运营和客户信任。</a:t>
                </a:r>
              </a:p>
            </p:txBody>
          </p:sp>
        </p:grpSp>
        <p:grpSp>
          <p:nvGrpSpPr>
            <p:cNvPr descr="9d03a762-723e-4993-b8ea-f060709643e5" id="8" name="组合 7">
              <a:extLst>
                <a:ext uri="{FF2B5EF4-FFF2-40B4-BE49-F238E27FC236}">
                  <a16:creationId id="{00ACEA19-5FA8-30CC-59B3-8A1F2E12017A}"/>
                </a:ext>
              </a:extLst>
            </p:cNvPr>
            <p:cNvGrpSpPr/>
            <p:nvPr/>
          </p:nvGrpSpPr>
          <p:grpSpPr>
            <a:xfrm>
              <a:off x="4819185" y="2900184"/>
              <a:ext cx="2553629" cy="2764016"/>
              <a:chOff x="4819185" y="2900184"/>
              <a:chExt cx="2553629" cy="2764016"/>
            </a:xfrm>
          </p:grpSpPr>
          <p:sp>
            <p:nvSpPr>
              <p:cNvPr descr="9c7b13a2-d5d7-4f5c-9110-686186d5c3e0" id="42" name="Bullet2">
                <a:extLst>
                  <a:ext uri="{FF2B5EF4-FFF2-40B4-BE49-F238E27FC236}">
                    <a16:creationId id="{EA5C256B-8740-4DDF-886A-08A3F05DD6B6}"/>
                  </a:ext>
                </a:extLst>
              </p:cNvPr>
              <p:cNvSpPr txBox="1"/>
              <p:nvPr/>
            </p:nvSpPr>
            <p:spPr>
              <a:xfrm flipH="false" flipV="false">
                <a:off x="4819185" y="3553952"/>
                <a:ext cx="2553629" cy="584775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技术更新迭代快</a:t>
                </a:r>
              </a:p>
            </p:txBody>
          </p:sp>
          <p:sp>
            <p:nvSpPr>
              <p:cNvPr descr="43674f22-e2b8-41b1-8adf-1d5638a135b6" id="14" name="Number2">
                <a:extLst>
                  <a:ext uri="{FF2B5EF4-FFF2-40B4-BE49-F238E27FC236}">
                    <a16:creationId id="{A9E3FC91-A221-4007-8890-8F5F0DBE7C11}"/>
                  </a:ext>
                </a:extLst>
              </p:cNvPr>
              <p:cNvSpPr txBox="1"/>
              <p:nvPr/>
            </p:nvSpPr>
            <p:spPr>
              <a:xfrm flipH="false" flipV="false">
                <a:off x="5776039" y="2900184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/>
              <a:p>
                <a:pPr algn="ctr"/>
                <a:r>
                  <a:rPr b="true" i="false" lang="en-US" sz="3200" u="none">
                    <a:solidFill>
                      <a:srgbClr val="FFFFFF">
                        <a:alpha val="80000"/>
                      </a:srgbClr>
                    </a:solidFill>
                    <a:latin typeface="Aptos"/>
                  </a:rPr>
                  <a:t>02</a:t>
                </a:r>
              </a:p>
            </p:txBody>
          </p:sp>
          <p:sp>
            <p:nvSpPr>
              <p:cNvPr descr="e5bc2cfc-92f4-465d-8433-4bfafce64502" id="5" name="Text2">
                <a:extLst>
                  <a:ext uri="{FF2B5EF4-FFF2-40B4-BE49-F238E27FC236}">
                    <a16:creationId id="{A98CB898-5D24-4017-2162-970DDF7669CC}"/>
                  </a:ext>
                </a:extLst>
              </p:cNvPr>
              <p:cNvSpPr txBox="1"/>
              <p:nvPr/>
            </p:nvSpPr>
            <p:spPr>
              <a:xfrm flipH="false" flipV="false">
                <a:off x="4819185" y="4150090"/>
                <a:ext cx="2553629" cy="1514110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人工智能技术快速发展，保险公司需要不断投入资源进行技术更新和迭代，以适应市场变化和技术进步。</a:t>
                </a:r>
              </a:p>
            </p:txBody>
          </p:sp>
        </p:grpSp>
        <p:grpSp>
          <p:nvGrpSpPr>
            <p:cNvPr descr="3182acb9-6a33-4730-910a-6c26ac73d265" id="9" name="组合 8">
              <a:extLst>
                <a:ext uri="{FF2B5EF4-FFF2-40B4-BE49-F238E27FC236}">
                  <a16:creationId id="{27C33D59-4D96-C96F-95E0-221BB4BF5EAA}"/>
                </a:ext>
              </a:extLst>
            </p:cNvPr>
            <p:cNvGrpSpPr/>
            <p:nvPr/>
          </p:nvGrpSpPr>
          <p:grpSpPr>
            <a:xfrm>
              <a:off x="8534400" y="2949159"/>
              <a:ext cx="2553629" cy="2715041"/>
              <a:chOff x="8534400" y="2949159"/>
              <a:chExt cx="2553629" cy="2715041"/>
            </a:xfrm>
          </p:grpSpPr>
          <p:sp>
            <p:nvSpPr>
              <p:cNvPr descr="cf197561-18d6-44a4-ae91-c9c528be4657" id="45" name="Bullet3">
                <a:extLst>
                  <a:ext uri="{FF2B5EF4-FFF2-40B4-BE49-F238E27FC236}">
                    <a16:creationId id="{6A61A914-01A6-4F93-8E2C-ACC3EAA2B719}"/>
                  </a:ext>
                </a:extLst>
              </p:cNvPr>
              <p:cNvSpPr txBox="1"/>
              <p:nvPr/>
            </p:nvSpPr>
            <p:spPr>
              <a:xfrm flipH="false" flipV="false">
                <a:off x="8534400" y="3553952"/>
                <a:ext cx="2553629" cy="584775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技术尚未完全成熟</a:t>
                </a:r>
              </a:p>
            </p:txBody>
          </p:sp>
          <p:sp>
            <p:nvSpPr>
              <p:cNvPr descr="99e1200b-d26a-4c64-a32f-9321ca4cebb7" id="15" name="Number3">
                <a:extLst>
                  <a:ext uri="{FF2B5EF4-FFF2-40B4-BE49-F238E27FC236}">
                    <a16:creationId id="{D0455ACB-ED07-4640-88EF-0FEB18BFC181}"/>
                  </a:ext>
                </a:extLst>
              </p:cNvPr>
              <p:cNvSpPr txBox="1"/>
              <p:nvPr/>
            </p:nvSpPr>
            <p:spPr>
              <a:xfrm flipH="false" flipV="false">
                <a:off x="9491254" y="2949159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/>
              <a:p>
                <a:pPr algn="ctr"/>
                <a:r>
                  <a:rPr b="true" i="false" lang="en-US" sz="3200" u="none">
                    <a:solidFill>
                      <a:srgbClr val="E8A724"/>
                    </a:solidFill>
                    <a:latin typeface="Aptos"/>
                  </a:rPr>
                  <a:t>03</a:t>
                </a:r>
              </a:p>
            </p:txBody>
          </p:sp>
          <p:sp>
            <p:nvSpPr>
              <p:cNvPr descr="c7e79fc6-c184-41ef-925a-e30970b2f955" id="6" name="Text3">
                <a:extLst>
                  <a:ext uri="{FF2B5EF4-FFF2-40B4-BE49-F238E27FC236}">
                    <a16:creationId id="{42C11A44-2346-FDBA-A90D-8FF187373049}"/>
                  </a:ext>
                </a:extLst>
              </p:cNvPr>
              <p:cNvSpPr txBox="1"/>
              <p:nvPr/>
            </p:nvSpPr>
            <p:spPr>
              <a:xfrm flipH="false" flipV="false">
                <a:off x="8534400" y="4150090"/>
                <a:ext cx="2553629" cy="1514110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人工智能技术尚未完全成熟，存在一定的误差率和不确定性，可能影响保险业务的准确性和决策效果。</a:t>
                </a:r>
              </a:p>
            </p:txBody>
          </p:sp>
        </p:grpSp>
        <p:sp>
          <p:nvSpPr>
            <p:cNvPr descr="8beb88c5-e2bb-4866-8332-8cf89e4bbc82" id="16" name="Title">
              <a:extLst>
                <a:ext uri="{FF2B5EF4-FFF2-40B4-BE49-F238E27FC236}">
                  <a16:creationId id="{2193C58D-ED3A-4259-8AFE-56776187B21F}"/>
                </a:ext>
              </a:extLst>
            </p:cNvPr>
            <p:cNvSpPr/>
            <p:nvPr/>
          </p:nvSpPr>
          <p:spPr>
            <a:xfrm flipH="false" flipV="false">
              <a:off x="660400" y="1292726"/>
              <a:ext cx="10858500" cy="987129"/>
            </a:xfrm>
            <a:prstGeom prst="rect">
              <a:avLst/>
            </a:prstGeom>
          </p:spPr>
          <p:txBody>
            <a:bodyPr anchor="t" anchorCtr="true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分析技术成熟度与稳定性问题</a:t>
              </a:r>
            </a:p>
          </p:txBody>
        </p: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技术成熟度与稳定性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550c74d-3402-4a6c-9871-bf93b209d114" id="72" name="d70427a0-c0a0-45fe-a05b-eaf7b6a11ce9.source.3.zh-Hans.pptx">
            <a:extLst>
              <a:ext uri="{FF2B5EF4-FFF2-40B4-BE49-F238E27FC236}">
                <a16:creationId id="{4F48F533-F3BB-3295-84A8-FD119B952368}"/>
              </a:ext>
            </a:extLst>
          </p:cNvPr>
          <p:cNvGrpSpPr/>
          <p:nvPr/>
        </p:nvGrpSpPr>
        <p:grpSpPr>
          <a:xfrm>
            <a:off x="660401" y="1412774"/>
            <a:ext cx="10871200" cy="4569168"/>
            <a:chOff x="660401" y="1412774"/>
            <a:chExt cx="10871200" cy="4569168"/>
          </a:xfrm>
        </p:grpSpPr>
        <p:sp>
          <p:nvSpPr>
            <p:cNvPr descr="28c49959-7220-4d14-bf18-cedf51098467" id="33" name="Title">
              <a:extLst>
                <a:ext uri="{FF2B5EF4-FFF2-40B4-BE49-F238E27FC236}">
                  <a16:creationId id="{418BF211-354E-EDDC-7ECF-96B87AFA46CF}"/>
                </a:ext>
              </a:extLst>
            </p:cNvPr>
            <p:cNvSpPr txBox="1"/>
            <p:nvPr/>
          </p:nvSpPr>
          <p:spPr>
            <a:xfrm flipH="false" flipV="false">
              <a:off x="669926" y="1412774"/>
              <a:ext cx="10848974" cy="523220"/>
            </a:xfrm>
            <a:prstGeom prst="rect">
              <a:avLst/>
            </a:prstGeom>
            <a:noFill/>
          </p:spPr>
          <p:txBody>
            <a:bodyPr anchor="b" anchorCtr="true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探讨法规政策与伦理道德风险</a:t>
              </a:r>
            </a:p>
          </p:txBody>
        </p:sp>
        <p:grpSp>
          <p:nvGrpSpPr>
            <p:cNvPr descr="f022cb68-7d89-42d8-897d-e832f49d6d5c" id="41" name="组合 40">
              <a:extLst>
                <a:ext uri="{FF2B5EF4-FFF2-40B4-BE49-F238E27FC236}">
                  <a16:creationId id="{FF470E02-CB6A-C066-3E62-3843F0A159F8}"/>
                </a:ext>
              </a:extLst>
            </p:cNvPr>
            <p:cNvGrpSpPr/>
            <p:nvPr/>
          </p:nvGrpSpPr>
          <p:grpSpPr>
            <a:xfrm>
              <a:off x="660401" y="2727811"/>
              <a:ext cx="3400155" cy="3254131"/>
              <a:chOff x="660401" y="2727811"/>
              <a:chExt cx="3400155" cy="3254131"/>
            </a:xfrm>
          </p:grpSpPr>
          <p:sp>
            <p:nvSpPr>
              <p:cNvPr descr="f0aed1e1-6dae-4c3a-993c-50fbf8aaf94f" id="29" name="矩形: 对角圆角 28">
                <a:extLst>
                  <a:ext uri="{FF2B5EF4-FFF2-40B4-BE49-F238E27FC236}">
                    <a16:creationId id="{9C847372-7D68-23A5-4E24-23A879C9D587}"/>
                  </a:ext>
                </a:extLst>
              </p:cNvPr>
              <p:cNvSpPr/>
              <p:nvPr/>
            </p:nvSpPr>
            <p:spPr>
              <a:xfrm flipH="false" flipV="false">
                <a:off x="660401" y="2727811"/>
                <a:ext cx="3400155" cy="3254131"/>
              </a:xfrm>
              <a:prstGeom prst="round2Diag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</a:p>
            </p:txBody>
          </p:sp>
          <p:sp>
            <p:nvSpPr>
              <p:cNvPr descr="0d07562b-23d0-41bf-9776-af54c69cb3d8" id="30" name="Bullet1">
                <a:extLst>
                  <a:ext uri="{FF2B5EF4-FFF2-40B4-BE49-F238E27FC236}">
                    <a16:creationId id="{680B6A33-8F66-01A3-17DC-0AEF46AA0A7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917793" y="2934854"/>
                <a:ext cx="2935748" cy="7289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法规滞后性</a:t>
                </a:r>
              </a:p>
            </p:txBody>
          </p:sp>
          <p:sp>
            <p:nvSpPr>
              <p:cNvPr descr="9ffd0533-6e30-4bed-91e7-228b6fbc34d1" id="31" name="Text1">
                <a:extLst>
                  <a:ext uri="{FF2B5EF4-FFF2-40B4-BE49-F238E27FC236}">
                    <a16:creationId id="{C3CFA587-4F52-4221-0067-64A793BB7F7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917793" y="3726671"/>
                <a:ext cx="2935749" cy="1267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人工智能技术的发展速度可能超过法规的制定速度，导致法律空白或监管缺失，给保险公司带来合规风险。</a:t>
                </a:r>
              </a:p>
            </p:txBody>
          </p:sp>
          <p:sp>
            <p:nvSpPr>
              <p:cNvPr descr="81959cca-5338-4e37-8052-020b703e1493" id="38" name="Number1">
                <a:extLst>
                  <a:ext uri="{FF2B5EF4-FFF2-40B4-BE49-F238E27FC236}">
                    <a16:creationId id="{7773E62A-1E64-DB2F-F4DC-51EF49BAB586}"/>
                  </a:ext>
                </a:extLst>
              </p:cNvPr>
              <p:cNvSpPr txBox="1"/>
              <p:nvPr/>
            </p:nvSpPr>
            <p:spPr>
              <a:xfrm flipH="false" flipV="false">
                <a:off x="917793" y="5136219"/>
                <a:ext cx="639919" cy="58477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l"/>
                <a:r>
                  <a:rPr b="true" i="false" lang="en-US" sz="3200" u="none">
                    <a:solidFill>
                      <a:srgbClr val="E8A724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19bd357a-7a08-4ee5-882d-1d10aaf119fb" id="42" name="组合 41">
              <a:extLst>
                <a:ext uri="{FF2B5EF4-FFF2-40B4-BE49-F238E27FC236}">
                  <a16:creationId id="{C670BD12-0C60-51E1-4985-046B73F4713E}"/>
                </a:ext>
              </a:extLst>
            </p:cNvPr>
            <p:cNvGrpSpPr/>
            <p:nvPr/>
          </p:nvGrpSpPr>
          <p:grpSpPr>
            <a:xfrm>
              <a:off x="4395923" y="2727811"/>
              <a:ext cx="3400155" cy="3254131"/>
              <a:chOff x="4395923" y="2727811"/>
              <a:chExt cx="3400155" cy="3254131"/>
            </a:xfrm>
          </p:grpSpPr>
          <p:sp>
            <p:nvSpPr>
              <p:cNvPr descr="623718d8-f611-4909-808e-d4ed07df0c27" id="20" name="矩形: 对角圆角 19">
                <a:extLst>
                  <a:ext uri="{FF2B5EF4-FFF2-40B4-BE49-F238E27FC236}">
                    <a16:creationId id="{B6C11D0C-7DDF-391D-7F3A-0424A8FCDB5D}"/>
                  </a:ext>
                </a:extLst>
              </p:cNvPr>
              <p:cNvSpPr/>
              <p:nvPr/>
            </p:nvSpPr>
            <p:spPr>
              <a:xfrm flipH="false" flipV="false">
                <a:off x="4395923" y="2727811"/>
                <a:ext cx="3400155" cy="3254131"/>
              </a:xfrm>
              <a:prstGeom prst="round2Diag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</a:p>
            </p:txBody>
          </p:sp>
          <p:sp>
            <p:nvSpPr>
              <p:cNvPr descr="d81d0881-2abb-4406-8440-d2e78a077df0" id="21" name="Bullet2">
                <a:extLst>
                  <a:ext uri="{FF2B5EF4-FFF2-40B4-BE49-F238E27FC236}">
                    <a16:creationId id="{B61E1993-EE05-A238-998F-E959493909D5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653315" y="2934854"/>
                <a:ext cx="2935748" cy="7289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伦理道德风险</a:t>
                </a:r>
              </a:p>
            </p:txBody>
          </p:sp>
          <p:sp>
            <p:nvSpPr>
              <p:cNvPr descr="80d25603-2e97-4658-9552-85213717bf4a" id="22" name="Text2">
                <a:extLst>
                  <a:ext uri="{FF2B5EF4-FFF2-40B4-BE49-F238E27FC236}">
                    <a16:creationId id="{9E85A8F8-81B9-75A9-2D12-181815AA42A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653315" y="3726671"/>
                <a:ext cx="2935749" cy="1267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使用人工智能进行保险业务决策可能引发伦理道德问题，如公平性、透明度和责任归属等，需谨慎处理。</a:t>
                </a:r>
              </a:p>
            </p:txBody>
          </p:sp>
          <p:sp>
            <p:nvSpPr>
              <p:cNvPr descr="9adfea86-99be-4add-8a03-7a3d7f389171" id="39" name="Number2">
                <a:extLst>
                  <a:ext uri="{FF2B5EF4-FFF2-40B4-BE49-F238E27FC236}">
                    <a16:creationId id="{9C06EE9E-B01A-3C58-0ED7-B91B8B68791C}"/>
                  </a:ext>
                </a:extLst>
              </p:cNvPr>
              <p:cNvSpPr txBox="1"/>
              <p:nvPr/>
            </p:nvSpPr>
            <p:spPr>
              <a:xfrm flipH="false" flipV="false">
                <a:off x="4672058" y="5136219"/>
                <a:ext cx="639919" cy="58477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l"/>
                <a:r>
                  <a:rPr b="true" i="false" lang="en-US" sz="3200" u="none">
                    <a:solidFill>
                      <a:srgbClr val="E8A724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385046b7-b8b6-40b0-a5a6-3295c8c62f57" id="43" name="组合 42">
              <a:extLst>
                <a:ext uri="{FF2B5EF4-FFF2-40B4-BE49-F238E27FC236}">
                  <a16:creationId id="{EF93D666-2437-97B9-84D4-D192F1B8D0A4}"/>
                </a:ext>
              </a:extLst>
            </p:cNvPr>
            <p:cNvGrpSpPr/>
            <p:nvPr/>
          </p:nvGrpSpPr>
          <p:grpSpPr>
            <a:xfrm>
              <a:off x="8131446" y="2727811"/>
              <a:ext cx="3400155" cy="3254131"/>
              <a:chOff x="8131446" y="2727811"/>
              <a:chExt cx="3400155" cy="3254131"/>
            </a:xfrm>
          </p:grpSpPr>
          <p:sp>
            <p:nvSpPr>
              <p:cNvPr descr="34ae2922-60c7-4a5b-9396-8b94c361d4f5" id="11" name="矩形: 对角圆角 10">
                <a:extLst>
                  <a:ext uri="{FF2B5EF4-FFF2-40B4-BE49-F238E27FC236}">
                    <a16:creationId id="{24590103-BDF1-18A3-D776-7D7B8FD0E8FB}"/>
                  </a:ext>
                </a:extLst>
              </p:cNvPr>
              <p:cNvSpPr/>
              <p:nvPr/>
            </p:nvSpPr>
            <p:spPr>
              <a:xfrm flipH="false" flipV="false">
                <a:off x="8131446" y="2727811"/>
                <a:ext cx="3400155" cy="3254131"/>
              </a:xfrm>
              <a:prstGeom prst="round2Diag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</a:p>
            </p:txBody>
          </p:sp>
          <p:sp>
            <p:nvSpPr>
              <p:cNvPr descr="cc4eb166-7485-4576-9f43-75ff11986f15" id="12" name="Bullet3">
                <a:extLst>
                  <a:ext uri="{FF2B5EF4-FFF2-40B4-BE49-F238E27FC236}">
                    <a16:creationId id="{EA9B32E2-7BD3-A381-BEB3-F0B86BB1E16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388838" y="2934854"/>
                <a:ext cx="2935748" cy="7289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合规成本高</a:t>
                </a:r>
              </a:p>
            </p:txBody>
          </p:sp>
          <p:sp>
            <p:nvSpPr>
              <p:cNvPr descr="8ae3c3c1-6bc2-42e1-9fce-aa29a44e0185" id="13" name="Text3">
                <a:extLst>
                  <a:ext uri="{FF2B5EF4-FFF2-40B4-BE49-F238E27FC236}">
                    <a16:creationId id="{94D11CB2-DBF3-CB9E-1EC3-D80842585037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388838" y="3726671"/>
                <a:ext cx="2935749" cy="1267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保险公司需投入大量资源确保业务符合相关法规和道德标准，增加了合规成本和运营压力。</a:t>
                </a:r>
              </a:p>
            </p:txBody>
          </p:sp>
          <p:sp>
            <p:nvSpPr>
              <p:cNvPr descr="7a8c7796-cb5b-449f-8fe4-a0c754428fed" id="40" name="Number3">
                <a:extLst>
                  <a:ext uri="{FF2B5EF4-FFF2-40B4-BE49-F238E27FC236}">
                    <a16:creationId id="{C45CD51A-5F45-78EF-35A4-8438EB68E8B5}"/>
                  </a:ext>
                </a:extLst>
              </p:cNvPr>
              <p:cNvSpPr txBox="1"/>
              <p:nvPr/>
            </p:nvSpPr>
            <p:spPr>
              <a:xfrm flipH="false" flipV="false">
                <a:off x="8512538" y="5136219"/>
                <a:ext cx="639919" cy="58477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l"/>
                <a:r>
                  <a:rPr b="true" i="false" lang="en-US" sz="3200" u="none">
                    <a:solidFill>
                      <a:srgbClr val="E8A724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法规政策与伦理道德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f739aaf-bf00-4f8b-9160-947afc5771b2" id="16" name="4179fac1-d6dc-4f3b-bb01-6f768a573dac.source.3.zh-Hans.pptx">
            <a:extLst>
              <a:ext uri="{FF2B5EF4-FFF2-40B4-BE49-F238E27FC236}">
                <a16:creationId id="{31BB678C-BD7C-A1FF-45D2-A0FE8E5BD63B}"/>
              </a:ext>
            </a:extLst>
          </p:cNvPr>
          <p:cNvGrpSpPr/>
          <p:nvPr/>
        </p:nvGrpSpPr>
        <p:grpSpPr>
          <a:xfrm>
            <a:off x="660400" y="1130300"/>
            <a:ext cx="10858500" cy="4390134"/>
            <a:chOff x="660400" y="1130300"/>
            <a:chExt cx="10858500" cy="4390134"/>
          </a:xfrm>
        </p:grpSpPr>
        <p:sp>
          <p:nvSpPr>
            <p:cNvPr descr="bd1a8480-6595-4fbe-8552-db35f821de90" id="19" name="ïŝḷîḋe">
              <a:extLst>
                <a:ext uri="{FF2B5EF4-FFF2-40B4-BE49-F238E27FC236}">
                  <a16:creationId id="{EFBB1DB4-68E4-497C-9E8A-80BBE706E65A}"/>
                </a:ext>
              </a:extLst>
            </p:cNvPr>
            <p:cNvSpPr/>
            <p:nvPr/>
          </p:nvSpPr>
          <p:spPr>
            <a:xfrm flipH="false" flipV="false">
              <a:off x="1034191" y="3070763"/>
              <a:ext cx="2531326" cy="2449671"/>
            </a:xfrm>
            <a:prstGeom prst="roundRect">
              <a:avLst>
                <a:gd fmla="val 7320" name="adj"/>
              </a:avLst>
            </a:prstGeom>
            <a:solidFill>
              <a:schemeClr val="tx2">
                <a:alpha val="15000"/>
              </a:schemeClr>
            </a:solidFill>
            <a:ln cap="rnd" w="1270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sp>
          <p:nvSpPr>
            <p:cNvPr descr="be544537-e353-4914-8b0c-be65a8dd51a3" id="23" name="íŝḻíḑê">
              <a:extLst>
                <a:ext uri="{FF2B5EF4-FFF2-40B4-BE49-F238E27FC236}">
                  <a16:creationId id="{F6FFF57B-4700-49A5-B16A-0B362CF2FE8E}"/>
                </a:ext>
              </a:extLst>
            </p:cNvPr>
            <p:cNvSpPr/>
            <p:nvPr/>
          </p:nvSpPr>
          <p:spPr>
            <a:xfrm flipH="false" flipV="false">
              <a:off x="4830337" y="3070763"/>
              <a:ext cx="2531326" cy="2449671"/>
            </a:xfrm>
            <a:prstGeom prst="roundRect">
              <a:avLst>
                <a:gd fmla="val 7320" name="adj"/>
              </a:avLst>
            </a:prstGeom>
            <a:solidFill>
              <a:schemeClr val="tx2">
                <a:alpha val="15000"/>
              </a:schemeClr>
            </a:solidFill>
            <a:ln cap="rnd" w="1270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sp>
          <p:nvSpPr>
            <p:cNvPr descr="b1c00af7-ee1f-4862-a494-913c10e4938b" id="25" name="ïśļïḓè">
              <a:extLst>
                <a:ext uri="{FF2B5EF4-FFF2-40B4-BE49-F238E27FC236}">
                  <a16:creationId id="{0B286F7C-E420-4D58-8C99-C4DAC812F915}"/>
                </a:ext>
              </a:extLst>
            </p:cNvPr>
            <p:cNvSpPr/>
            <p:nvPr/>
          </p:nvSpPr>
          <p:spPr>
            <a:xfrm flipH="false" flipV="false">
              <a:off x="8627074" y="3070763"/>
              <a:ext cx="2531326" cy="2449671"/>
            </a:xfrm>
            <a:prstGeom prst="roundRect">
              <a:avLst>
                <a:gd fmla="val 7320" name="adj"/>
              </a:avLst>
            </a:prstGeom>
            <a:solidFill>
              <a:schemeClr val="tx2">
                <a:alpha val="15000"/>
              </a:schemeClr>
            </a:solidFill>
            <a:ln cap="rnd" w="1270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lIns="91440" numCol="1" rIns="91440" rot="0" rtlCol="0" spcCol="0" spcFirstLastPara="0" tIns="45720" vert="horz" wrap="square">
              <a:prstTxWarp prst="textNoShape">
                <a:avLst/>
              </a:prstTxWarp>
              <a:normAutofit/>
            </a:bodyPr>
            <a:lstStyle/>
            <a:p>
              <a:pPr algn="ctr"/>
            </a:p>
          </p:txBody>
        </p:sp>
        <p:sp>
          <p:nvSpPr>
            <p:cNvPr descr="6b038c3e-0070-4e37-92f4-0802bc6957af" id="4" name="Title">
              <a:extLst>
                <a:ext uri="{FF2B5EF4-FFF2-40B4-BE49-F238E27FC236}">
                  <a16:creationId id="{DB00E144-83B5-25EF-AB1A-B4FFBA99EC6F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关注人员培训与组织结构问题</a:t>
              </a:r>
            </a:p>
          </p:txBody>
        </p:sp>
        <p:grpSp>
          <p:nvGrpSpPr>
            <p:cNvPr descr="1a92d0c7-c093-4dec-84df-2b8e12c94dc7" id="27" name="组合 26">
              <a:extLst>
                <a:ext uri="{FF2B5EF4-FFF2-40B4-BE49-F238E27FC236}">
                  <a16:creationId id="{933E4F36-EDB8-6DB3-FA67-5B7DB6A769C5}"/>
                </a:ext>
              </a:extLst>
            </p:cNvPr>
            <p:cNvGrpSpPr/>
            <p:nvPr/>
          </p:nvGrpSpPr>
          <p:grpSpPr>
            <a:xfrm>
              <a:off x="1034191" y="2055100"/>
              <a:ext cx="2317678" cy="3349793"/>
              <a:chOff x="1034191" y="2055100"/>
              <a:chExt cx="2317678" cy="3349793"/>
            </a:xfrm>
          </p:grpSpPr>
          <p:sp>
            <p:nvSpPr>
              <p:cNvPr descr="351ff589-1718-45b1-8d1f-2ed11639ce06" id="7" name="Number1">
                <a:extLst>
                  <a:ext uri="{FF2B5EF4-FFF2-40B4-BE49-F238E27FC236}">
                    <a16:creationId id="{D25C48EF-806D-4763-9C53-8B1BBAEA3B01}"/>
                  </a:ext>
                </a:extLst>
              </p:cNvPr>
              <p:cNvSpPr txBox="1"/>
              <p:nvPr/>
            </p:nvSpPr>
            <p:spPr>
              <a:xfrm flipH="false" flipV="false">
                <a:off x="1034191" y="2055100"/>
                <a:ext cx="1256145" cy="101566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spAutoFit/>
              </a:bodyPr>
              <a:lstStyle/>
              <a:p>
                <a:pPr algn="l"/>
                <a:r>
                  <a:rPr b="true" i="false" lang="en-US" sz="60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076e8a7d-dd3c-45be-b5d0-9b51b99c9869" id="21" name="Bullet1">
                <a:extLst>
                  <a:ext uri="{FF2B5EF4-FFF2-40B4-BE49-F238E27FC236}">
                    <a16:creationId id="{EE5D8DEB-4EFB-4827-921B-EC1F3F8AE6CB}"/>
                  </a:ext>
                </a:extLst>
              </p:cNvPr>
              <p:cNvSpPr txBox="1"/>
              <p:nvPr/>
            </p:nvSpPr>
            <p:spPr>
              <a:xfrm flipH="false" flipV="false">
                <a:off x="1247838" y="3234435"/>
                <a:ext cx="2104031" cy="702527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技术人才短缺</a:t>
                </a:r>
              </a:p>
            </p:txBody>
          </p:sp>
          <p:sp>
            <p:nvSpPr>
              <p:cNvPr descr="2a038d02-0f4f-4fe4-b7ae-f142738e5c36" id="10" name="Text1">
                <a:extLst>
                  <a:ext uri="{FF2B5EF4-FFF2-40B4-BE49-F238E27FC236}">
                    <a16:creationId id="{EE69EB50-72B3-C1F0-6F1C-995AF769806F}"/>
                  </a:ext>
                </a:extLst>
              </p:cNvPr>
              <p:cNvSpPr txBox="1"/>
              <p:nvPr/>
            </p:nvSpPr>
            <p:spPr>
              <a:xfrm flipH="false" flipV="false">
                <a:off x="1247838" y="3936962"/>
                <a:ext cx="2104031" cy="1467931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人工智能领域专业人才稀缺，保险公司可能面临招聘和培训挑战，影响AI战略的实施效果。</a:t>
                </a:r>
              </a:p>
            </p:txBody>
          </p:sp>
        </p:grpSp>
        <p:grpSp>
          <p:nvGrpSpPr>
            <p:cNvPr descr="ab20441e-6310-41c9-b5b0-34657c2a2990" id="28" name="组合 27">
              <a:extLst>
                <a:ext uri="{FF2B5EF4-FFF2-40B4-BE49-F238E27FC236}">
                  <a16:creationId id="{1BD39C4C-E2B1-6632-C479-EFA30D14532B}"/>
                </a:ext>
              </a:extLst>
            </p:cNvPr>
            <p:cNvGrpSpPr/>
            <p:nvPr/>
          </p:nvGrpSpPr>
          <p:grpSpPr>
            <a:xfrm>
              <a:off x="4830337" y="2055100"/>
              <a:ext cx="2317678" cy="3382670"/>
              <a:chOff x="4830337" y="2055100"/>
              <a:chExt cx="2317678" cy="3382670"/>
            </a:xfrm>
          </p:grpSpPr>
          <p:sp>
            <p:nvSpPr>
              <p:cNvPr descr="2176ff0f-551a-494b-9f3e-18c5fbc6e507" id="8" name="Number2">
                <a:extLst>
                  <a:ext uri="{FF2B5EF4-FFF2-40B4-BE49-F238E27FC236}">
                    <a16:creationId id="{F7F1D010-E107-46DE-9825-1ACEBEC967FD}"/>
                  </a:ext>
                </a:extLst>
              </p:cNvPr>
              <p:cNvSpPr txBox="1"/>
              <p:nvPr/>
            </p:nvSpPr>
            <p:spPr>
              <a:xfrm flipH="false" flipV="false">
                <a:off x="4830337" y="2055100"/>
                <a:ext cx="1256145" cy="101566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spAutoFit/>
              </a:bodyPr>
              <a:lstStyle/>
              <a:p>
                <a:pPr algn="l"/>
                <a:r>
                  <a:rPr b="true" i="false" lang="en-US" sz="6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fec27b84-b527-4906-b4de-8324cf1bbb59" id="24" name="Bullet2">
                <a:extLst>
                  <a:ext uri="{FF2B5EF4-FFF2-40B4-BE49-F238E27FC236}">
                    <a16:creationId id="{9077A16E-0B1E-4954-8257-9E7A23A31AE4}"/>
                  </a:ext>
                </a:extLst>
              </p:cNvPr>
              <p:cNvSpPr txBox="1"/>
              <p:nvPr/>
            </p:nvSpPr>
            <p:spPr>
              <a:xfrm flipH="false" flipV="false">
                <a:off x="5043984" y="3267312"/>
                <a:ext cx="2104031" cy="702527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员工技能转型</a:t>
                </a:r>
              </a:p>
            </p:txBody>
          </p:sp>
          <p:sp>
            <p:nvSpPr>
              <p:cNvPr descr="f9354114-b6dc-44a4-b69b-60a81fb1d568" id="13" name="Text2">
                <a:extLst>
                  <a:ext uri="{FF2B5EF4-FFF2-40B4-BE49-F238E27FC236}">
                    <a16:creationId id="{A7297B16-BE23-83B2-5B7A-27AE8C95BE95}"/>
                  </a:ext>
                </a:extLst>
              </p:cNvPr>
              <p:cNvSpPr txBox="1"/>
              <p:nvPr/>
            </p:nvSpPr>
            <p:spPr>
              <a:xfrm flipH="false" flipV="false">
                <a:off x="5043984" y="3969839"/>
                <a:ext cx="2104031" cy="1467931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现有员工需要接受人工智能技术的培训，以适应新的业务模式和流程，提高员工的适应能力和竞争力。</a:t>
                </a:r>
              </a:p>
            </p:txBody>
          </p:sp>
        </p:grpSp>
        <p:grpSp>
          <p:nvGrpSpPr>
            <p:cNvPr descr="da052257-9028-44e9-8eea-e7b319baee7f" id="29" name="组合 28">
              <a:extLst>
                <a:ext uri="{FF2B5EF4-FFF2-40B4-BE49-F238E27FC236}">
                  <a16:creationId id="{7D689BEE-9569-D432-E7BA-195AE6A5D4D8}"/>
                </a:ext>
              </a:extLst>
            </p:cNvPr>
            <p:cNvGrpSpPr/>
            <p:nvPr/>
          </p:nvGrpSpPr>
          <p:grpSpPr>
            <a:xfrm>
              <a:off x="8626483" y="2055100"/>
              <a:ext cx="2318269" cy="3382670"/>
              <a:chOff x="8626483" y="2055100"/>
              <a:chExt cx="2318269" cy="3382670"/>
            </a:xfrm>
          </p:grpSpPr>
          <p:sp>
            <p:nvSpPr>
              <p:cNvPr descr="1cd141f4-8ad7-4b74-839d-9327664d19b0" id="9" name="Number3">
                <a:extLst>
                  <a:ext uri="{FF2B5EF4-FFF2-40B4-BE49-F238E27FC236}">
                    <a16:creationId id="{FF0E78D6-E330-44C3-925A-18B51100E9E6}"/>
                  </a:ext>
                </a:extLst>
              </p:cNvPr>
              <p:cNvSpPr txBox="1"/>
              <p:nvPr/>
            </p:nvSpPr>
            <p:spPr>
              <a:xfrm flipH="false" flipV="false">
                <a:off x="8626483" y="2055100"/>
                <a:ext cx="1256145" cy="1015663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spAutoFit/>
              </a:bodyPr>
              <a:lstStyle/>
              <a:p>
                <a:pPr algn="l"/>
                <a:r>
                  <a:rPr b="true" i="false" lang="en-US" sz="60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783d8ca9-1a87-4d9d-8b0f-1be684ada0de" id="26" name="Bullet3">
                <a:extLst>
                  <a:ext uri="{FF2B5EF4-FFF2-40B4-BE49-F238E27FC236}">
                    <a16:creationId id="{D4DF3FC4-7098-4462-A9B5-86C293A7EDE6}"/>
                  </a:ext>
                </a:extLst>
              </p:cNvPr>
              <p:cNvSpPr txBox="1"/>
              <p:nvPr/>
            </p:nvSpPr>
            <p:spPr>
              <a:xfrm flipH="false" flipV="false">
                <a:off x="8840721" y="3267312"/>
                <a:ext cx="2104031" cy="702527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组织结构调整</a:t>
                </a:r>
              </a:p>
            </p:txBody>
          </p:sp>
          <p:sp>
            <p:nvSpPr>
              <p:cNvPr descr="4bce1c38-c94e-42e9-9704-2375518e52d5" id="14" name="Text3">
                <a:extLst>
                  <a:ext uri="{FF2B5EF4-FFF2-40B4-BE49-F238E27FC236}">
                    <a16:creationId id="{9A7FF6B7-BAA4-76A7-7300-1E64B78A72EA}"/>
                  </a:ext>
                </a:extLst>
              </p:cNvPr>
              <p:cNvSpPr txBox="1"/>
              <p:nvPr/>
            </p:nvSpPr>
            <p:spPr>
              <a:xfrm flipH="false" flipV="false">
                <a:off x="8840721" y="3969839"/>
                <a:ext cx="2104031" cy="1467931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保险公司需要调整组织结构，以适应人工智能技术的应用和发展，优化内部协作和管理效率。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人员培训与组织结构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585212c8-ec95-4eb9-8bc7-e9317f73ef0a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latin typeface="Average"/>
              </a:rPr>
              <a:t>AI未来展望与建议</a:t>
            </a:r>
          </a:p>
        </p:txBody>
      </p:sp>
      <p:sp>
        <p:nvSpPr>
          <p:cNvPr descr="8ff2b344-0921-4b78-962e-7ac53a72cd58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3200" u="none">
                <a:solidFill>
                  <a:srgbClr val="77C0D9"/>
                </a:solidFill>
                <a:ea typeface="思源黑体 CN Regular"/>
              </a:rPr>
              <a:t>展望AI在保险业未来并提供建议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8e4f4f5d-e015-4766-a449-5bb091300c81" id="22" name="019d5a39-64ee-419a-a374-09444675d919.source.3.zh-Hans.pptx">
            <a:extLst>
              <a:ext uri="{FF2B5EF4-FFF2-40B4-BE49-F238E27FC236}">
                <a16:creationId id="{9FFBAD27-063E-7470-6038-0D63D3B77CF8}"/>
              </a:ext>
            </a:extLst>
          </p:cNvPr>
          <p:cNvGrpSpPr/>
          <p:nvPr/>
        </p:nvGrpSpPr>
        <p:grpSpPr>
          <a:xfrm>
            <a:off x="660399" y="884781"/>
            <a:ext cx="10858501" cy="5249319"/>
            <a:chOff x="660399" y="884781"/>
            <a:chExt cx="10858501" cy="5249319"/>
          </a:xfrm>
        </p:grpSpPr>
        <p:sp>
          <p:nvSpPr>
            <p:cNvPr descr="95f8d092-a8e9-47fa-9cfa-235fe51ccac0" id="2" name="Title">
              <a:extLst>
                <a:ext uri="{FF2B5EF4-FFF2-40B4-BE49-F238E27FC236}">
                  <a16:creationId id="{6E9DFB3E-D5F8-8612-B5E1-90B5FB078512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6913669" cy="770708"/>
            </a:xfrm>
            <a:prstGeom prst="rect">
              <a:avLst/>
            </a:prstGeom>
            <a:noFill/>
          </p:spPr>
          <p:txBody>
            <a:bodyPr anchor="t" anchorCtr="false" rtlCol="0" vert="horz" wrap="square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预测AI技术创新与升级方向</a:t>
              </a:r>
            </a:p>
          </p:txBody>
        </p:sp>
        <p:sp>
          <p:nvSpPr>
            <p:cNvPr descr="08837953-82a3-4b3a-97ff-d1fcb70049b3" id="4" name="任意多边形: 形状 3">
              <a:extLst>
                <a:ext uri="{FF2B5EF4-FFF2-40B4-BE49-F238E27FC236}">
                  <a16:creationId id="{D00AD7EE-FE9E-9927-64E3-5CC1FC3381E5}"/>
                </a:ext>
              </a:extLst>
            </p:cNvPr>
            <p:cNvSpPr/>
            <p:nvPr/>
          </p:nvSpPr>
          <p:spPr>
            <a:xfrm flipH="false" flipV="false">
              <a:off x="770847" y="884781"/>
              <a:ext cx="1058129" cy="107213"/>
            </a:xfrm>
            <a:custGeom>
              <a:avLst/>
              <a:gdLst>
                <a:gd fmla="*/ 856106 w 1058129" name="connsiteX0"/>
                <a:gd fmla="*/ 0 h 107213" name="connsiteY0"/>
                <a:gd fmla="*/ 1058129 w 1058129" name="connsiteX1"/>
                <a:gd fmla="*/ 0 h 107213" name="connsiteY1"/>
                <a:gd fmla="*/ 887698 w 1058129" name="connsiteX2"/>
                <a:gd fmla="*/ 107213 h 107213" name="connsiteY2"/>
                <a:gd fmla="*/ 685674 w 1058129" name="connsiteX3"/>
                <a:gd fmla="*/ 107213 h 107213" name="connsiteY3"/>
                <a:gd fmla="*/ 513164 w 1058129" name="connsiteX4"/>
                <a:gd fmla="*/ 0 h 107213" name="connsiteY4"/>
                <a:gd fmla="*/ 715187 w 1058129" name="connsiteX5"/>
                <a:gd fmla="*/ 0 h 107213" name="connsiteY5"/>
                <a:gd fmla="*/ 544756 w 1058129" name="connsiteX6"/>
                <a:gd fmla="*/ 107213 h 107213" name="connsiteY6"/>
                <a:gd fmla="*/ 342732 w 1058129" name="connsiteX7"/>
                <a:gd fmla="*/ 107213 h 107213" name="connsiteY7"/>
                <a:gd fmla="*/ 170432 w 1058129" name="connsiteX8"/>
                <a:gd fmla="*/ 0 h 107213" name="connsiteY8"/>
                <a:gd fmla="*/ 372455 w 1058129" name="connsiteX9"/>
                <a:gd fmla="*/ 0 h 107213" name="connsiteY9"/>
                <a:gd fmla="*/ 202024 w 1058129" name="connsiteX10"/>
                <a:gd fmla="*/ 107213 h 107213" name="connsiteY10"/>
                <a:gd fmla="*/ 0 w 1058129" name="connsiteX11"/>
                <a:gd fmla="*/ 107213 h 107213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107213" w="1058129">
                  <a:moveTo>
                    <a:pt x="856106" y="0"/>
                  </a:moveTo>
                  <a:lnTo>
                    <a:pt x="1058129" y="0"/>
                  </a:lnTo>
                  <a:lnTo>
                    <a:pt x="887698" y="107213"/>
                  </a:lnTo>
                  <a:lnTo>
                    <a:pt x="685674" y="107213"/>
                  </a:lnTo>
                  <a:close/>
                  <a:moveTo>
                    <a:pt x="513164" y="0"/>
                  </a:moveTo>
                  <a:lnTo>
                    <a:pt x="715187" y="0"/>
                  </a:lnTo>
                  <a:lnTo>
                    <a:pt x="544756" y="107213"/>
                  </a:lnTo>
                  <a:lnTo>
                    <a:pt x="342732" y="107213"/>
                  </a:lnTo>
                  <a:close/>
                  <a:moveTo>
                    <a:pt x="170432" y="0"/>
                  </a:moveTo>
                  <a:lnTo>
                    <a:pt x="372455" y="0"/>
                  </a:lnTo>
                  <a:lnTo>
                    <a:pt x="202024" y="107213"/>
                  </a:lnTo>
                  <a:lnTo>
                    <a:pt x="0" y="10721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 w="9525">
              <a:noFill/>
              <a:prstDash val="solid"/>
              <a:miter/>
            </a:ln>
          </p:spPr>
          <p:txBody>
            <a:bodyPr anchor="ctr" anchorCtr="false" rtlCol="0"/>
            <a:lstStyle/>
            <a:p>
              <a:pPr algn="l"/>
            </a:p>
          </p:txBody>
        </p:sp>
        <p:cxnSp>
          <p:nvCxnSpPr>
            <p:cNvPr descr="451f9a66-2b31-4bf2-ba64-d1eea6381bf3" id="5" name="直接连接符 4">
              <a:extLst>
                <a:ext uri="{FF2B5EF4-FFF2-40B4-BE49-F238E27FC236}">
                  <a16:creationId id="{0C5AF847-25C7-F2FE-4049-CBB9CE3613E2}"/>
                </a:ext>
              </a:extLst>
            </p:cNvPr>
            <p:cNvCxnSpPr/>
            <p:nvPr/>
          </p:nvCxnSpPr>
          <p:spPr>
            <a:xfrm flipH="false" flipV="false">
              <a:off x="660399" y="1028700"/>
              <a:ext cx="10858500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7c4bc936-b0f7-45ea-b9a8-75dee979b196" id="18" name="组合 17">
              <a:extLst>
                <a:ext uri="{FF2B5EF4-FFF2-40B4-BE49-F238E27FC236}">
                  <a16:creationId id="{1D5B786C-1FFC-F0B1-B2E0-2166DD6FDD29}"/>
                </a:ext>
              </a:extLst>
            </p:cNvPr>
            <p:cNvGrpSpPr/>
            <p:nvPr/>
          </p:nvGrpSpPr>
          <p:grpSpPr>
            <a:xfrm>
              <a:off x="660400" y="1986034"/>
              <a:ext cx="4660537" cy="1976969"/>
              <a:chOff x="660400" y="1986034"/>
              <a:chExt cx="4660537" cy="1976969"/>
            </a:xfrm>
          </p:grpSpPr>
          <p:sp>
            <p:nvSpPr>
              <p:cNvPr descr="f2a56780-143b-4af1-9620-01ffb76acebb" id="21" name="矩形: 圆角 20">
                <a:extLst>
                  <a:ext uri="{FF2B5EF4-FFF2-40B4-BE49-F238E27FC236}">
                    <a16:creationId id="{31A3FA3D-D546-B5E9-D599-9203EC68E15D}"/>
                  </a:ext>
                </a:extLst>
              </p:cNvPr>
              <p:cNvSpPr/>
              <p:nvPr/>
            </p:nvSpPr>
            <p:spPr>
              <a:xfrm flipH="false" flipV="false">
                <a:off x="660400" y="2477071"/>
                <a:ext cx="4660537" cy="1463073"/>
              </a:xfrm>
              <a:prstGeom prst="roundRect">
                <a:avLst>
                  <a:gd fmla="val 4325" name="adj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7a765535-fed7-4f53-9275-3c9c7104e72c" id="6" name="任意多边形: 形状 5">
                <a:extLst>
                  <a:ext uri="{FF2B5EF4-FFF2-40B4-BE49-F238E27FC236}">
                    <a16:creationId id="{4523C09E-CA13-845E-A1D4-4510EB30B8B8}"/>
                  </a:ext>
                </a:extLst>
              </p:cNvPr>
              <p:cNvSpPr/>
              <p:nvPr/>
            </p:nvSpPr>
            <p:spPr>
              <a:xfrm flipH="false" flipV="false">
                <a:off x="2647937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e063e06-a5e2-43d5-8acf-3fdd3f02999b" id="7" name="任意多边形: 形状 6">
                <a:extLst>
                  <a:ext uri="{FF2B5EF4-FFF2-40B4-BE49-F238E27FC236}">
                    <a16:creationId id="{9299961B-11B7-4469-1AA8-FC3DD434949F}"/>
                  </a:ext>
                </a:extLst>
              </p:cNvPr>
              <p:cNvSpPr/>
              <p:nvPr/>
            </p:nvSpPr>
            <p:spPr>
              <a:xfrm flipH="false" flipV="false">
                <a:off x="2990669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fe690c9-cc58-4036-8b53-fddb5428f817" id="8" name="任意多边形: 形状 7">
                <a:extLst>
                  <a:ext uri="{FF2B5EF4-FFF2-40B4-BE49-F238E27FC236}">
                    <a16:creationId id="{6E3A65EB-3174-4AE4-8F9D-05987BEF9C65}"/>
                  </a:ext>
                </a:extLst>
              </p:cNvPr>
              <p:cNvSpPr/>
              <p:nvPr/>
            </p:nvSpPr>
            <p:spPr>
              <a:xfrm flipH="false" flipV="false">
                <a:off x="3333611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54f8c7c9-7b23-4b3a-a2b4-c82364ed73cf" id="67" name="平行四边形 66">
                <a:extLst>
                  <a:ext uri="{FF2B5EF4-FFF2-40B4-BE49-F238E27FC236}">
                    <a16:creationId id="{BE8828D1-9110-3EC2-6927-A582FD28AD45}"/>
                  </a:ext>
                </a:extLst>
              </p:cNvPr>
              <p:cNvSpPr/>
              <p:nvPr/>
            </p:nvSpPr>
            <p:spPr>
              <a:xfrm flipH="false" flipV="false">
                <a:off x="4636664" y="3917284"/>
                <a:ext cx="467150" cy="45719"/>
              </a:xfrm>
              <a:prstGeom prst="parallelogram">
                <a:avLst>
                  <a:gd fmla="val 53255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grpSp>
            <p:nvGrpSpPr>
              <p:cNvPr descr="046ee451-6bba-4eee-85de-03b7714c9795" id="13" name="组合 12">
                <a:extLst>
                  <a:ext uri="{FF2B5EF4-FFF2-40B4-BE49-F238E27FC236}">
                    <a16:creationId id="{F3B0BD74-A8A9-10EA-0671-95B56F23C269}"/>
                  </a:ext>
                </a:extLst>
              </p:cNvPr>
              <p:cNvGrpSpPr/>
              <p:nvPr/>
            </p:nvGrpSpPr>
            <p:grpSpPr>
              <a:xfrm>
                <a:off x="807980" y="2093245"/>
                <a:ext cx="4346947" cy="1738527"/>
                <a:chOff x="807980" y="2093245"/>
                <a:chExt cx="4346947" cy="1738527"/>
              </a:xfrm>
            </p:grpSpPr>
            <p:sp>
              <p:nvSpPr>
                <p:cNvPr descr="51db551a-e8c1-4a12-a62d-8f4f9c1d406f" id="10" name="Bullet1">
                  <a:extLst>
                    <a:ext uri="{FF2B5EF4-FFF2-40B4-BE49-F238E27FC236}">
                      <a16:creationId id="{C0748AC3-1896-9EE8-29A2-3ECD30DC200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07981" y="2093245"/>
                  <a:ext cx="3144817" cy="61245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汉仪行楷简"/>
                    </a:rPr>
                    <a:t>机器学习算法优化</a:t>
                  </a:r>
                </a:p>
              </p:txBody>
            </p:sp>
            <p:sp>
              <p:nvSpPr>
                <p:cNvPr descr="169d9d91-2fff-4361-b108-ee261f3f1824" id="11" name="Text1">
                  <a:extLst>
                    <a:ext uri="{FF2B5EF4-FFF2-40B4-BE49-F238E27FC236}">
                      <a16:creationId id="{B0BE4F89-B953-C2B1-6AF1-F6DB7F41E8F2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07980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ea typeface="思源黑体 CN Regular"/>
                    </a:rPr>
                    <a:t>人工智能在保险领域的应用将进一步深化，机器学习算法将更加精准地预测风险、识别欺诈，提高保险定价的合理性。</a:t>
                  </a:r>
                </a:p>
              </p:txBody>
            </p:sp>
          </p:grpSp>
        </p:grpSp>
        <p:grpSp>
          <p:nvGrpSpPr>
            <p:cNvPr descr="fea07d5d-b919-45a7-a85a-53641eaa22ec" id="19" name="组合 18">
              <a:extLst>
                <a:ext uri="{FF2B5EF4-FFF2-40B4-BE49-F238E27FC236}">
                  <a16:creationId id="{21426957-1CBD-73B3-C7AF-DEC98B819CF6}"/>
                </a:ext>
              </a:extLst>
            </p:cNvPr>
            <p:cNvGrpSpPr/>
            <p:nvPr/>
          </p:nvGrpSpPr>
          <p:grpSpPr>
            <a:xfrm>
              <a:off x="6858363" y="1986034"/>
              <a:ext cx="4660537" cy="1976969"/>
              <a:chOff x="6858363" y="1986034"/>
              <a:chExt cx="4660537" cy="1976969"/>
            </a:xfrm>
          </p:grpSpPr>
          <p:sp>
            <p:nvSpPr>
              <p:cNvPr descr="87d781c0-070d-4a76-bb8a-4cbab4497145" id="107" name="矩形: 圆角 106">
                <a:extLst>
                  <a:ext uri="{FF2B5EF4-FFF2-40B4-BE49-F238E27FC236}">
                    <a16:creationId id="{E4558DB7-7CBF-DFB5-243D-D3582AA39BD3}"/>
                  </a:ext>
                </a:extLst>
              </p:cNvPr>
              <p:cNvSpPr/>
              <p:nvPr/>
            </p:nvSpPr>
            <p:spPr>
              <a:xfrm flipH="false" flipV="false">
                <a:off x="6858363" y="2477071"/>
                <a:ext cx="4660537" cy="1463073"/>
              </a:xfrm>
              <a:prstGeom prst="roundRect">
                <a:avLst>
                  <a:gd fmla="val 4325" name="adj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7b482bc9-d906-4b7b-a244-04846d262537" id="111" name="任意多边形: 形状 110">
                <a:extLst>
                  <a:ext uri="{FF2B5EF4-FFF2-40B4-BE49-F238E27FC236}">
                    <a16:creationId id="{EED00848-C0CC-391A-36C0-9A80C4C715EF}"/>
                  </a:ext>
                </a:extLst>
              </p:cNvPr>
              <p:cNvSpPr/>
              <p:nvPr/>
            </p:nvSpPr>
            <p:spPr>
              <a:xfrm flipH="false" flipV="false">
                <a:off x="8845900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b014444-c71a-4637-981c-b4b366623909" id="112" name="任意多边形: 形状 111">
                <a:extLst>
                  <a:ext uri="{FF2B5EF4-FFF2-40B4-BE49-F238E27FC236}">
                    <a16:creationId id="{739D3119-BFE6-A80A-E38E-26F96FD0B4ED}"/>
                  </a:ext>
                </a:extLst>
              </p:cNvPr>
              <p:cNvSpPr/>
              <p:nvPr/>
            </p:nvSpPr>
            <p:spPr>
              <a:xfrm flipH="false" flipV="false">
                <a:off x="9188632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78f0792-f593-4986-8885-321b5ff2e1d5" id="113" name="任意多边形: 形状 112">
                <a:extLst>
                  <a:ext uri="{FF2B5EF4-FFF2-40B4-BE49-F238E27FC236}">
                    <a16:creationId id="{24AD3A4D-6E84-B247-E3B1-97CE7D0D53C3}"/>
                  </a:ext>
                </a:extLst>
              </p:cNvPr>
              <p:cNvSpPr/>
              <p:nvPr/>
            </p:nvSpPr>
            <p:spPr>
              <a:xfrm flipH="false" flipV="false">
                <a:off x="9531574" y="1986034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3737afe-5088-409b-b183-f3cfd12a136b" id="110" name="平行四边形 109">
                <a:extLst>
                  <a:ext uri="{FF2B5EF4-FFF2-40B4-BE49-F238E27FC236}">
                    <a16:creationId id="{9A00C6A7-5793-40AC-4987-B8D561400C96}"/>
                  </a:ext>
                </a:extLst>
              </p:cNvPr>
              <p:cNvSpPr/>
              <p:nvPr/>
            </p:nvSpPr>
            <p:spPr>
              <a:xfrm flipH="false" flipV="false">
                <a:off x="10834627" y="3917284"/>
                <a:ext cx="467150" cy="45719"/>
              </a:xfrm>
              <a:prstGeom prst="parallelogram">
                <a:avLst>
                  <a:gd fmla="val 53255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grpSp>
            <p:nvGrpSpPr>
              <p:cNvPr descr="b08a9141-113e-493b-b017-87a1865b3249" id="14" name="组合 13">
                <a:extLst>
                  <a:ext uri="{FF2B5EF4-FFF2-40B4-BE49-F238E27FC236}">
                    <a16:creationId id="{3FB17BFF-ABCC-FDDA-E46C-C88FABE99416}"/>
                  </a:ext>
                </a:extLst>
              </p:cNvPr>
              <p:cNvGrpSpPr/>
              <p:nvPr/>
            </p:nvGrpSpPr>
            <p:grpSpPr>
              <a:xfrm>
                <a:off x="7005943" y="2093245"/>
                <a:ext cx="4346947" cy="1738527"/>
                <a:chOff x="7005943" y="2093245"/>
                <a:chExt cx="4346947" cy="1738527"/>
              </a:xfrm>
            </p:grpSpPr>
            <p:sp>
              <p:nvSpPr>
                <p:cNvPr descr="f730d986-ad93-4e42-b8e0-e66956edbbf8" id="114" name="Bullet2">
                  <a:extLst>
                    <a:ext uri="{FF2B5EF4-FFF2-40B4-BE49-F238E27FC236}">
                      <a16:creationId id="{D8F7DA2D-5E18-327F-392A-5ED320E5BAF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7005944" y="2093245"/>
                  <a:ext cx="3144817" cy="61245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汉仪行楷简"/>
                    </a:rPr>
                    <a:t>自然语言处理（NLP）技术突破</a:t>
                  </a:r>
                </a:p>
              </p:txBody>
            </p:sp>
            <p:sp>
              <p:nvSpPr>
                <p:cNvPr descr="4c28e762-c500-40b5-bb3f-806bef4c3daf" id="109" name="Text2">
                  <a:extLst>
                    <a:ext uri="{FF2B5EF4-FFF2-40B4-BE49-F238E27FC236}">
                      <a16:creationId id="{54D4E444-52B8-E51D-80F0-50C010712CCF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7005943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latin typeface="Average"/>
                    </a:rPr>
                    <a:t>NLP技术的不断成熟将使智能客服、智能理赔等应用更加智能化，提升客户体验和服务效率。</a:t>
                  </a:r>
                </a:p>
              </p:txBody>
            </p:sp>
          </p:grpSp>
        </p:grpSp>
        <p:grpSp>
          <p:nvGrpSpPr>
            <p:cNvPr descr="b243d6e5-c17c-4eda-ae92-fe024fae0d5b" id="20" name="组合 19">
              <a:extLst>
                <a:ext uri="{FF2B5EF4-FFF2-40B4-BE49-F238E27FC236}">
                  <a16:creationId id="{E8EEFDDF-8063-9E2A-9AFB-0027E0F2AE8D}"/>
                </a:ext>
              </a:extLst>
            </p:cNvPr>
            <p:cNvGrpSpPr/>
            <p:nvPr/>
          </p:nvGrpSpPr>
          <p:grpSpPr>
            <a:xfrm>
              <a:off x="3759381" y="4157131"/>
              <a:ext cx="4660537" cy="1976969"/>
              <a:chOff x="3759381" y="4157131"/>
              <a:chExt cx="4660537" cy="1976969"/>
            </a:xfrm>
          </p:grpSpPr>
          <p:sp>
            <p:nvSpPr>
              <p:cNvPr descr="11756344-159a-41c9-aebf-a37ce907a25f" id="116" name="矩形: 圆角 115">
                <a:extLst>
                  <a:ext uri="{FF2B5EF4-FFF2-40B4-BE49-F238E27FC236}">
                    <a16:creationId id="{76F44DC9-82DA-E486-5D15-664BEC512EB1}"/>
                  </a:ext>
                </a:extLst>
              </p:cNvPr>
              <p:cNvSpPr/>
              <p:nvPr/>
            </p:nvSpPr>
            <p:spPr>
              <a:xfrm flipH="false" flipV="false">
                <a:off x="3759381" y="4648168"/>
                <a:ext cx="4660537" cy="1463073"/>
              </a:xfrm>
              <a:prstGeom prst="roundRect">
                <a:avLst>
                  <a:gd fmla="val 4325" name="adj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d360fe33-1487-44bd-80ce-2f4838393e89" id="120" name="任意多边形: 形状 119">
                <a:extLst>
                  <a:ext uri="{FF2B5EF4-FFF2-40B4-BE49-F238E27FC236}">
                    <a16:creationId id="{75F5CCC0-BB86-45AD-0A7E-A52C46A68095}"/>
                  </a:ext>
                </a:extLst>
              </p:cNvPr>
              <p:cNvSpPr/>
              <p:nvPr/>
            </p:nvSpPr>
            <p:spPr>
              <a:xfrm flipH="false" flipV="false">
                <a:off x="5746918" y="4157131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8b7ffc5-2037-4198-8383-e3b1bb7cef2a" id="121" name="任意多边形: 形状 120">
                <a:extLst>
                  <a:ext uri="{FF2B5EF4-FFF2-40B4-BE49-F238E27FC236}">
                    <a16:creationId id="{3654411C-E9B6-E95C-3F76-A1A17B4A163C}"/>
                  </a:ext>
                </a:extLst>
              </p:cNvPr>
              <p:cNvSpPr/>
              <p:nvPr/>
            </p:nvSpPr>
            <p:spPr>
              <a:xfrm flipH="false" flipV="false">
                <a:off x="6089650" y="4157131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65a6598-56f8-4933-b337-9dfe79925dad" id="122" name="任意多边形: 形状 121">
                <a:extLst>
                  <a:ext uri="{FF2B5EF4-FFF2-40B4-BE49-F238E27FC236}">
                    <a16:creationId id="{C7E2AEC7-C0CE-8044-7E26-3BF44C0A02A0}"/>
                  </a:ext>
                </a:extLst>
              </p:cNvPr>
              <p:cNvSpPr/>
              <p:nvPr/>
            </p:nvSpPr>
            <p:spPr>
              <a:xfrm flipH="false" flipV="false">
                <a:off x="6432592" y="4157131"/>
                <a:ext cx="372453" cy="107211"/>
              </a:xfrm>
              <a:custGeom>
                <a:avLst/>
                <a:gdLst>
                  <a:gd fmla="*/ 92583 w 170687" name="connsiteX0"/>
                  <a:gd fmla="*/ 78105 h 78104" name="connsiteY0"/>
                  <a:gd fmla="*/ 0 w 170687" name="connsiteX1"/>
                  <a:gd fmla="*/ 78105 h 78104" name="connsiteY1"/>
                  <a:gd fmla="*/ 78105 w 170687" name="connsiteX2"/>
                  <a:gd fmla="*/ 0 h 78104" name="connsiteY2"/>
                  <a:gd fmla="*/ 170688 w 170687" name="connsiteX3"/>
                  <a:gd fmla="*/ 0 h 78104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104" w="170687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3c26469-8866-469d-a976-353301d16d0a" id="119" name="平行四边形 118">
                <a:extLst>
                  <a:ext uri="{FF2B5EF4-FFF2-40B4-BE49-F238E27FC236}">
                    <a16:creationId id="{1258B3FC-BD23-B7F8-DDA4-D5CEE8EC91CF}"/>
                  </a:ext>
                </a:extLst>
              </p:cNvPr>
              <p:cNvSpPr/>
              <p:nvPr/>
            </p:nvSpPr>
            <p:spPr>
              <a:xfrm flipH="false" flipV="false">
                <a:off x="7735645" y="6088381"/>
                <a:ext cx="467150" cy="45719"/>
              </a:xfrm>
              <a:prstGeom prst="parallelogram">
                <a:avLst>
                  <a:gd fmla="val 53255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grpSp>
            <p:nvGrpSpPr>
              <p:cNvPr descr="56b390d7-9303-4f3f-9f95-971fea9220fe" id="15" name="组合 14">
                <a:extLst>
                  <a:ext uri="{FF2B5EF4-FFF2-40B4-BE49-F238E27FC236}">
                    <a16:creationId id="{C58C4171-6337-AF58-8FFC-98304DA66207}"/>
                  </a:ext>
                </a:extLst>
              </p:cNvPr>
              <p:cNvGrpSpPr/>
              <p:nvPr/>
            </p:nvGrpSpPr>
            <p:grpSpPr>
              <a:xfrm>
                <a:off x="3906961" y="4264342"/>
                <a:ext cx="4346947" cy="1738527"/>
                <a:chOff x="3906961" y="4264342"/>
                <a:chExt cx="4346947" cy="1738527"/>
              </a:xfrm>
            </p:grpSpPr>
            <p:sp>
              <p:nvSpPr>
                <p:cNvPr descr="8180a4fe-03c3-4e13-8fbd-1f6f3c063cf0" id="123" name="Bullet3">
                  <a:extLst>
                    <a:ext uri="{FF2B5EF4-FFF2-40B4-BE49-F238E27FC236}">
                      <a16:creationId id="{2304D247-E838-E023-F038-27BF800E6DEB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3906962" y="4264342"/>
                  <a:ext cx="3144817" cy="61245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汉仪行楷简"/>
                    </a:rPr>
                    <a:t>物联网（IoT）与保险融合</a:t>
                  </a:r>
                </a:p>
              </p:txBody>
            </p:sp>
            <p:sp>
              <p:nvSpPr>
                <p:cNvPr descr="2a27436f-ab66-49d3-8d62-78f7081c195c" id="118" name="Text3">
                  <a:extLst>
                    <a:ext uri="{FF2B5EF4-FFF2-40B4-BE49-F238E27FC236}">
                      <a16:creationId id="{E30FA3D2-DA18-F4EE-85AD-41345D800DD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3906961" y="4920341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ea typeface="思源黑体 CN Regular"/>
                    </a:rPr>
                    <a:t>物联网技术的广泛应用将实现保险标的的实时监控和风险评估，为保险产品创新提供有力支持。</a:t>
                  </a:r>
                </a:p>
              </p:txBody>
            </p:sp>
          </p:grp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技术创新与升级趋势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300bff8c-2ec8-44ee-a1c2-00f5089f7fda" id="79" name="720d478c-9421-4f0f-9cb9-00c560b38fe9.source.2.zh-Hans.pptx">
            <a:extLst>
              <a:ext uri="{FF2B5EF4-FFF2-40B4-BE49-F238E27FC236}">
                <a16:creationId id="{C06E53D7-290D-C929-B441-EE95C6971F60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ddef9f25-e4ad-452a-8841-b0e8340f0115" id="59" name="Title">
              <a:extLst>
                <a:ext uri="{FF2B5EF4-FFF2-40B4-BE49-F238E27FC236}">
                  <a16:creationId id="{22BB8C5B-8FB8-4BAF-6C23-65266B0DE99F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探讨AI在保险行业的应用拓展</a:t>
              </a:r>
            </a:p>
          </p:txBody>
        </p:sp>
        <p:grpSp>
          <p:nvGrpSpPr>
            <p:cNvPr descr="db48d809-fff5-45b1-a2f5-95bc5e268aa6" id="60" name="组合 59">
              <a:extLst>
                <a:ext uri="{FF2B5EF4-FFF2-40B4-BE49-F238E27FC236}">
                  <a16:creationId id="{6875CBA7-2BE9-8718-98D3-065A20E9DF5E}"/>
                </a:ext>
              </a:extLst>
            </p:cNvPr>
            <p:cNvGrpSpPr/>
            <p:nvPr/>
          </p:nvGrpSpPr>
          <p:grpSpPr>
            <a:xfrm>
              <a:off x="660400" y="1715072"/>
              <a:ext cx="10858499" cy="2103531"/>
              <a:chOff x="1143981" y="1715072"/>
              <a:chExt cx="10858499" cy="2103531"/>
            </a:xfrm>
          </p:grpSpPr>
          <p:grpSp>
            <p:nvGrpSpPr>
              <p:cNvPr descr="66cebd93-7dff-4859-a406-222759ed7af2" id="73" name="组合 72">
                <a:extLst>
                  <a:ext uri="{FF2B5EF4-FFF2-40B4-BE49-F238E27FC236}">
                    <a16:creationId id="{56C25147-4ABF-FCBF-C9BE-B062B56A8DD7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0a8ada03-48cb-45ec-8ffb-9c55da57d554" id="75" name="ComponentBackground1">
                  <a:extLst>
                    <a:ext uri="{FF2B5EF4-FFF2-40B4-BE49-F238E27FC236}">
                      <a16:creationId id="{792D1ACB-EFC4-884C-6DCF-DBD350225D1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abb941c2-d8f5-462d-8be7-77e0adf1bc8a" id="76" name="Text1">
                  <a:extLst>
                    <a:ext uri="{FF2B5EF4-FFF2-40B4-BE49-F238E27FC236}">
                      <a16:creationId id="{C4914216-8D47-9A73-718A-B99AC4D2A21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思源黑体 CN Regular"/>
                    </a:rPr>
                    <a:t>基于大数据和人工智能技术，保险公司可以根据客户需求和风险特征，为客户量身定制个性化保险产品，满足多样化需求。</a:t>
                  </a:r>
                </a:p>
              </p:txBody>
            </p:sp>
            <p:sp>
              <p:nvSpPr>
                <p:cNvPr descr="80bef70a-1aab-47e8-8296-7e28fcafd0c2" id="77" name="Bullet1">
                  <a:extLst>
                    <a:ext uri="{FF2B5EF4-FFF2-40B4-BE49-F238E27FC236}">
                      <a16:creationId id="{7BDAD77B-03C6-8CCD-B317-73B02FF1106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汉仪行楷简"/>
                    </a:rPr>
                    <a:t>个性化保险产品定制</a:t>
                  </a:r>
                </a:p>
              </p:txBody>
            </p:sp>
          </p:grpSp>
          <p:sp>
            <p:nvSpPr>
              <p:cNvPr descr="07f62eb6-e86a-494f-86d6-af89bc297323" id="74" name="Number1">
                <a:extLst>
                  <a:ext uri="{FF2B5EF4-FFF2-40B4-BE49-F238E27FC236}">
                    <a16:creationId id="{F21DB6A3-095D-4645-5CF8-184FAE167C4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ad23c978-0021-4071-b342-df16a3e4caea" id="61" name="组合 60">
              <a:extLst>
                <a:ext uri="{FF2B5EF4-FFF2-40B4-BE49-F238E27FC236}">
                  <a16:creationId id="{76FFB0D5-641D-692A-BF22-AC8FEE9BAB26}"/>
                </a:ext>
              </a:extLst>
            </p:cNvPr>
            <p:cNvGrpSpPr/>
            <p:nvPr/>
          </p:nvGrpSpPr>
          <p:grpSpPr>
            <a:xfrm>
              <a:off x="660400" y="4030569"/>
              <a:ext cx="10858499" cy="2103531"/>
              <a:chOff x="1143981" y="1715072"/>
              <a:chExt cx="10858499" cy="2103531"/>
            </a:xfrm>
          </p:grpSpPr>
          <p:grpSp>
            <p:nvGrpSpPr>
              <p:cNvPr descr="9a438778-2e45-4210-a83f-c2d3d2c6b02d" id="68" name="组合 67">
                <a:extLst>
                  <a:ext uri="{FF2B5EF4-FFF2-40B4-BE49-F238E27FC236}">
                    <a16:creationId id="{FB6E00FF-A37C-9739-5296-B09C653437DA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672fd624-88a3-49b7-8498-7fe8be61fe0b" id="70" name="ComponentBackground2">
                  <a:extLst>
                    <a:ext uri="{FF2B5EF4-FFF2-40B4-BE49-F238E27FC236}">
                      <a16:creationId id="{B4CEA147-52E6-2E7A-5195-188D3F6AD602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3a143eea-71df-43b2-9d63-6d1246fba83c" id="71" name="Text2">
                  <a:extLst>
                    <a:ext uri="{FF2B5EF4-FFF2-40B4-BE49-F238E27FC236}">
                      <a16:creationId id="{E9F7E195-574F-8347-AD1F-C4D3B57CF5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思源黑体 CN Regular"/>
                    </a:rPr>
                    <a:t>人工智能可以实现对保险风险进行实时监控和预警，提高风险识别和控制能力，降低核保成本。通过图像识别、自然语言处理等技术，人工智能可以自动处理理赔申请，提高理赔效率和客户满意度。</a:t>
                  </a:r>
                </a:p>
              </p:txBody>
            </p:sp>
            <p:sp>
              <p:nvSpPr>
                <p:cNvPr descr="c6fe763c-bee2-4a77-beaf-99fc686c983f" id="72" name="Bullet2">
                  <a:extLst>
                    <a:ext uri="{FF2B5EF4-FFF2-40B4-BE49-F238E27FC236}">
                      <a16:creationId id="{B1283C41-5ADB-E1F0-A32E-7D532D9FE01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汉仪行楷简"/>
                    </a:rPr>
                    <a:t>智能风控与核保理赔流程自动化</a:t>
                  </a:r>
                </a:p>
              </p:txBody>
            </p:sp>
          </p:grpSp>
          <p:sp>
            <p:nvSpPr>
              <p:cNvPr descr="6862c4b3-8434-4fc6-a5d5-6eb9b71e3b38" id="69" name="Number2">
                <a:extLst>
                  <a:ext uri="{FF2B5EF4-FFF2-40B4-BE49-F238E27FC236}">
                    <a16:creationId id="{52D7BBC8-BF90-E3B4-F901-3B296710040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行业应用拓展方向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2f92e4d2-e946-4836-9b53-7d3dd6373c0a" id="7" name="47592e89-b1f7-4d52-b6b1-3a66f710108b.source.3.zh-Hans.pptx">
            <a:extLst>
              <a:ext uri="{FF2B5EF4-FFF2-40B4-BE49-F238E27FC236}">
                <a16:creationId id="{F2A8EBA2-8736-54EA-B513-157C8DF28CA5}"/>
              </a:ext>
            </a:extLst>
          </p:cNvPr>
          <p:cNvGrpSpPr/>
          <p:nvPr/>
        </p:nvGrpSpPr>
        <p:grpSpPr>
          <a:xfrm>
            <a:off x="660400" y="1243980"/>
            <a:ext cx="10858500" cy="4370041"/>
            <a:chOff x="660400" y="1243980"/>
            <a:chExt cx="10858500" cy="4370041"/>
          </a:xfrm>
        </p:grpSpPr>
        <p:sp>
          <p:nvSpPr>
            <p:cNvPr descr="9d6ef2c5-8a8e-4743-97a3-33088e74a5ce" id="43" name="矩形: 圆顶角 1">
              <a:extLst>
                <a:ext uri="{FF2B5EF4-FFF2-40B4-BE49-F238E27FC236}">
                  <a16:creationId id="{EFBA2148-4D67-961C-0632-0683A3C11290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767621" y="2200109"/>
              <a:ext cx="3393377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65485aaa-73c7-4509-ae97-5651fada7f42" id="2" name="组合 1">
              <a:extLst>
                <a:ext uri="{FF2B5EF4-FFF2-40B4-BE49-F238E27FC236}">
                  <a16:creationId id="{279B292F-76C3-9514-E7FE-3077620205E4}"/>
                </a:ext>
              </a:extLst>
            </p:cNvPr>
            <p:cNvGrpSpPr/>
            <p:nvPr/>
          </p:nvGrpSpPr>
          <p:grpSpPr>
            <a:xfrm>
              <a:off x="660400" y="2368962"/>
              <a:ext cx="3337032" cy="2982789"/>
              <a:chOff x="660400" y="2368962"/>
              <a:chExt cx="3337032" cy="2982789"/>
            </a:xfrm>
          </p:grpSpPr>
          <p:sp>
            <p:nvSpPr>
              <p:cNvPr descr="e322d100-2d2c-4de8-a050-9600e3d4d4b2" id="44" name="Bullet1">
                <a:extLst>
                  <a:ext uri="{FF2B5EF4-FFF2-40B4-BE49-F238E27FC236}">
                    <a16:creationId id="{B87CB309-59F1-E2E3-C15E-8A9C082E917D}"/>
                  </a:ext>
                </a:extLst>
              </p:cNvPr>
              <p:cNvSpPr txBox="1"/>
              <p:nvPr/>
            </p:nvSpPr>
            <p:spPr>
              <a:xfrm flipH="false" flipV="false">
                <a:off x="931200" y="3257712"/>
                <a:ext cx="3066226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2400" u="none">
                    <a:solidFill>
                      <a:srgbClr val="FFFFFF"/>
                    </a:solidFill>
                    <a:ea typeface="汉仪行楷简"/>
                  </a:rPr>
                  <a:t>加强政策引导与支持</a:t>
                </a:r>
              </a:p>
            </p:txBody>
          </p:sp>
          <p:sp>
            <p:nvSpPr>
              <p:cNvPr descr="9baa7b29-3ba6-450e-8640-63bee44518cc" id="45" name="Text1">
                <a:extLst>
                  <a:ext uri="{FF2B5EF4-FFF2-40B4-BE49-F238E27FC236}">
                    <a16:creationId id="{D9DA336D-3549-277E-2A47-3067D46EBC21}"/>
                  </a:ext>
                </a:extLst>
              </p:cNvPr>
              <p:cNvSpPr txBox="1"/>
              <p:nvPr/>
            </p:nvSpPr>
            <p:spPr>
              <a:xfrm flipH="false" flipV="false">
                <a:off x="931204" y="4153744"/>
                <a:ext cx="3066228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思源黑体 CN Regular"/>
                  </a:rPr>
                  <a:t>政府应加大对人工智能在保险领域的支持力度，制定相关政策和标准，推动技术创新和应用落地，促进行业发展。</a:t>
                </a:r>
              </a:p>
            </p:txBody>
          </p:sp>
          <p:sp>
            <p:nvSpPr>
              <p:cNvPr descr="ec43865c-7566-4d68-bdd1-fc514a04cf05" id="46" name="Number1">
                <a:extLst>
                  <a:ext uri="{FF2B5EF4-FFF2-40B4-BE49-F238E27FC236}">
                    <a16:creationId id="{68AF5485-7008-4A2E-DE8F-C3289A2E7125}"/>
                  </a:ext>
                </a:extLst>
              </p:cNvPr>
              <p:cNvSpPr/>
              <p:nvPr/>
            </p:nvSpPr>
            <p:spPr>
              <a:xfrm flipH="false" flipV="false">
                <a:off x="660400" y="2368962"/>
                <a:ext cx="3066233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sp>
          <p:nvSpPr>
            <p:cNvPr descr="9ae5768f-a7c9-4d1c-b0c5-a8211f04fc2c" id="50" name="矩形: 圆顶角 1">
              <a:extLst>
                <a:ext uri="{FF2B5EF4-FFF2-40B4-BE49-F238E27FC236}">
                  <a16:creationId id="{96E7AB9E-E752-A697-DDFA-87CBC915D13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4446571" y="2200109"/>
              <a:ext cx="3393376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243c15ab-811a-41bc-9c5e-106bbd5a1628" id="5" name="组合 4">
              <a:extLst>
                <a:ext uri="{FF2B5EF4-FFF2-40B4-BE49-F238E27FC236}">
                  <a16:creationId id="{E2078BE2-86C8-3641-08E1-16AD1FB06488}"/>
                </a:ext>
              </a:extLst>
            </p:cNvPr>
            <p:cNvGrpSpPr/>
            <p:nvPr/>
          </p:nvGrpSpPr>
          <p:grpSpPr>
            <a:xfrm>
              <a:off x="4313259" y="2368962"/>
              <a:ext cx="3363122" cy="2982789"/>
              <a:chOff x="4313259" y="2368962"/>
              <a:chExt cx="3363122" cy="2982789"/>
            </a:xfrm>
          </p:grpSpPr>
          <p:sp>
            <p:nvSpPr>
              <p:cNvPr descr="713da6cd-11be-4f9b-911f-dce4790eb2b3" id="51" name="Bullet2">
                <a:extLst>
                  <a:ext uri="{FF2B5EF4-FFF2-40B4-BE49-F238E27FC236}">
                    <a16:creationId id="{5FDB8AED-0F51-4380-D7DB-9620CF19E033}"/>
                  </a:ext>
                </a:extLst>
              </p:cNvPr>
              <p:cNvSpPr txBox="1"/>
              <p:nvPr/>
            </p:nvSpPr>
            <p:spPr>
              <a:xfrm flipH="false" flipV="false">
                <a:off x="4610154" y="3257712"/>
                <a:ext cx="3066227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2400" u="none">
                    <a:solidFill>
                      <a:srgbClr val="FFFFFF"/>
                    </a:solidFill>
                    <a:ea typeface="汉仪行楷简"/>
                  </a:rPr>
                  <a:t>完善监管机制</a:t>
                </a:r>
              </a:p>
            </p:txBody>
          </p:sp>
          <p:sp>
            <p:nvSpPr>
              <p:cNvPr descr="983c63d5-7ecc-4fed-915c-c062c2fc98f3" id="52" name="Text2">
                <a:extLst>
                  <a:ext uri="{FF2B5EF4-FFF2-40B4-BE49-F238E27FC236}">
                    <a16:creationId id="{93C066F4-67DB-A2F6-6C15-854675A6AA5E}"/>
                  </a:ext>
                </a:extLst>
              </p:cNvPr>
              <p:cNvSpPr txBox="1"/>
              <p:nvPr/>
            </p:nvSpPr>
            <p:spPr>
              <a:xfrm flipH="false" flipV="false">
                <a:off x="4610154" y="4153744"/>
                <a:ext cx="3066227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思源黑体 CN Regular"/>
                  </a:rPr>
                  <a:t>建立健全人工智能在保险领域的监管机制，确保技术创新不损害消费者权益，维护市场稳定和公平竞争。</a:t>
                </a:r>
              </a:p>
            </p:txBody>
          </p:sp>
          <p:sp>
            <p:nvSpPr>
              <p:cNvPr descr="04a26b49-ea50-40d7-8d91-9ed1a431ab42" id="53" name="Number2">
                <a:extLst>
                  <a:ext uri="{FF2B5EF4-FFF2-40B4-BE49-F238E27FC236}">
                    <a16:creationId id="{ACDE8BAA-7EE8-8EC1-9634-88F1243E1B68}"/>
                  </a:ext>
                </a:extLst>
              </p:cNvPr>
              <p:cNvSpPr/>
              <p:nvPr/>
            </p:nvSpPr>
            <p:spPr>
              <a:xfrm flipH="false" flipV="false">
                <a:off x="4313259" y="2368962"/>
                <a:ext cx="3066231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sp>
          <p:nvSpPr>
            <p:cNvPr descr="4e8058a1-e8ae-4366-87ed-528de82a8799" id="57" name="矩形: 圆顶角 1">
              <a:extLst>
                <a:ext uri="{FF2B5EF4-FFF2-40B4-BE49-F238E27FC236}">
                  <a16:creationId id="{9DEA1F1D-6E03-0C7F-AB24-CCD89A94AAAF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8125524" y="2200109"/>
              <a:ext cx="3393376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84832c7d-7fec-49fb-8702-276ffa091a13" id="6" name="组合 5">
              <a:extLst>
                <a:ext uri="{FF2B5EF4-FFF2-40B4-BE49-F238E27FC236}">
                  <a16:creationId id="{DEB98441-96F9-29A9-8B03-5825F1C76803}"/>
                </a:ext>
              </a:extLst>
            </p:cNvPr>
            <p:cNvGrpSpPr/>
            <p:nvPr/>
          </p:nvGrpSpPr>
          <p:grpSpPr>
            <a:xfrm>
              <a:off x="7992212" y="2368960"/>
              <a:ext cx="3363122" cy="2982789"/>
              <a:chOff x="7992212" y="2368960"/>
              <a:chExt cx="3363122" cy="2982789"/>
            </a:xfrm>
          </p:grpSpPr>
          <p:sp>
            <p:nvSpPr>
              <p:cNvPr descr="8aa446bd-3f5a-475e-bb94-faab601ce7f0" id="58" name="Bullet3">
                <a:extLst>
                  <a:ext uri="{FF2B5EF4-FFF2-40B4-BE49-F238E27FC236}">
                    <a16:creationId id="{B7986D11-1135-C113-8BEF-ECF8EA6B732E}"/>
                  </a:ext>
                </a:extLst>
              </p:cNvPr>
              <p:cNvSpPr txBox="1"/>
              <p:nvPr/>
            </p:nvSpPr>
            <p:spPr>
              <a:xfrm flipH="false" flipV="false">
                <a:off x="8289107" y="3257710"/>
                <a:ext cx="3066227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2400" u="none">
                    <a:solidFill>
                      <a:srgbClr val="FFFFFF"/>
                    </a:solidFill>
                    <a:ea typeface="汉仪行楷简"/>
                  </a:rPr>
                  <a:t>促进产学研用结合</a:t>
                </a:r>
              </a:p>
            </p:txBody>
          </p:sp>
          <p:sp>
            <p:nvSpPr>
              <p:cNvPr descr="6dac2053-05a6-465d-862e-af304ce36387" id="59" name="Text3">
                <a:extLst>
                  <a:ext uri="{FF2B5EF4-FFF2-40B4-BE49-F238E27FC236}">
                    <a16:creationId id="{BCE0F83F-B551-BEB0-2155-8785521CA91C}"/>
                  </a:ext>
                </a:extLst>
              </p:cNvPr>
              <p:cNvSpPr txBox="1"/>
              <p:nvPr/>
            </p:nvSpPr>
            <p:spPr>
              <a:xfrm flipH="false" flipV="false">
                <a:off x="8289107" y="4153742"/>
                <a:ext cx="3066227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思源黑体 CN Regular"/>
                  </a:rPr>
                  <a:t>加强学术界、产业界和政府部门之间的合作与交流，推动人工智能技术在保险领域的研发与应用，形成良好的产业生态。</a:t>
                </a:r>
              </a:p>
            </p:txBody>
          </p:sp>
          <p:sp>
            <p:nvSpPr>
              <p:cNvPr descr="0182de96-8109-4d21-98f4-7faedfe6a7dd" id="60" name="Number3">
                <a:extLst>
                  <a:ext uri="{FF2B5EF4-FFF2-40B4-BE49-F238E27FC236}">
                    <a16:creationId id="{FA5C2A86-682C-2232-B440-E34DCEBC93F0}"/>
                  </a:ext>
                </a:extLst>
              </p:cNvPr>
              <p:cNvSpPr/>
              <p:nvPr/>
            </p:nvSpPr>
            <p:spPr>
              <a:xfrm flipH="false" flipV="false">
                <a:off x="7992212" y="2368960"/>
                <a:ext cx="3066231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sp>
          <p:nvSpPr>
            <p:cNvPr descr="e6e3b07f-871c-4509-b327-d8711f90e4c5" id="83" name="Title">
              <a:extLst>
                <a:ext uri="{FF2B5EF4-FFF2-40B4-BE49-F238E27FC236}">
                  <a16:creationId id="{FDF9AC53-A5EC-9258-53E4-E15C3608CC76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243980"/>
              <a:ext cx="10858500" cy="693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汉仪行楷简"/>
                </a:rPr>
                <a:t>分析政策支持对产业发展的意义</a:t>
              </a:r>
            </a:p>
          </p:txBody>
        </p: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政策支持与产业发展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5805fa7c-6d8f-48fa-b708-6deeddaeb001" id="42" name="359b100d-0e95-450a-952d-1764068cc8f7.source.3.zh-Hans.pptx">
            <a:extLst>
              <a:ext uri="{FF2B5EF4-FFF2-40B4-BE49-F238E27FC236}">
                <a16:creationId id="{9BEC4E4C-279E-CB07-8654-FB29285620E3}"/>
              </a:ext>
            </a:extLst>
          </p:cNvPr>
          <p:cNvGrpSpPr/>
          <p:nvPr/>
        </p:nvGrpSpPr>
        <p:grpSpPr>
          <a:xfrm>
            <a:off x="0" y="1130303"/>
            <a:ext cx="11518900" cy="5003796"/>
            <a:chOff x="0" y="1130303"/>
            <a:chExt cx="11518900" cy="5003796"/>
          </a:xfrm>
        </p:grpSpPr>
        <p:sp>
          <p:nvSpPr>
            <p:cNvPr descr="fe750c60-4576-4115-b88d-895a8db9dd62" id="3" name="íṡľiḓé">
              <a:extLst>
                <a:ext uri="{FF2B5EF4-FFF2-40B4-BE49-F238E27FC236}">
                  <a16:creationId id="{9183E05E-AC42-2DA5-5294-3BBF30679285}"/>
                </a:ext>
              </a:extLst>
            </p:cNvPr>
            <p:cNvSpPr/>
            <p:nvPr/>
          </p:nvSpPr>
          <p:spPr bwMode="auto">
            <a:xfrm flipH="false" flipV="false">
              <a:off x="0" y="3016115"/>
              <a:ext cx="11518900" cy="779926"/>
            </a:xfrm>
            <a:custGeom>
              <a:avLst/>
              <a:gdLst>
                <a:gd fmla="*/ 7279 w 7680" name="T0"/>
                <a:gd fmla="*/ 0 h 520" name="T1"/>
                <a:gd fmla="*/ 0 w 7680" name="T2"/>
                <a:gd fmla="*/ 0 h 520" name="T3"/>
                <a:gd fmla="*/ 0 w 7680" name="T4"/>
                <a:gd fmla="*/ 520 h 520" name="T5"/>
                <a:gd fmla="*/ 7279 w 7680" name="T6"/>
                <a:gd fmla="*/ 520 h 520" name="T7"/>
                <a:gd fmla="*/ 7680 w 7680" name="T8"/>
                <a:gd fmla="*/ 259 h 520" name="T9"/>
                <a:gd fmla="*/ 7279 w 7680" name="T10"/>
                <a:gd fmla="*/ 0 h 520" name="T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b="b" l="0" r="r" t="0"/>
              <a:pathLst>
                <a:path h="520" w="7680">
                  <a:moveTo>
                    <a:pt x="7279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7279" y="520"/>
                  </a:lnTo>
                  <a:lnTo>
                    <a:pt x="7680" y="259"/>
                  </a:lnTo>
                  <a:lnTo>
                    <a:pt x="7279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/>
            <a:p>
              <a:pPr algn="l"/>
            </a:p>
          </p:txBody>
        </p:sp>
        <p:sp>
          <p:nvSpPr>
            <p:cNvPr descr="5b7a7ecf-8417-48a2-b202-e66fc232affa" id="4" name="Title">
              <a:extLst>
                <a:ext uri="{FF2B5EF4-FFF2-40B4-BE49-F238E27FC236}">
                  <a16:creationId id="{776E3412-EAB3-4983-11CE-936BF2659A13}"/>
                </a:ext>
              </a:extLst>
            </p:cNvPr>
            <p:cNvSpPr txBox="1"/>
            <p:nvPr/>
          </p:nvSpPr>
          <p:spPr>
            <a:xfrm flipH="false" flipV="false">
              <a:off x="660400" y="1130303"/>
              <a:ext cx="10858500" cy="778100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tru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汉仪行楷简"/>
                </a:rPr>
                <a:t>总结研究结论并提供应对挑战的策略</a:t>
              </a:r>
            </a:p>
          </p:txBody>
        </p:sp>
        <p:grpSp>
          <p:nvGrpSpPr>
            <p:cNvPr descr="812ee21f-eccd-4bc3-acf2-c5fbbfe09f57" id="5" name="组合 4">
              <a:extLst>
                <a:ext uri="{FF2B5EF4-FFF2-40B4-BE49-F238E27FC236}">
                  <a16:creationId id="{7C7453F1-899B-FBD8-0D59-B80A8B6C4844}"/>
                </a:ext>
              </a:extLst>
            </p:cNvPr>
            <p:cNvGrpSpPr/>
            <p:nvPr/>
          </p:nvGrpSpPr>
          <p:grpSpPr>
            <a:xfrm>
              <a:off x="1072968" y="2922459"/>
              <a:ext cx="2927532" cy="3211640"/>
              <a:chOff x="336505" y="2922459"/>
              <a:chExt cx="2927532" cy="3211640"/>
            </a:xfrm>
          </p:grpSpPr>
          <p:sp>
            <p:nvSpPr>
              <p:cNvPr descr="3ad271c6-cea6-4122-aa90-b96a2ca62f87" id="24" name="shape1">
                <a:extLst>
                  <a:ext uri="{FF2B5EF4-FFF2-40B4-BE49-F238E27FC236}">
                    <a16:creationId id="{D3827223-961B-C701-5C8D-0D1150BD1370}"/>
                  </a:ext>
                </a:extLst>
              </p:cNvPr>
              <p:cNvSpPr/>
              <p:nvPr/>
            </p:nvSpPr>
            <p:spPr bwMode="auto">
              <a:xfrm flipH="false" flipV="false">
                <a:off x="1221700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cd3c9abb-4a85-4374-a5d4-03ab7a0f7ece" id="26" name="Bullet1">
                <a:extLst>
                  <a:ext uri="{FF2B5EF4-FFF2-40B4-BE49-F238E27FC236}">
                    <a16:creationId id="{9AB8F831-1E0E-BA20-AC6F-EF3B3691DB97}"/>
                  </a:ext>
                </a:extLst>
              </p:cNvPr>
              <p:cNvSpPr/>
              <p:nvPr/>
            </p:nvSpPr>
            <p:spPr>
              <a:xfrm flipH="false" flipV="false">
                <a:off x="336505" y="4061460"/>
                <a:ext cx="2927532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研究结论总结</a:t>
                </a:r>
              </a:p>
            </p:txBody>
          </p:sp>
          <p:sp>
            <p:nvSpPr>
              <p:cNvPr descr="25ba6b2d-024f-4e20-82ea-b6b69a6afce9" id="28" name="Text1">
                <a:extLst>
                  <a:ext uri="{FF2B5EF4-FFF2-40B4-BE49-F238E27FC236}">
                    <a16:creationId id="{1DA02B51-449B-1D02-A24D-7CA1CAE9F3BC}"/>
                  </a:ext>
                </a:extLst>
              </p:cNvPr>
              <p:cNvSpPr/>
              <p:nvPr/>
            </p:nvSpPr>
            <p:spPr>
              <a:xfrm flipH="false" flipV="false">
                <a:off x="336505" y="4757496"/>
                <a:ext cx="2927532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人工智能在保险业中的应用具有显著优势，可提高效率、降低成本、优化体验和控制风险，是未来发展的必然趋势。</a:t>
                </a:r>
              </a:p>
            </p:txBody>
          </p:sp>
          <p:sp>
            <p:nvSpPr>
              <p:cNvPr descr="24f6039a-c30d-406b-ab1f-030d304ab26e" id="41" name="Number1">
                <a:extLst>
                  <a:ext uri="{FF2B5EF4-FFF2-40B4-BE49-F238E27FC236}">
                    <a16:creationId id="{FDD1E44E-E50E-898F-8564-E00C5F474B5B}"/>
                  </a:ext>
                </a:extLst>
              </p:cNvPr>
              <p:cNvSpPr/>
              <p:nvPr/>
            </p:nvSpPr>
            <p:spPr>
              <a:xfrm flipH="false" flipV="false">
                <a:off x="1536416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e7dda656-f685-4e66-bd31-3c93200ff6d0" id="6" name="组合 5">
              <a:extLst>
                <a:ext uri="{FF2B5EF4-FFF2-40B4-BE49-F238E27FC236}">
                  <a16:creationId id="{7E0437E0-6069-3CE9-BDE2-40305C340D9D}"/>
                </a:ext>
              </a:extLst>
            </p:cNvPr>
            <p:cNvGrpSpPr/>
            <p:nvPr/>
          </p:nvGrpSpPr>
          <p:grpSpPr>
            <a:xfrm>
              <a:off x="4625884" y="2922459"/>
              <a:ext cx="2927532" cy="3211640"/>
              <a:chOff x="2805787" y="2922459"/>
              <a:chExt cx="2927532" cy="3211640"/>
            </a:xfrm>
          </p:grpSpPr>
          <p:sp>
            <p:nvSpPr>
              <p:cNvPr descr="11192762-6d5a-4d3f-bbe2-96f868d24729" id="20" name="shape2">
                <a:extLst>
                  <a:ext uri="{FF2B5EF4-FFF2-40B4-BE49-F238E27FC236}">
                    <a16:creationId id="{BEF5A0F9-87E3-9DDE-E548-B175804F57CE}"/>
                  </a:ext>
                </a:extLst>
              </p:cNvPr>
              <p:cNvSpPr/>
              <p:nvPr/>
            </p:nvSpPr>
            <p:spPr bwMode="auto">
              <a:xfrm flipH="false" flipV="false">
                <a:off x="3690982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ae01a7eb-4182-4961-92c1-c312a45e85ba" id="21" name="Bullet2">
                <a:extLst>
                  <a:ext uri="{FF2B5EF4-FFF2-40B4-BE49-F238E27FC236}">
                    <a16:creationId id="{4D68C185-BB93-CA0B-56AC-8E6EF93C3F59}"/>
                  </a:ext>
                </a:extLst>
              </p:cNvPr>
              <p:cNvSpPr/>
              <p:nvPr/>
            </p:nvSpPr>
            <p:spPr>
              <a:xfrm flipH="false" flipV="false">
                <a:off x="2805787" y="4061460"/>
                <a:ext cx="2927532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应对挑战策略</a:t>
                </a:r>
              </a:p>
            </p:txBody>
          </p:sp>
          <p:sp>
            <p:nvSpPr>
              <p:cNvPr descr="3c92e2ae-01dc-47a8-a2e5-79efbbdd9a86" id="22" name="Text2">
                <a:extLst>
                  <a:ext uri="{FF2B5EF4-FFF2-40B4-BE49-F238E27FC236}">
                    <a16:creationId id="{A74DE6E6-043A-728E-6E5F-56EC08BA9717}"/>
                  </a:ext>
                </a:extLst>
              </p:cNvPr>
              <p:cNvSpPr/>
              <p:nvPr/>
            </p:nvSpPr>
            <p:spPr>
              <a:xfrm flipH="false" flipV="false">
                <a:off x="2805787" y="4757496"/>
                <a:ext cx="2927532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针对数据安全、技术成熟度、法规政策等挑战，保险公司应加强数据安全保护、提升技术水平、遵守法规政策，培养专业人才，加强培训，调整组织结构。</a:t>
                </a:r>
              </a:p>
            </p:txBody>
          </p:sp>
          <p:sp>
            <p:nvSpPr>
              <p:cNvPr descr="89b6ef39-f8f3-4263-b933-109b2e24a9d0" id="23" name="Number2">
                <a:extLst>
                  <a:ext uri="{FF2B5EF4-FFF2-40B4-BE49-F238E27FC236}">
                    <a16:creationId id="{819CA76D-FFC3-E614-6910-A0F88CE334E8}"/>
                  </a:ext>
                </a:extLst>
              </p:cNvPr>
              <p:cNvSpPr/>
              <p:nvPr/>
            </p:nvSpPr>
            <p:spPr>
              <a:xfrm flipH="false" flipV="false">
                <a:off x="4005698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0A070D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d4d7f4b7-864e-4784-b3c4-c7eb4a7c0f0c" id="9" name="组合 8">
              <a:extLst>
                <a:ext uri="{FF2B5EF4-FFF2-40B4-BE49-F238E27FC236}">
                  <a16:creationId id="{32615D53-66D8-2D12-EC64-3B401172BB53}"/>
                </a:ext>
              </a:extLst>
            </p:cNvPr>
            <p:cNvGrpSpPr/>
            <p:nvPr/>
          </p:nvGrpSpPr>
          <p:grpSpPr>
            <a:xfrm>
              <a:off x="8178800" y="2922459"/>
              <a:ext cx="2927532" cy="3211640"/>
              <a:chOff x="5275069" y="2922459"/>
              <a:chExt cx="2927532" cy="3211640"/>
            </a:xfrm>
          </p:grpSpPr>
          <p:sp>
            <p:nvSpPr>
              <p:cNvPr descr="810bc9c1-568f-4b4c-a186-c04bf9ba5db9" id="16" name="shape3">
                <a:extLst>
                  <a:ext uri="{FF2B5EF4-FFF2-40B4-BE49-F238E27FC236}">
                    <a16:creationId id="{2C780E2F-159F-2C32-DDD3-31C1874901B6}"/>
                  </a:ext>
                </a:extLst>
              </p:cNvPr>
              <p:cNvSpPr/>
              <p:nvPr/>
            </p:nvSpPr>
            <p:spPr bwMode="auto">
              <a:xfrm flipH="false" flipV="false">
                <a:off x="6160264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923b7824-f449-4f5f-8f10-18db36ea47e1" id="17" name="Bullet3">
                <a:extLst>
                  <a:ext uri="{FF2B5EF4-FFF2-40B4-BE49-F238E27FC236}">
                    <a16:creationId id="{8297540C-B842-A309-61E0-C9CDD2109598}"/>
                  </a:ext>
                </a:extLst>
              </p:cNvPr>
              <p:cNvSpPr/>
              <p:nvPr/>
            </p:nvSpPr>
            <p:spPr>
              <a:xfrm flipH="false" flipV="false">
                <a:off x="5275069" y="4061460"/>
                <a:ext cx="2927532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汉仪行楷简"/>
                  </a:rPr>
                  <a:t>未来发展期望</a:t>
                </a:r>
              </a:p>
            </p:txBody>
          </p:sp>
          <p:sp>
            <p:nvSpPr>
              <p:cNvPr descr="a015881c-fb5e-4690-a60a-c01450427f7c" id="18" name="Text3">
                <a:extLst>
                  <a:ext uri="{FF2B5EF4-FFF2-40B4-BE49-F238E27FC236}">
                    <a16:creationId id="{07BA7BD5-AB73-D910-CDC8-05B96BF4F4E0}"/>
                  </a:ext>
                </a:extLst>
              </p:cNvPr>
              <p:cNvSpPr/>
              <p:nvPr/>
            </p:nvSpPr>
            <p:spPr>
              <a:xfrm flipH="false" flipV="false">
                <a:off x="5275069" y="4757496"/>
                <a:ext cx="2927532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思源黑体 CN Regular"/>
                  </a:rPr>
                  <a:t>推动人工智能与保险业务的深度融合，拓展应用场景，助力保险行业转型升级，实现高质量发展。</a:t>
                </a:r>
              </a:p>
            </p:txBody>
          </p:sp>
          <p:sp>
            <p:nvSpPr>
              <p:cNvPr descr="f0bfd0fd-9df7-4197-83cf-8e72bec73377" id="19" name="Number3">
                <a:extLst>
                  <a:ext uri="{FF2B5EF4-FFF2-40B4-BE49-F238E27FC236}">
                    <a16:creationId id="{0B989C3D-9A9F-C03D-C70E-66A27A80A2C0}"/>
                  </a:ext>
                </a:extLst>
              </p:cNvPr>
              <p:cNvSpPr/>
              <p:nvPr/>
            </p:nvSpPr>
            <p:spPr>
              <a:xfrm flipH="false" flipV="false">
                <a:off x="6474980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4ae67ea1-4db7-4b97-ae33-099767fc4162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3000" u="none">
                <a:solidFill>
                  <a:srgbClr val="FFFFFF"/>
                </a:solidFill>
                <a:ea typeface="汉仪行楷简"/>
              </a:rPr>
              <a:t>结论与应对策略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7bba27b3-77b0-4793-9c09-51865d1b255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false" i="false" lang="en-US" sz="6000" u="none">
                <a:solidFill>
                  <a:srgbClr val="FFFFFF"/>
                </a:solidFill>
                <a:ea typeface="汉仪行楷简"/>
              </a:rPr>
              <a:t>谢谢观看</a:t>
            </a:r>
          </a:p>
        </p:txBody>
      </p:sp>
      <p:sp>
        <p:nvSpPr>
          <p:cNvPr descr="8138b678-5028-4059-89c7-3fae16750775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latin typeface="思源黑体 CN Regular"/>
              </a:rPr>
              <a:t>20xx.xx.xx</a:t>
            </a:r>
          </a:p>
        </p:txBody>
      </p:sp>
      <p:sp>
        <p:nvSpPr>
          <p:cNvPr descr="0208657c-3190-48d9-87a5-981b8a9a1285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思源黑体 CN Regular"/>
              </a:rPr>
              <a:t>报告人名称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02610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49254;#836768;#849260;#849262;"/>
</p:tagLst>
</file>

<file path=ppt/tags/tag3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a="http://schemas.openxmlformats.org/drawingml/2006/main" name="Designed by iSlide">
  <a:themeElements>
    <a:clrScheme name="自定义 212">
      <a:dk1>
        <a:srgbClr val="0A070D"/>
      </a:dk1>
      <a:lt1>
        <a:srgbClr val="FFFFFF"/>
      </a:lt1>
      <a:dk2>
        <a:srgbClr val="0A070D"/>
      </a:dk2>
      <a:lt2>
        <a:srgbClr val="FFFFFF"/>
      </a:lt2>
      <a:accent1>
        <a:srgbClr val="E8A724"/>
      </a:accent1>
      <a:accent2>
        <a:srgbClr val="E14773"/>
      </a:accent2>
      <a:accent3>
        <a:srgbClr val="EE381A"/>
      </a:accent3>
      <a:accent4>
        <a:srgbClr val="7865D9"/>
      </a:accent4>
      <a:accent5>
        <a:srgbClr val="E87294"/>
      </a:accent5>
      <a:accent6>
        <a:srgbClr val="EC7D30"/>
      </a:accent6>
      <a:hlink>
        <a:srgbClr val="FF00FF"/>
      </a:hlink>
      <a:folHlink>
        <a:srgbClr val="5494E2"/>
      </a:folHlink>
    </a:clrScheme>
    <a:fontScheme name="iSlide">
      <a:majorFont>
        <a:latin typeface="Average"/>
        <a:ea typeface="汉仪行楷简"/>
        <a:cs typeface=""/>
      </a:majorFont>
      <a:minorFont>
        <a:latin typeface="Average"/>
        <a:ea typeface="思源黑体 CN Regular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982</TotalTime>
  <Words>76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Average</vt:lpstr>
      <vt:lpstr>阿里巴巴普惠体 2.0 65 Medium</vt:lpstr>
      <vt:lpstr>阿里巴巴普惠体 2.0 65 SemiBold</vt:lpstr>
      <vt:lpstr>Arial</vt:lpstr>
      <vt:lpstr>Designed by iSlide</vt:lpstr>
      <vt:lpstr>综合保险保障计划 产品说明会</vt:lpstr>
      <vt:lpstr>目录</vt:lpstr>
      <vt:lpstr>请输入章节标题内容</vt:lpstr>
      <vt:lpstr>请输入标题内容</vt:lpstr>
      <vt:lpstr>感谢观看</vt:lpstr>
    </vt:vector>
  </TitlesOfParts>
  <Manager>风信子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2024-09-12T16:00:00Z</dcterms:created>
  <dc:creator>风信子</dc:creator>
  <cp:lastModifiedBy>chen'cui</cp:lastModifiedBy>
  <cp:lastPrinted>2024-09-12T16:00:00Z</cp:lastPrinted>
  <dcterms:modified xsi:type="dcterms:W3CDTF">2025-04-22T09:06:17Z</dcterms:modified>
  <cp:revision>138</cp:revision>
  <dc:title>汽车消费者 洞察报告PPT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bfa1b57f-227c-48af-bc32-06f62f84d41a</vt:lpwstr>
  </property>
</Properties>
</file>