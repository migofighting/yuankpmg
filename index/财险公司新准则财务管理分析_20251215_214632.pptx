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7.xml"/>
  <Override ContentType="application/vnd.openxmlformats-officedocument.presentationml.tags+xml" PartName="/ppt/tags/tag522.xml"/>
  <Override ContentType="application/vnd.openxmlformats-officedocument.presentationml.tags+xml" PartName="/ppt/tags/tag2723.xml"/>
  <Override ContentType="application/vnd.openxmlformats-officedocument.presentationml.tags+xml" PartName="/ppt/tags/tag3926.xml"/>
  <Override ContentType="application/vnd.openxmlformats-officedocument.presentationml.tags+xml" PartName="/ppt/tags/tag5224.xml"/>
  <Override ContentType="application/vnd.openxmlformats-officedocument.presentationml.tags+xml" PartName="/ppt/tags/tag6725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f1b72243be6b4c00"/>
    <p:sldId id="257" r:id="Rb8ab1d4f5b044b95"/>
    <p:sldId id="258" r:id="Re5b8143fd75d4936"/>
    <p:sldId id="259" r:id="R1e4e1e0ec4bf423f"/>
    <p:sldId id="260" r:id="R7834a7ae9a484eb2"/>
    <p:sldId id="261" r:id="R3ad295b5c29545e1"/>
    <p:sldId id="262" r:id="Rd403bef5d9bd4efa"/>
    <p:sldId id="263" r:id="R9fed2275bb9e427d"/>
    <p:sldId id="264" r:id="R4f40d7e83fc443d7"/>
    <p:sldId id="265" r:id="Rc2f5d746cf6f4c96"/>
    <p:sldId id="266" r:id="Rdff90a20222e427f"/>
    <p:sldId id="267" r:id="Raf4ae0c90f234276"/>
    <p:sldId id="268" r:id="Rd5e1643f5ae648d0"/>
    <p:sldId id="269" r:id="R6433e78615b64f81"/>
    <p:sldId id="270" r:id="R0a9fb57f9ce24b37"/>
    <p:sldId id="271" r:id="R060ce95fc1cc4fdf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1158" y="690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060ce95fc1cc4fdf" Target="slides/slide21.xml" Type="http://schemas.openxmlformats.org/officeDocument/2006/relationships/slide"/><Relationship Id="R0a9fb57f9ce24b37" Target="slides/slide20.xml" Type="http://schemas.openxmlformats.org/officeDocument/2006/relationships/slide"/><Relationship Id="R1e4e1e0ec4bf423f" Target="slides/slide9.xml" Type="http://schemas.openxmlformats.org/officeDocument/2006/relationships/slide"/><Relationship Id="R3ad295b5c29545e1" Target="slides/slide11.xml" Type="http://schemas.openxmlformats.org/officeDocument/2006/relationships/slide"/><Relationship Id="R4f40d7e83fc443d7" Target="slides/slide14.xml" Type="http://schemas.openxmlformats.org/officeDocument/2006/relationships/slide"/><Relationship Id="R6433e78615b64f81" Target="slides/slide19.xml" Type="http://schemas.openxmlformats.org/officeDocument/2006/relationships/slide"/><Relationship Id="R7834a7ae9a484eb2" Target="slides/slide10.xml" Type="http://schemas.openxmlformats.org/officeDocument/2006/relationships/slide"/><Relationship Id="R9fed2275bb9e427d" Target="slides/slide13.xml" Type="http://schemas.openxmlformats.org/officeDocument/2006/relationships/slide"/><Relationship Id="Raf4ae0c90f234276" Target="slides/slide17.xml" Type="http://schemas.openxmlformats.org/officeDocument/2006/relationships/slide"/><Relationship Id="Rb8ab1d4f5b044b95" Target="slides/slide7.xml" Type="http://schemas.openxmlformats.org/officeDocument/2006/relationships/slide"/><Relationship Id="Rc2f5d746cf6f4c96" Target="slides/slide15.xml" Type="http://schemas.openxmlformats.org/officeDocument/2006/relationships/slide"/><Relationship Id="Rd403bef5d9bd4efa" Target="slides/slide12.xml" Type="http://schemas.openxmlformats.org/officeDocument/2006/relationships/slide"/><Relationship Id="Rd5e1643f5ae648d0" Target="slides/slide18.xml" Type="http://schemas.openxmlformats.org/officeDocument/2006/relationships/slide"/><Relationship Id="Rdff90a20222e427f" Target="slides/slide16.xml" Type="http://schemas.openxmlformats.org/officeDocument/2006/relationships/slide"/><Relationship Id="Re5b8143fd75d4936" Target="slides/slide8.xml" Type="http://schemas.openxmlformats.org/officeDocument/2006/relationships/slide"/><Relationship Id="Rf1b72243be6b4c00" Target="slides/slide6.xml" Type="http://schemas.openxmlformats.org/officeDocument/2006/relationships/slide"/><Relationship Id="rId1" Target="slideMasters/slideMaster1.xml" Type="http://schemas.openxmlformats.org/officeDocument/2006/relationships/slideMaster"/><Relationship Id="rId14" Target="tags/tag1.xml" Type="http://schemas.openxmlformats.org/officeDocument/2006/relationships/tags"/><Relationship Id="rId15" Target="presProps.xml" Type="http://schemas.openxmlformats.org/officeDocument/2006/relationships/presProps"/><Relationship Id="rId16" Target="viewProps.xml" Type="http://schemas.openxmlformats.org/officeDocument/2006/relationships/viewProps"/><Relationship Id="rId17" Target="theme/theme1.xml" Type="http://schemas.openxmlformats.org/officeDocument/2006/relationships/theme"/><Relationship Id="rId18" Target="tableStyles.xml" Type="http://schemas.openxmlformats.org/officeDocument/2006/relationships/tableStyles"/></Relationships>
</file>

<file path=ppt/slideLayouts/_rels/slideLayout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bg>
      <p:bgPr>
        <a:gradFill flip="none" rotWithShape="1">
          <a:gsLst>
            <a:gs pos="56000">
              <a:schemeClr val="accent1">
                <a:lumMod val="10000"/>
                <a:lumOff val="90000"/>
              </a:schemeClr>
            </a:gs>
            <a:gs pos="100000">
              <a:schemeClr val="accent1">
                <a:lumMod val="25000"/>
                <a:lumOff val="75000"/>
                <a:alpha val="99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" descr="42599e92-1ce1-460e-98bc-c85453751240"/>
          <p:cNvGrpSpPr/>
          <p:nvPr/>
        </p:nvGrpSpPr>
        <p:grpSpPr>
          <a:xfrm>
            <a:off x="0" y="0"/>
            <a:ext cx="12192000" cy="6858001"/>
            <a:chExt cx="12192000" cy="6858001"/>
          </a:xfrm>
        </p:grpSpPr>
        <p:sp>
          <p:nvSpPr>
            <p:cNvPr id="21" name="" descr="f35b9c7a-de17-4a4c-9369-d08d96e43ae8"/>
            <p:cNvSpPr/>
            <p:nvPr/>
          </p:nvSpPr>
          <p:spPr bwMode="auto">
            <a:xfrm>
              <a:off x="3464591" y="2"/>
              <a:ext cx="8727409" cy="6857999"/>
            </a:xfrm>
            <a:custGeom>
              <a:gdLst>
                <a:gd name="connsiteX0" fmla="*/ 0 w 8727409"/>
                <a:gd name="connsiteY0" fmla="*/ 0 h 6857999"/>
                <a:gd name="connsiteX1" fmla="*/ 6574565 w 8727409"/>
                <a:gd name="connsiteY1" fmla="*/ 0 h 6857999"/>
                <a:gd name="connsiteX2" fmla="*/ 8727409 w 8727409"/>
                <a:gd name="connsiteY2" fmla="*/ 4036136 h 6857999"/>
                <a:gd name="connsiteX3" fmla="*/ 8727409 w 8727409"/>
                <a:gd name="connsiteY3" fmla="*/ 6857999 h 6857999"/>
                <a:gd name="connsiteX4" fmla="*/ 3663842 w 8727409"/>
                <a:gd name="connsiteY4" fmla="*/ 6857999 h 685799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7409" h="6857999">
                  <a:moveTo>
                    <a:pt x="0" y="0"/>
                  </a:moveTo>
                  <a:lnTo>
                    <a:pt x="6574565" y="0"/>
                  </a:lnTo>
                  <a:lnTo>
                    <a:pt x="8727409" y="4036136"/>
                  </a:lnTo>
                  <a:lnTo>
                    <a:pt x="8727409" y="6857999"/>
                  </a:lnTo>
                  <a:lnTo>
                    <a:pt x="3663842" y="6857999"/>
                  </a:lnTo>
                  <a:close/>
                </a:path>
              </a:pathLst>
            </a:custGeom>
            <a:blipFill>
              <a:blip r:embed="rId1"/>
              <a:stretch>
                <a:fillRect l="-8935" r="-8935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23" name="" descr="2cecad05-d337-4d90-a478-ed3006e55aef"/>
            <p:cNvSpPr/>
            <p:nvPr/>
          </p:nvSpPr>
          <p:spPr bwMode="auto">
            <a:xfrm>
              <a:off x="3337848" y="2"/>
              <a:ext cx="3847708" cy="6857999"/>
            </a:xfrm>
            <a:custGeom>
              <a:gdLst>
                <a:gd name="connsiteX0" fmla="*/ 0 w 3847708"/>
                <a:gd name="connsiteY0" fmla="*/ 0 h 6857999"/>
                <a:gd name="connsiteX1" fmla="*/ 183867 w 3847708"/>
                <a:gd name="connsiteY1" fmla="*/ 0 h 6857999"/>
                <a:gd name="connsiteX2" fmla="*/ 3847708 w 3847708"/>
                <a:gd name="connsiteY2" fmla="*/ 6857999 h 6857999"/>
                <a:gd name="connsiteX3" fmla="*/ 3662254 w 3847708"/>
                <a:gd name="connsiteY3" fmla="*/ 6857999 h 685799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7707" h="6857999">
                  <a:moveTo>
                    <a:pt x="0" y="0"/>
                  </a:moveTo>
                  <a:lnTo>
                    <a:pt x="183867" y="0"/>
                  </a:lnTo>
                  <a:lnTo>
                    <a:pt x="3847708" y="6857999"/>
                  </a:lnTo>
                  <a:lnTo>
                    <a:pt x="3662254" y="685799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25" name="" descr="f6987024-19ed-424b-beb2-a621de021406"/>
            <p:cNvSpPr/>
            <p:nvPr/>
          </p:nvSpPr>
          <p:spPr bwMode="auto">
            <a:xfrm>
              <a:off x="3001200" y="0"/>
              <a:ext cx="1764837" cy="2906784"/>
            </a:xfrm>
            <a:custGeom>
              <a:gdLst>
                <a:gd name="connsiteX0" fmla="*/ 0 w 1764837"/>
                <a:gd name="connsiteY0" fmla="*/ 0 h 2906784"/>
                <a:gd name="connsiteX1" fmla="*/ 213487 w 1764837"/>
                <a:gd name="connsiteY1" fmla="*/ 0 h 2906784"/>
                <a:gd name="connsiteX2" fmla="*/ 1764837 w 1764837"/>
                <a:gd name="connsiteY2" fmla="*/ 2906784 h 2906784"/>
                <a:gd name="connsiteX3" fmla="*/ 1551351 w 1764837"/>
                <a:gd name="connsiteY3" fmla="*/ 2906784 h 290678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4837" h="2906784">
                  <a:moveTo>
                    <a:pt x="0" y="0"/>
                  </a:moveTo>
                  <a:lnTo>
                    <a:pt x="213487" y="0"/>
                  </a:lnTo>
                  <a:lnTo>
                    <a:pt x="1764837" y="2906784"/>
                  </a:lnTo>
                  <a:lnTo>
                    <a:pt x="1551351" y="2906784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68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6" name="" descr="8e94f496-cbe7-4507-b99b-57635bd39884"/>
            <p:cNvSpPr/>
            <p:nvPr/>
          </p:nvSpPr>
          <p:spPr bwMode="auto">
            <a:xfrm>
              <a:off x="10039156" y="1"/>
              <a:ext cx="2152844" cy="4036137"/>
            </a:xfrm>
            <a:custGeom>
              <a:gdLst>
                <a:gd name="T0" fmla="*/ 0 w 1206"/>
                <a:gd name="T1" fmla="*/ 0 h 2261"/>
                <a:gd name="T2" fmla="*/ 1206 w 1206"/>
                <a:gd name="T3" fmla="*/ 2261 h 2261"/>
                <a:gd name="T4" fmla="*/ 1206 w 1206"/>
                <a:gd name="T5" fmla="*/ 0 h 2261"/>
                <a:gd name="T6" fmla="*/ 0 w 1206"/>
                <a:gd name="T7" fmla="*/ 0 h 22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6" h="2261">
                  <a:moveTo>
                    <a:pt x="0" y="0"/>
                  </a:moveTo>
                  <a:lnTo>
                    <a:pt x="1206" y="2261"/>
                  </a:lnTo>
                  <a:lnTo>
                    <a:pt x="1206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zh-CN" altLang="en-US"/>
            </a:p>
          </p:txBody>
        </p:sp>
        <p:sp>
          <p:nvSpPr>
            <p:cNvPr id="12" name="" descr="8c39d09e-237d-4a59-872d-77cd48feff9b"/>
            <p:cNvSpPr/>
            <p:nvPr/>
          </p:nvSpPr>
          <p:spPr bwMode="auto">
            <a:xfrm>
              <a:off x="0" y="2270932"/>
              <a:ext cx="2448119" cy="4587069"/>
            </a:xfrm>
            <a:custGeom>
              <a:gdLst>
                <a:gd name="connsiteX0" fmla="*/ 0 w 2448119"/>
                <a:gd name="connsiteY0" fmla="*/ 0 h 4587069"/>
                <a:gd name="connsiteX1" fmla="*/ 2448119 w 2448119"/>
                <a:gd name="connsiteY1" fmla="*/ 4587069 h 4587069"/>
                <a:gd name="connsiteX2" fmla="*/ 1197353 w 2448119"/>
                <a:gd name="connsiteY2" fmla="*/ 4587069 h 4587069"/>
                <a:gd name="connsiteX3" fmla="*/ 0 w 2448119"/>
                <a:gd name="connsiteY3" fmla="*/ 2343575 h 458706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8119" h="4587069">
                  <a:moveTo>
                    <a:pt x="0" y="0"/>
                  </a:moveTo>
                  <a:lnTo>
                    <a:pt x="2448119" y="4587069"/>
                  </a:lnTo>
                  <a:lnTo>
                    <a:pt x="1197353" y="4587069"/>
                  </a:lnTo>
                  <a:lnTo>
                    <a:pt x="0" y="234357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50000"/>
                    <a:lumOff val="50000"/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" descr="35e82d22-1160-4bae-9895-bab1ac39be8a"/>
            <p:cNvSpPr/>
            <p:nvPr/>
          </p:nvSpPr>
          <p:spPr bwMode="auto">
            <a:xfrm>
              <a:off x="0" y="5092538"/>
              <a:ext cx="942228" cy="1765463"/>
            </a:xfrm>
            <a:custGeom>
              <a:gdLst>
                <a:gd name="connsiteX0" fmla="*/ 0 w 942228"/>
                <a:gd name="connsiteY0" fmla="*/ 0 h 1765463"/>
                <a:gd name="connsiteX1" fmla="*/ 942228 w 942228"/>
                <a:gd name="connsiteY1" fmla="*/ 1765463 h 1765463"/>
                <a:gd name="connsiteX2" fmla="*/ 711156 w 942228"/>
                <a:gd name="connsiteY2" fmla="*/ 1765463 h 1765463"/>
                <a:gd name="connsiteX3" fmla="*/ 0 w 942228"/>
                <a:gd name="connsiteY3" fmla="*/ 432963 h 176546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228" h="1765463">
                  <a:moveTo>
                    <a:pt x="0" y="0"/>
                  </a:moveTo>
                  <a:lnTo>
                    <a:pt x="942228" y="1765463"/>
                  </a:lnTo>
                  <a:lnTo>
                    <a:pt x="711156" y="1765463"/>
                  </a:lnTo>
                  <a:lnTo>
                    <a:pt x="0" y="432963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</p:grpSp>
      <p:sp>
        <p:nvSpPr>
          <p:cNvPr id="5" name="" descr="3c1410d0-22e4-487c-ab42-158919964b95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660401" y="3507359"/>
            <a:ext cx="5311771" cy="1715666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" descr="ccddf5f0-c8fa-4f04-a0e7-b181ef1b46a1"/>
          <p:cNvSpPr>
            <a:spLocks noGrp="1"/>
          </p:cNvSpPr>
          <p:nvPr>
            <p:ph type="subTitle" sz="quarter" idx="1" hasCustomPrompt="1"/>
          </p:nvPr>
        </p:nvSpPr>
        <p:spPr>
          <a:xfrm flipV="false" flipH="false">
            <a:off x="660402" y="1995256"/>
            <a:ext cx="5311770" cy="135538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" descr="e7513d88-b11d-4d18-a0aa-e85929164489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399" y="5646760"/>
            <a:ext cx="5311776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b02ae7ce-ec76-463b-a776-d991f80e0fd1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398" y="5949176"/>
            <a:ext cx="5311775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c5a5802b-af70-4c85-848b-40e2ebf8b2d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1d6bcd88-362d-4db4-8616-bfe8d027690c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5f9db046-5aaa-4494-a520-1cb403fb6e5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1fd424d8-2239-48b0-b757-bdf088030b0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" descr="d4e9318c-dc34-49be-be4a-2011ecf085f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" descr="1d1e5848-6ebe-4adc-b4a3-6ed8b9ffc354"/>
          <p:cNvSpPr/>
          <p:nvPr/>
        </p:nvSpPr>
        <p:spPr>
          <a:xfrm>
            <a:off x="660399" y="1130300"/>
            <a:ext cx="1788692" cy="1673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1600">
              <a:cs typeface="+mn-ea"/>
              <a:sym typeface="+mn-lt"/>
            </a:endParaRPr>
          </a:p>
        </p:txBody>
      </p:sp>
      <p:sp>
        <p:nvSpPr>
          <p:cNvPr id="9" name="" descr="3b4b902d-03b2-4707-b18b-92c3d5bdf4f3"/>
          <p:cNvSpPr/>
          <p:nvPr/>
        </p:nvSpPr>
        <p:spPr>
          <a:xfrm>
            <a:off x="2505439" y="1130300"/>
            <a:ext cx="9005522" cy="1673853"/>
          </a:xfrm>
          <a:prstGeom prst="rect">
            <a:avLst/>
          </a:prstGeom>
          <a:blipFill>
            <a:blip r:embed="rId1"/>
            <a:stretch>
              <a:fillRect t="-129337" b="-129337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" name="" descr="68d62a45-ba29-4e61-bc56-16259c286b0d"/>
          <p:cNvSpPr>
            <a:spLocks noGrp="1"/>
          </p:cNvSpPr>
          <p:nvPr>
            <p:ph type="title" hasCustomPrompt="1"/>
          </p:nvPr>
        </p:nvSpPr>
        <p:spPr>
          <a:xfrm>
            <a:off x="751301" y="1215367"/>
            <a:ext cx="1606888" cy="1503720"/>
          </a:xfrm>
          <a:prstGeom prst="rect">
            <a:avLst/>
          </a:prstGeom>
          <a:noFill/>
        </p:spPr>
        <p:txBody>
          <a:bodyPr anchor="b" anchorCtr="0">
            <a:normAutofit/>
          </a:bodyPr>
          <a:lstStyle>
            <a:lvl1pPr algn="r">
              <a:defRPr sz="28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" descr="fa223047-575a-4c62-a52e-ef1b071d05c3"/>
          <p:cNvSpPr>
            <a:spLocks noGrp="1"/>
          </p:cNvSpPr>
          <p:nvPr>
            <p:ph sz="quarter" idx="1" hasCustomPrompt="1"/>
          </p:nvPr>
        </p:nvSpPr>
        <p:spPr>
          <a:xfrm>
            <a:off x="2743200" y="3023118"/>
            <a:ext cx="8775687" cy="3110982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f1673f07-6cb6-42a6-91b3-838a47d0fbe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ea312408-bf7b-4d7c-9412-2d1d487f087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" descr="5be3fcea-cbcc-4300-bf91-575fa373b4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" descr="ad219fae-6d0b-42ce-81aa-4b59cf0de562"/>
          <p:cNvCxnSpPr/>
          <p:nvPr/>
        </p:nvCxnSpPr>
        <p:spPr>
          <a:xfrm flipH="1">
            <a:off x="2505438" y="3023118"/>
            <a:ext cx="0" cy="3110982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" descr="30abcd85-94f1-43ae-bd47-78b56ae070ab"/>
          <p:cNvSpPr>
            <a:spLocks noChangeAspect="1"/>
          </p:cNvSpPr>
          <p:nvPr/>
        </p:nvSpPr>
        <p:spPr bwMode="auto">
          <a:xfrm>
            <a:off x="1397171" y="5089886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Pr>
        <a:gradFill>
          <a:gsLst>
            <a:gs pos="0">
              <a:schemeClr val="accent1">
                <a:lumMod val="25000"/>
                <a:lumOff val="75000"/>
              </a:schemeClr>
            </a:gs>
            <a:gs pos="82000">
              <a:schemeClr val="accent1">
                <a:lumMod val="10000"/>
                <a:lumOff val="90000"/>
                <a:alpha val="5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2" name="" descr="875da88e-53de-4e86-b3a9-f08df32d4fd7"/>
          <p:cNvGrpSpPr/>
          <p:nvPr/>
        </p:nvGrpSpPr>
        <p:grpSpPr>
          <a:xfrm flipH="1">
            <a:off x="0" y="0"/>
            <a:ext cx="12192000" cy="6858001"/>
            <a:chExt cx="12192000" cy="6858001"/>
          </a:xfrm>
        </p:grpSpPr>
        <p:sp>
          <p:nvSpPr>
            <p:cNvPr id="13" name="" descr="1e94c3a0-951b-4546-95ad-cdcc24db345b"/>
            <p:cNvSpPr/>
            <p:nvPr/>
          </p:nvSpPr>
          <p:spPr bwMode="auto">
            <a:xfrm>
              <a:off x="3464591" y="2"/>
              <a:ext cx="8727409" cy="6857999"/>
            </a:xfrm>
            <a:custGeom>
              <a:gdLst>
                <a:gd name="connsiteX0" fmla="*/ 0 w 8727409"/>
                <a:gd name="connsiteY0" fmla="*/ 0 h 6857999"/>
                <a:gd name="connsiteX1" fmla="*/ 6574565 w 8727409"/>
                <a:gd name="connsiteY1" fmla="*/ 0 h 6857999"/>
                <a:gd name="connsiteX2" fmla="*/ 8727409 w 8727409"/>
                <a:gd name="connsiteY2" fmla="*/ 4036136 h 6857999"/>
                <a:gd name="connsiteX3" fmla="*/ 8727409 w 8727409"/>
                <a:gd name="connsiteY3" fmla="*/ 6857999 h 6857999"/>
                <a:gd name="connsiteX4" fmla="*/ 3663842 w 8727409"/>
                <a:gd name="connsiteY4" fmla="*/ 6857999 h 685799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7409" h="6857999">
                  <a:moveTo>
                    <a:pt x="0" y="0"/>
                  </a:moveTo>
                  <a:lnTo>
                    <a:pt x="6574565" y="0"/>
                  </a:lnTo>
                  <a:lnTo>
                    <a:pt x="8727409" y="4036136"/>
                  </a:lnTo>
                  <a:lnTo>
                    <a:pt x="8727409" y="6857999"/>
                  </a:lnTo>
                  <a:lnTo>
                    <a:pt x="3663842" y="6857999"/>
                  </a:lnTo>
                  <a:close/>
                </a:path>
              </a:pathLst>
            </a:custGeom>
            <a:blipFill>
              <a:blip r:embed="rId1"/>
              <a:stretch>
                <a:fillRect l="-8935" r="-8935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" descr="43e56a5c-c84d-438a-bec9-509bc997963f"/>
            <p:cNvSpPr/>
            <p:nvPr/>
          </p:nvSpPr>
          <p:spPr bwMode="auto">
            <a:xfrm>
              <a:off x="3337848" y="2"/>
              <a:ext cx="3847708" cy="6857999"/>
            </a:xfrm>
            <a:custGeom>
              <a:gdLst>
                <a:gd name="connsiteX0" fmla="*/ 0 w 3847708"/>
                <a:gd name="connsiteY0" fmla="*/ 0 h 6857999"/>
                <a:gd name="connsiteX1" fmla="*/ 183867 w 3847708"/>
                <a:gd name="connsiteY1" fmla="*/ 0 h 6857999"/>
                <a:gd name="connsiteX2" fmla="*/ 3847708 w 3847708"/>
                <a:gd name="connsiteY2" fmla="*/ 6857999 h 6857999"/>
                <a:gd name="connsiteX3" fmla="*/ 3662254 w 3847708"/>
                <a:gd name="connsiteY3" fmla="*/ 6857999 h 685799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7707" h="6857999">
                  <a:moveTo>
                    <a:pt x="0" y="0"/>
                  </a:moveTo>
                  <a:lnTo>
                    <a:pt x="183867" y="0"/>
                  </a:lnTo>
                  <a:lnTo>
                    <a:pt x="3847708" y="6857999"/>
                  </a:lnTo>
                  <a:lnTo>
                    <a:pt x="3662254" y="685799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5" name="" descr="49e5097f-8440-4c0c-a357-3f2c15b2a894"/>
            <p:cNvSpPr/>
            <p:nvPr/>
          </p:nvSpPr>
          <p:spPr bwMode="auto">
            <a:xfrm>
              <a:off x="3001200" y="0"/>
              <a:ext cx="1764837" cy="2906784"/>
            </a:xfrm>
            <a:custGeom>
              <a:gdLst>
                <a:gd name="connsiteX0" fmla="*/ 0 w 1764837"/>
                <a:gd name="connsiteY0" fmla="*/ 0 h 2906784"/>
                <a:gd name="connsiteX1" fmla="*/ 213487 w 1764837"/>
                <a:gd name="connsiteY1" fmla="*/ 0 h 2906784"/>
                <a:gd name="connsiteX2" fmla="*/ 1764837 w 1764837"/>
                <a:gd name="connsiteY2" fmla="*/ 2906784 h 2906784"/>
                <a:gd name="connsiteX3" fmla="*/ 1551351 w 1764837"/>
                <a:gd name="connsiteY3" fmla="*/ 2906784 h 290678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4837" h="2906784">
                  <a:moveTo>
                    <a:pt x="0" y="0"/>
                  </a:moveTo>
                  <a:lnTo>
                    <a:pt x="213487" y="0"/>
                  </a:lnTo>
                  <a:lnTo>
                    <a:pt x="1764837" y="2906784"/>
                  </a:lnTo>
                  <a:lnTo>
                    <a:pt x="1551351" y="2906784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68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6" name="" descr="9af1e64a-fd25-49a0-bab3-3d4dac6dc8c3"/>
            <p:cNvSpPr/>
            <p:nvPr/>
          </p:nvSpPr>
          <p:spPr bwMode="auto">
            <a:xfrm>
              <a:off x="10039156" y="1"/>
              <a:ext cx="2152844" cy="4036137"/>
            </a:xfrm>
            <a:custGeom>
              <a:gdLst>
                <a:gd name="T0" fmla="*/ 0 w 1206"/>
                <a:gd name="T1" fmla="*/ 0 h 2261"/>
                <a:gd name="T2" fmla="*/ 1206 w 1206"/>
                <a:gd name="T3" fmla="*/ 2261 h 2261"/>
                <a:gd name="T4" fmla="*/ 1206 w 1206"/>
                <a:gd name="T5" fmla="*/ 0 h 2261"/>
                <a:gd name="T6" fmla="*/ 0 w 1206"/>
                <a:gd name="T7" fmla="*/ 0 h 22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6" h="2261">
                  <a:moveTo>
                    <a:pt x="0" y="0"/>
                  </a:moveTo>
                  <a:lnTo>
                    <a:pt x="1206" y="2261"/>
                  </a:lnTo>
                  <a:lnTo>
                    <a:pt x="1206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zh-CN" altLang="en-US"/>
            </a:p>
          </p:txBody>
        </p:sp>
        <p:sp>
          <p:nvSpPr>
            <p:cNvPr id="17" name="" descr="f8e071fb-5ff5-4d42-81c8-329b1479c2a2"/>
            <p:cNvSpPr/>
            <p:nvPr/>
          </p:nvSpPr>
          <p:spPr bwMode="auto">
            <a:xfrm>
              <a:off x="0" y="2270932"/>
              <a:ext cx="2448119" cy="4587069"/>
            </a:xfrm>
            <a:custGeom>
              <a:gdLst>
                <a:gd name="connsiteX0" fmla="*/ 0 w 2448119"/>
                <a:gd name="connsiteY0" fmla="*/ 0 h 4587069"/>
                <a:gd name="connsiteX1" fmla="*/ 2448119 w 2448119"/>
                <a:gd name="connsiteY1" fmla="*/ 4587069 h 4587069"/>
                <a:gd name="connsiteX2" fmla="*/ 1197353 w 2448119"/>
                <a:gd name="connsiteY2" fmla="*/ 4587069 h 4587069"/>
                <a:gd name="connsiteX3" fmla="*/ 0 w 2448119"/>
                <a:gd name="connsiteY3" fmla="*/ 2343575 h 458706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8119" h="4587069">
                  <a:moveTo>
                    <a:pt x="0" y="0"/>
                  </a:moveTo>
                  <a:lnTo>
                    <a:pt x="2448119" y="4587069"/>
                  </a:lnTo>
                  <a:lnTo>
                    <a:pt x="1197353" y="4587069"/>
                  </a:lnTo>
                  <a:lnTo>
                    <a:pt x="0" y="234357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50000"/>
                    <a:lumOff val="50000"/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zh-CN" altLang="en-US"/>
            </a:p>
          </p:txBody>
        </p:sp>
        <p:sp>
          <p:nvSpPr>
            <p:cNvPr id="18" name="" descr="81ca6007-b43d-4545-b3f5-9b46f7dca613"/>
            <p:cNvSpPr/>
            <p:nvPr/>
          </p:nvSpPr>
          <p:spPr bwMode="auto">
            <a:xfrm>
              <a:off x="0" y="5092538"/>
              <a:ext cx="942228" cy="1765463"/>
            </a:xfrm>
            <a:custGeom>
              <a:gdLst>
                <a:gd name="connsiteX0" fmla="*/ 0 w 942228"/>
                <a:gd name="connsiteY0" fmla="*/ 0 h 1765463"/>
                <a:gd name="connsiteX1" fmla="*/ 942228 w 942228"/>
                <a:gd name="connsiteY1" fmla="*/ 1765463 h 1765463"/>
                <a:gd name="connsiteX2" fmla="*/ 711156 w 942228"/>
                <a:gd name="connsiteY2" fmla="*/ 1765463 h 1765463"/>
                <a:gd name="connsiteX3" fmla="*/ 0 w 942228"/>
                <a:gd name="connsiteY3" fmla="*/ 432963 h 176546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228" h="1765463">
                  <a:moveTo>
                    <a:pt x="0" y="0"/>
                  </a:moveTo>
                  <a:lnTo>
                    <a:pt x="942228" y="1765463"/>
                  </a:lnTo>
                  <a:lnTo>
                    <a:pt x="711156" y="1765463"/>
                  </a:lnTo>
                  <a:lnTo>
                    <a:pt x="0" y="432963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</p:grpSp>
      <p:sp>
        <p:nvSpPr>
          <p:cNvPr id="5" name="" descr="53bf28ba-8f37-4041-92c5-7485fc215cd7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487886" y="2046114"/>
            <a:ext cx="5031013" cy="15432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" descr="c88c00a7-8405-44bc-8e0d-74b2548feab2"/>
          <p:cNvSpPr>
            <a:spLocks noGrp="1"/>
          </p:cNvSpPr>
          <p:nvPr>
            <p:ph type="body" sz="quarter" idx="1" hasCustomPrompt="1"/>
          </p:nvPr>
        </p:nvSpPr>
        <p:spPr>
          <a:xfrm flipV="false" flipH="false">
            <a:off x="6487886" y="3601191"/>
            <a:ext cx="5031013" cy="134366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" descr="8489c7e7-4f0c-4dc8-80c9-075a0620894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2024/1/23</a:t>
            </a:fld>
            <a:endParaRPr lang="en-US" altLang="zh-CN"/>
          </a:p>
        </p:txBody>
      </p:sp>
      <p:sp>
        <p:nvSpPr>
          <p:cNvPr id="6" name="" descr="262d7ceb-bef3-46b1-97e9-03fec67122d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" descr="9f64ab81-8843-4420-87db-c537efba341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f33604a3-2010-4994-9f9d-17325fbe1bfc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6750" y="128588"/>
            <a:ext cx="10858500" cy="900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49e334b3-00af-43c1-96f8-c2f3182a2e9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388f731b-f19a-4ec8-a43d-ddf81d98101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bff2274d-3023-4b5b-a1f5-76d15976f4c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a729fd5e-c58f-40a6-bf01-e6a0932f798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" descr="221a38e2-e4dd-4df5-803f-5e49126e5ef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c887135f-a403-4acd-aa9d-1c8b05c13a6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bg>
      <p:bgPr>
        <a:gradFill flip="none" rotWithShape="1">
          <a:gsLst>
            <a:gs pos="50000">
              <a:schemeClr val="accent1">
                <a:lumMod val="10000"/>
                <a:lumOff val="90000"/>
                <a:alpha val="50000"/>
              </a:schemeClr>
            </a:gs>
            <a:gs pos="100000">
              <a:schemeClr val="accent1">
                <a:lumMod val="25000"/>
                <a:lumOff val="7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" descr="eb04b6ac-5c75-420c-be3d-947d6c400eb6"/>
          <p:cNvGrpSpPr/>
          <p:nvPr/>
        </p:nvGrpSpPr>
        <p:grpSpPr>
          <a:xfrm>
            <a:off x="0" y="0"/>
            <a:ext cx="12192000" cy="6858001"/>
            <a:chExt cx="12192000" cy="6858001"/>
          </a:xfrm>
        </p:grpSpPr>
        <p:sp>
          <p:nvSpPr>
            <p:cNvPr id="6" name="" descr="e52ce389-6b6a-4709-80b6-e7b1dc927cdf"/>
            <p:cNvSpPr/>
            <p:nvPr/>
          </p:nvSpPr>
          <p:spPr bwMode="auto">
            <a:xfrm>
              <a:off x="3464591" y="2"/>
              <a:ext cx="8727409" cy="6857999"/>
            </a:xfrm>
            <a:custGeom>
              <a:gdLst>
                <a:gd name="connsiteX0" fmla="*/ 0 w 8727409"/>
                <a:gd name="connsiteY0" fmla="*/ 0 h 6857999"/>
                <a:gd name="connsiteX1" fmla="*/ 6574565 w 8727409"/>
                <a:gd name="connsiteY1" fmla="*/ 0 h 6857999"/>
                <a:gd name="connsiteX2" fmla="*/ 8727409 w 8727409"/>
                <a:gd name="connsiteY2" fmla="*/ 4036136 h 6857999"/>
                <a:gd name="connsiteX3" fmla="*/ 8727409 w 8727409"/>
                <a:gd name="connsiteY3" fmla="*/ 6857999 h 6857999"/>
                <a:gd name="connsiteX4" fmla="*/ 3663842 w 8727409"/>
                <a:gd name="connsiteY4" fmla="*/ 6857999 h 685799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7409" h="6857999">
                  <a:moveTo>
                    <a:pt x="0" y="0"/>
                  </a:moveTo>
                  <a:lnTo>
                    <a:pt x="6574565" y="0"/>
                  </a:lnTo>
                  <a:lnTo>
                    <a:pt x="8727409" y="4036136"/>
                  </a:lnTo>
                  <a:lnTo>
                    <a:pt x="8727409" y="6857999"/>
                  </a:lnTo>
                  <a:lnTo>
                    <a:pt x="3663842" y="6857999"/>
                  </a:lnTo>
                  <a:close/>
                </a:path>
              </a:pathLst>
            </a:custGeom>
            <a:blipFill>
              <a:blip r:embed="rId1"/>
              <a:stretch>
                <a:fillRect l="-8935" r="-8935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" descr="6e7d2059-ce4e-4f51-8e40-8807ea20a938"/>
            <p:cNvSpPr/>
            <p:nvPr/>
          </p:nvSpPr>
          <p:spPr bwMode="auto">
            <a:xfrm>
              <a:off x="3337848" y="2"/>
              <a:ext cx="3847708" cy="6857999"/>
            </a:xfrm>
            <a:custGeom>
              <a:gdLst>
                <a:gd name="connsiteX0" fmla="*/ 0 w 3847708"/>
                <a:gd name="connsiteY0" fmla="*/ 0 h 6857999"/>
                <a:gd name="connsiteX1" fmla="*/ 183867 w 3847708"/>
                <a:gd name="connsiteY1" fmla="*/ 0 h 6857999"/>
                <a:gd name="connsiteX2" fmla="*/ 3847708 w 3847708"/>
                <a:gd name="connsiteY2" fmla="*/ 6857999 h 6857999"/>
                <a:gd name="connsiteX3" fmla="*/ 3662254 w 3847708"/>
                <a:gd name="connsiteY3" fmla="*/ 6857999 h 685799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7707" h="6857999">
                  <a:moveTo>
                    <a:pt x="0" y="0"/>
                  </a:moveTo>
                  <a:lnTo>
                    <a:pt x="183867" y="0"/>
                  </a:lnTo>
                  <a:lnTo>
                    <a:pt x="3847708" y="6857999"/>
                  </a:lnTo>
                  <a:lnTo>
                    <a:pt x="3662254" y="685799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9" name="" descr="22e86490-33f5-49e1-9891-eec59716088a"/>
            <p:cNvSpPr/>
            <p:nvPr/>
          </p:nvSpPr>
          <p:spPr bwMode="auto">
            <a:xfrm>
              <a:off x="3001200" y="0"/>
              <a:ext cx="1764837" cy="2906784"/>
            </a:xfrm>
            <a:custGeom>
              <a:gdLst>
                <a:gd name="connsiteX0" fmla="*/ 0 w 1764837"/>
                <a:gd name="connsiteY0" fmla="*/ 0 h 2906784"/>
                <a:gd name="connsiteX1" fmla="*/ 213487 w 1764837"/>
                <a:gd name="connsiteY1" fmla="*/ 0 h 2906784"/>
                <a:gd name="connsiteX2" fmla="*/ 1764837 w 1764837"/>
                <a:gd name="connsiteY2" fmla="*/ 2906784 h 2906784"/>
                <a:gd name="connsiteX3" fmla="*/ 1551351 w 1764837"/>
                <a:gd name="connsiteY3" fmla="*/ 2906784 h 290678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4837" h="2906784">
                  <a:moveTo>
                    <a:pt x="0" y="0"/>
                  </a:moveTo>
                  <a:lnTo>
                    <a:pt x="213487" y="0"/>
                  </a:lnTo>
                  <a:lnTo>
                    <a:pt x="1764837" y="2906784"/>
                  </a:lnTo>
                  <a:lnTo>
                    <a:pt x="1551351" y="2906784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68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1" name="" descr="c43e9d2c-eb22-495a-b1a5-814c53cf4cdc"/>
            <p:cNvSpPr/>
            <p:nvPr/>
          </p:nvSpPr>
          <p:spPr bwMode="auto">
            <a:xfrm>
              <a:off x="10039156" y="1"/>
              <a:ext cx="2152844" cy="4036137"/>
            </a:xfrm>
            <a:custGeom>
              <a:gdLst>
                <a:gd name="T0" fmla="*/ 0 w 1206"/>
                <a:gd name="T1" fmla="*/ 0 h 2261"/>
                <a:gd name="T2" fmla="*/ 1206 w 1206"/>
                <a:gd name="T3" fmla="*/ 2261 h 2261"/>
                <a:gd name="T4" fmla="*/ 1206 w 1206"/>
                <a:gd name="T5" fmla="*/ 0 h 2261"/>
                <a:gd name="T6" fmla="*/ 0 w 1206"/>
                <a:gd name="T7" fmla="*/ 0 h 22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6" h="2261">
                  <a:moveTo>
                    <a:pt x="0" y="0"/>
                  </a:moveTo>
                  <a:lnTo>
                    <a:pt x="1206" y="2261"/>
                  </a:lnTo>
                  <a:lnTo>
                    <a:pt x="1206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zh-CN" altLang="en-US"/>
            </a:p>
          </p:txBody>
        </p:sp>
        <p:sp>
          <p:nvSpPr>
            <p:cNvPr id="13" name="" descr="9cfd11bd-adb5-48d9-bf76-c173180d2648"/>
            <p:cNvSpPr/>
            <p:nvPr/>
          </p:nvSpPr>
          <p:spPr bwMode="auto">
            <a:xfrm>
              <a:off x="0" y="2270932"/>
              <a:ext cx="2448119" cy="4587069"/>
            </a:xfrm>
            <a:custGeom>
              <a:gdLst>
                <a:gd name="connsiteX0" fmla="*/ 0 w 2448119"/>
                <a:gd name="connsiteY0" fmla="*/ 0 h 4587069"/>
                <a:gd name="connsiteX1" fmla="*/ 2448119 w 2448119"/>
                <a:gd name="connsiteY1" fmla="*/ 4587069 h 4587069"/>
                <a:gd name="connsiteX2" fmla="*/ 1197353 w 2448119"/>
                <a:gd name="connsiteY2" fmla="*/ 4587069 h 4587069"/>
                <a:gd name="connsiteX3" fmla="*/ 0 w 2448119"/>
                <a:gd name="connsiteY3" fmla="*/ 2343575 h 458706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8119" h="4587069">
                  <a:moveTo>
                    <a:pt x="0" y="0"/>
                  </a:moveTo>
                  <a:lnTo>
                    <a:pt x="2448119" y="4587069"/>
                  </a:lnTo>
                  <a:lnTo>
                    <a:pt x="1197353" y="4587069"/>
                  </a:lnTo>
                  <a:lnTo>
                    <a:pt x="0" y="234357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50000"/>
                    <a:lumOff val="50000"/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zh-CN" altLang="en-US"/>
            </a:p>
          </p:txBody>
        </p:sp>
        <p:sp>
          <p:nvSpPr>
            <p:cNvPr id="14" name="" descr="4742b678-3299-436f-9322-47155fb89403"/>
            <p:cNvSpPr/>
            <p:nvPr/>
          </p:nvSpPr>
          <p:spPr bwMode="auto">
            <a:xfrm>
              <a:off x="0" y="5092538"/>
              <a:ext cx="942228" cy="1765463"/>
            </a:xfrm>
            <a:custGeom>
              <a:gdLst>
                <a:gd name="connsiteX0" fmla="*/ 0 w 942228"/>
                <a:gd name="connsiteY0" fmla="*/ 0 h 1765463"/>
                <a:gd name="connsiteX1" fmla="*/ 942228 w 942228"/>
                <a:gd name="connsiteY1" fmla="*/ 1765463 h 1765463"/>
                <a:gd name="connsiteX2" fmla="*/ 711156 w 942228"/>
                <a:gd name="connsiteY2" fmla="*/ 1765463 h 1765463"/>
                <a:gd name="connsiteX3" fmla="*/ 0 w 942228"/>
                <a:gd name="connsiteY3" fmla="*/ 432963 h 176546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228" h="1765463">
                  <a:moveTo>
                    <a:pt x="0" y="0"/>
                  </a:moveTo>
                  <a:lnTo>
                    <a:pt x="942228" y="1765463"/>
                  </a:lnTo>
                  <a:lnTo>
                    <a:pt x="711156" y="1765463"/>
                  </a:lnTo>
                  <a:lnTo>
                    <a:pt x="0" y="432963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</p:grpSp>
      <p:sp>
        <p:nvSpPr>
          <p:cNvPr id="5" name="" descr="4e9b906f-59e6-4be4-a733-2c94d8d94d70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0402" y="3429000"/>
            <a:ext cx="4464048" cy="1715666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" descr="9842426a-41c9-4acb-9b9d-5305bb77f7dd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399" y="5449587"/>
            <a:ext cx="5311776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c6e2d75b-66c0-49f3-adee-9eeed84dca2e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398" y="5857101"/>
            <a:ext cx="5311775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72000">
              <a:schemeClr val="bg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be936e8e59444fb2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9b5cbf4274594586" Target="../slideLayouts/slideLayout5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d60eb7898d7e4cd0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fcb0d4c39d1646ec" Target="../slideLayouts/slideLayout5.xml" Type="http://schemas.openxmlformats.org/officeDocument/2006/relationships/slideLayout"/><Relationship Id="rId1" Target="../tags/tag522.xml" Type="http://schemas.openxmlformats.org/officeDocument/2006/relationships/tags"/><Relationship Id="rId4" Target="../media/image123.jpg" Type="http://schemas.openxmlformats.org/officeDocument/2006/relationships/image"/><Relationship Id="rId5" Target="../media/pic-8ed9d79cc3504a97a4ced52fb65fef6b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37853b115da244bb" Target="../slideLayouts/slideLayout5.xml" Type="http://schemas.openxmlformats.org/officeDocument/2006/relationships/slideLayout"/><Relationship Id="rId1" Target="../tags/tag2723.xml" Type="http://schemas.openxmlformats.org/officeDocument/2006/relationships/tags"/></Relationships>
</file>

<file path=ppt/slides/_rels/slide11.xml.rels><?xml version="1.0" encoding="UTF-8" standalone="yes"?><Relationships xmlns="http://schemas.openxmlformats.org/package/2006/relationships"><Relationship Id="R516bbdb7d04b4335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9a57547e337d4ca1" Target="../slideLayouts/slideLayout5.xml" Type="http://schemas.openxmlformats.org/officeDocument/2006/relationships/slideLayout"/><Relationship Id="rId1" Target="../tags/tag5224.xml" Type="http://schemas.openxmlformats.org/officeDocument/2006/relationships/tags"/></Relationships>
</file>

<file path=ppt/slides/_rels/slide13.xml.rels><?xml version="1.0" encoding="UTF-8" standalone="yes"?><Relationships xmlns="http://schemas.openxmlformats.org/package/2006/relationships"><Relationship Id="R03da862935a54734" Target="../slideLayouts/slideLayout5.xml" Type="http://schemas.openxmlformats.org/officeDocument/2006/relationships/slideLayout"/><Relationship Id="rId1" Target="../tags/tag6725.xml" Type="http://schemas.openxmlformats.org/officeDocument/2006/relationships/tags"/></Relationships>
</file>

<file path=ppt/slides/_rels/slide14.xml.rels><?xml version="1.0" encoding="UTF-8" standalone="yes"?><Relationships xmlns="http://schemas.openxmlformats.org/package/2006/relationships"><Relationship Id="R9ebb949e57164964" Target="../slideLayouts/slideLayout5.xml" Type="http://schemas.openxmlformats.org/officeDocument/2006/relationships/slideLayout"/><Relationship Id="rId1" Target="../tags/tag3926.xml" Type="http://schemas.openxmlformats.org/officeDocument/2006/relationships/tags"/></Relationships>
</file>

<file path=ppt/slides/_rels/slide15.xml.rels><?xml version="1.0" encoding="UTF-8" standalone="yes"?><Relationships xmlns="http://schemas.openxmlformats.org/package/2006/relationships"><Relationship Id="R40f8fadab41e4f62" Target="../slideLayouts/slideLayout4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014c91a2a5e74ffe" Target="../slideLayouts/slideLayout5.xml" Type="http://schemas.openxmlformats.org/officeDocument/2006/relationships/slideLayout"/><Relationship Id="rId1" Target="../tags/tag17.xml" Type="http://schemas.openxmlformats.org/officeDocument/2006/relationships/tags"/></Relationships>
</file>

<file path=ppt/slides/_rels/slide17.xml.rels><?xml version="1.0" encoding="UTF-8" standalone="yes"?><Relationships xmlns="http://schemas.openxmlformats.org/package/2006/relationships"><Relationship Id="R1b161cc6ff8d4806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eecbc1fd068a4f5c" Target="../slideLayouts/slideLayout4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036eacba9fa24561" Target="../slideLayouts/slideLayout5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16c68668d52d4e74" Target="../slideLayouts/slideLayout5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797373fabb7048d8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3c1410d0-22e4-487c-ab42-158919964b95" id="5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ea typeface="微软雅黑"/>
              </a:rPr>
              <a:t>财险公司新准则财务管理分析</a:t>
            </a:r>
          </a:p>
        </p:txBody>
      </p:sp>
      <p:sp>
        <p:nvSpPr>
          <p:cNvPr descr="ccddf5f0-c8fa-4f04-a0e7-b181ef1b46a1" id="9" name=""/>
          <p:cNvSpPr>
            <a:spLocks noGrp="1"/>
          </p:cNvSpPr>
          <p:nvPr>
            <p:ph hasCustomPrompt="1" idx="1" sz="quarter" type="sub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基于IFRS17的挑战、机遇与应对策略</a:t>
            </a:r>
          </a:p>
        </p:txBody>
      </p:sp>
      <p:sp>
        <p:nvSpPr>
          <p:cNvPr descr="e7513d88-b11d-4d18-a0aa-e85929164489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200" u="none">
                <a:solidFill>
                  <a:srgbClr val="2F2F2F"/>
                </a:solidFill>
                <a:ea typeface="微软雅黑"/>
              </a:rPr>
              <a:t>报告人名称</a:t>
            </a:r>
          </a:p>
        </p:txBody>
      </p:sp>
      <p:sp>
        <p:nvSpPr>
          <p:cNvPr descr="b02ae7ce-ec76-463b-a776-d991f80e0fd1" id="7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60326755-37c4-4564-9533-43960396969b" id="11" name="4caed9d6-c0d5-402d-a13c-963d60d56e8c.source.4.zh-Hans.pptx">
            <a:extLst>
              <a:ext uri="{FF2B5EF4-FFF2-40B4-BE49-F238E27FC236}">
                <a16:creationId id="{DC8F4CB4-FEB1-0C11-C4E9-B2C06E36BB31}"/>
              </a:ext>
            </a:extLst>
          </p:cNvPr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descr="c46659f6-a98e-4c7e-8b0f-b6d1c17036d4" id="2" name="矩形 1">
              <a:extLst>
                <a:ext uri="{FF2B5EF4-FFF2-40B4-BE49-F238E27FC236}">
                  <a16:creationId id="{C9714C48-ED47-D088-728E-5F679704490C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cxnSp>
          <p:nvCxnSpPr>
            <p:cNvPr descr="564a357d-cf1e-4009-bbae-1fc794102711" id="83" name="直接箭头连接符 82">
              <a:extLst>
                <a:ext uri="{FF2B5EF4-FFF2-40B4-BE49-F238E27FC236}">
                  <a16:creationId id="{10B93CA4-5F1C-D813-B0F4-51ED4A86624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097e2b64-be7d-45ad-aee4-38596d932558" id="3" name="组合 2">
              <a:extLst>
                <a:ext uri="{FF2B5EF4-FFF2-40B4-BE49-F238E27FC236}">
                  <a16:creationId id="{99746AE9-2055-3F32-E42F-67B9546548D3}"/>
                </a:ext>
              </a:extLst>
            </p:cNvPr>
            <p:cNvGrpSpPr/>
            <p:nvPr/>
          </p:nvGrpSpPr>
          <p:grpSpPr>
            <a:xfrm>
              <a:off x="660400" y="3650127"/>
              <a:ext cx="2860864" cy="1785484"/>
              <a:chOff x="290432" y="3650127"/>
              <a:chExt cx="2860864" cy="1785484"/>
            </a:xfrm>
          </p:grpSpPr>
          <p:sp>
            <p:nvSpPr>
              <p:cNvPr descr="d07b2c5a-8d9f-4823-8d8d-a9b566169a93" id="50" name="Number1">
                <a:extLst>
                  <a:ext uri="{FF2B5EF4-FFF2-40B4-BE49-F238E27FC236}">
                    <a16:creationId id="{331940AB-E903-CBB5-42DB-196ECBE6E6DE}"/>
                  </a:ext>
                </a:extLst>
              </p:cNvPr>
              <p:cNvSpPr/>
              <p:nvPr/>
            </p:nvSpPr>
            <p:spPr>
              <a:xfrm flipH="false" flipV="false"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grpSp>
            <p:nvGrpSpPr>
              <p:cNvPr descr="af319968-34f6-4462-954c-6ec60c986bc8" id="56" name="组合 55">
                <a:extLst>
                  <a:ext uri="{FF2B5EF4-FFF2-40B4-BE49-F238E27FC236}">
                    <a16:creationId id="{248E5141-C510-C3C9-542B-9551CACCE0A7}"/>
                  </a:ext>
                </a:extLst>
              </p:cNvPr>
              <p:cNvGrpSpPr/>
              <p:nvPr/>
            </p:nvGrpSpPr>
            <p:grpSpPr>
              <a:xfrm>
                <a:off x="290432" y="4236631"/>
                <a:ext cx="2860864" cy="1198980"/>
                <a:chOff x="1530184" y="4601292"/>
                <a:chExt cx="2860864" cy="1198980"/>
              </a:xfrm>
            </p:grpSpPr>
            <p:sp>
              <p:nvSpPr>
                <p:cNvPr descr="f16f02bd-9e00-4912-8a51-87913cc60cb1" id="79" name="Bullet1">
                  <a:extLst>
                    <a:ext uri="{FF2B5EF4-FFF2-40B4-BE49-F238E27FC236}">
                      <a16:creationId id="{26485645-A9B5-716A-E9FE-CAA8A411F20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30184" y="5090848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2F2F2F"/>
                      </a:solidFill>
                      <a:ea typeface="微软雅黑"/>
                    </a:rPr>
                    <a:t>新准则概述与影响</a:t>
                  </a:r>
                </a:p>
              </p:txBody>
            </p:sp>
            <p:cxnSp>
              <p:nvCxnSpPr>
                <p:cNvPr descr="f5f67e79-a050-4295-b850-2766b0ce74d3" id="81" name="直接连接符 80">
                  <a:extLst>
                    <a:ext uri="{FF2B5EF4-FFF2-40B4-BE49-F238E27FC236}">
                      <a16:creationId id="{4EBBE39F-F648-A8B5-ADB3-84E87CA14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48769de1-bbd9-4b7a-9926-e76c0ae5b5be" id="4" name="组合 3">
              <a:extLst>
                <a:ext uri="{FF2B5EF4-FFF2-40B4-BE49-F238E27FC236}">
                  <a16:creationId id="{58E56BC4-115B-73AE-8DF1-459608F0D06D}"/>
                </a:ext>
              </a:extLst>
            </p:cNvPr>
            <p:cNvGrpSpPr/>
            <p:nvPr/>
          </p:nvGrpSpPr>
          <p:grpSpPr>
            <a:xfrm>
              <a:off x="3326278" y="2441361"/>
              <a:ext cx="2860864" cy="1795270"/>
              <a:chOff x="1951305" y="2441361"/>
              <a:chExt cx="2860864" cy="1795270"/>
            </a:xfrm>
          </p:grpSpPr>
          <p:sp>
            <p:nvSpPr>
              <p:cNvPr descr="e1b84a87-1c61-4368-b8ed-5aacd02087a0" id="51" name="Number2">
                <a:extLst>
                  <a:ext uri="{FF2B5EF4-FFF2-40B4-BE49-F238E27FC236}">
                    <a16:creationId id="{C3B94DC8-A13E-BFF7-BAA3-4BB64FAA315D}"/>
                  </a:ext>
                </a:extLst>
              </p:cNvPr>
              <p:cNvSpPr/>
              <p:nvPr/>
            </p:nvSpPr>
            <p:spPr>
              <a:xfrm flipH="false" flipV="false"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grpSp>
            <p:nvGrpSpPr>
              <p:cNvPr descr="ee0b683b-6c0b-47c2-9188-19dfb0007312" id="65" name="组合 64">
                <a:extLst>
                  <a:ext uri="{FF2B5EF4-FFF2-40B4-BE49-F238E27FC236}">
                    <a16:creationId id="{BEBE0FB9-8842-ACAA-C81F-9B0BA655DE58}"/>
                  </a:ext>
                </a:extLst>
              </p:cNvPr>
              <p:cNvGrpSpPr/>
              <p:nvPr/>
            </p:nvGrpSpPr>
            <p:grpSpPr>
              <a:xfrm>
                <a:off x="1951305" y="2441361"/>
                <a:ext cx="2860864" cy="1205891"/>
                <a:chOff x="1523834" y="5316110"/>
                <a:chExt cx="2860864" cy="1205891"/>
              </a:xfrm>
            </p:grpSpPr>
            <p:sp>
              <p:nvSpPr>
                <p:cNvPr descr="4c17351b-059b-4a70-a95c-2fd012e9493b" id="70" name="Bullet2">
                  <a:extLst>
                    <a:ext uri="{FF2B5EF4-FFF2-40B4-BE49-F238E27FC236}">
                      <a16:creationId id="{EDCE61C6-6656-1E2B-5064-54B9A280708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23834" y="5316110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2F2F2F"/>
                      </a:solidFill>
                      <a:ea typeface="微软雅黑"/>
                    </a:rPr>
                    <a:t>财务核算深度解析</a:t>
                  </a:r>
                </a:p>
              </p:txBody>
            </p:sp>
            <p:cxnSp>
              <p:nvCxnSpPr>
                <p:cNvPr descr="a401baa4-ec56-4ced-b4a1-30934c337191" id="72" name="直接连接符 71">
                  <a:extLst>
                    <a:ext uri="{FF2B5EF4-FFF2-40B4-BE49-F238E27FC236}">
                      <a16:creationId id="{99BF09C9-45C6-C4F6-5BA4-D5A239A8C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true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descr="52068949-deae-4283-af15-cf2b44f2893f" id="84" name="Title">
              <a:extLst>
                <a:ext uri="{FF2B5EF4-FFF2-40B4-BE49-F238E27FC236}">
                  <a16:creationId id="{39FC13C3-340B-FC8F-289C-1AC8FECAA947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4800" u="none">
                  <a:solidFill>
                    <a:srgbClr val="2F2F2F"/>
                  </a:solidFill>
                  <a:latin typeface="Arial"/>
                </a:rPr>
                <a:t/>
              </a:r>
            </a:p>
          </p:txBody>
        </p:sp>
        <p:grpSp>
          <p:nvGrpSpPr>
            <p:cNvPr descr="d1acee43-b800-42b1-9f4a-86616d8955db" id="5" name="组合 4">
              <a:extLst>
                <a:ext uri="{FF2B5EF4-FFF2-40B4-BE49-F238E27FC236}">
                  <a16:creationId id="{90B8F8B4-79BF-2F56-2F3A-B2F5474F568F}"/>
                </a:ext>
              </a:extLst>
            </p:cNvPr>
            <p:cNvGrpSpPr/>
            <p:nvPr/>
          </p:nvGrpSpPr>
          <p:grpSpPr>
            <a:xfrm>
              <a:off x="5992156" y="3650127"/>
              <a:ext cx="2860864" cy="1785484"/>
              <a:chOff x="3611454" y="3650127"/>
              <a:chExt cx="2860864" cy="1785484"/>
            </a:xfrm>
          </p:grpSpPr>
          <p:sp>
            <p:nvSpPr>
              <p:cNvPr descr="7930b2d2-e1d0-453f-8051-066df99ee262" id="52" name="Number3">
                <a:extLst>
                  <a:ext uri="{FF2B5EF4-FFF2-40B4-BE49-F238E27FC236}">
                    <a16:creationId id="{9C5F2C3D-B1AB-40CC-E21D-781CA62B9623}"/>
                  </a:ext>
                </a:extLst>
              </p:cNvPr>
              <p:cNvSpPr/>
              <p:nvPr/>
            </p:nvSpPr>
            <p:spPr>
              <a:xfrm flipH="false" flipV="false"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grpSp>
            <p:nvGrpSpPr>
              <p:cNvPr descr="470fac11-21c6-4709-8b6d-18a8c9c33b6e" id="91" name="组合 90">
                <a:extLst>
                  <a:ext uri="{FF2B5EF4-FFF2-40B4-BE49-F238E27FC236}">
                    <a16:creationId id="{875B6E1A-C5F4-24A4-EC25-0D55B388F0AF}"/>
                  </a:ext>
                </a:extLst>
              </p:cNvPr>
              <p:cNvGrpSpPr/>
              <p:nvPr/>
            </p:nvGrpSpPr>
            <p:grpSpPr>
              <a:xfrm>
                <a:off x="3611454" y="4236631"/>
                <a:ext cx="2860864" cy="1198980"/>
                <a:chOff x="1530184" y="4601292"/>
                <a:chExt cx="2860864" cy="1198980"/>
              </a:xfrm>
            </p:grpSpPr>
            <p:sp>
              <p:nvSpPr>
                <p:cNvPr descr="3ce5eeca-b4f1-4d93-b501-20e4b4c8272a" id="92" name="Bullet3">
                  <a:extLst>
                    <a:ext uri="{FF2B5EF4-FFF2-40B4-BE49-F238E27FC236}">
                      <a16:creationId id="{4463FF7D-ECE0-AC16-BA46-E4098DF95B3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30184" y="5090848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2F2F2F"/>
                      </a:solidFill>
                      <a:ea typeface="微软雅黑"/>
                    </a:rPr>
                    <a:t>经营挑战与应对</a:t>
                  </a:r>
                </a:p>
              </p:txBody>
            </p:sp>
            <p:cxnSp>
              <p:nvCxnSpPr>
                <p:cNvPr descr="5e14b872-642a-4f03-8156-7d4edbff01d6" id="94" name="直接连接符 93">
                  <a:extLst>
                    <a:ext uri="{FF2B5EF4-FFF2-40B4-BE49-F238E27FC236}">
                      <a16:creationId id="{0B6890B8-DFDC-C387-6CE8-27FE69F53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d4396f5e-8f1f-45ea-ad28-e4cc6538fb58" id="6" name="组合 5">
              <a:extLst>
                <a:ext uri="{FF2B5EF4-FFF2-40B4-BE49-F238E27FC236}">
                  <a16:creationId id="{BCF5D0BA-3B6C-2B7D-8ECB-26DB449B0357}"/>
                </a:ext>
              </a:extLst>
            </p:cNvPr>
            <p:cNvGrpSpPr/>
            <p:nvPr/>
          </p:nvGrpSpPr>
          <p:grpSpPr>
            <a:xfrm>
              <a:off x="8658033" y="2441361"/>
              <a:ext cx="2860864" cy="1795270"/>
              <a:chOff x="5304669" y="2441361"/>
              <a:chExt cx="2860864" cy="1795270"/>
            </a:xfrm>
          </p:grpSpPr>
          <p:sp>
            <p:nvSpPr>
              <p:cNvPr descr="38eb5f0b-94c6-47f3-ba2c-cbb48d454946" id="53" name="Number4">
                <a:extLst>
                  <a:ext uri="{FF2B5EF4-FFF2-40B4-BE49-F238E27FC236}">
                    <a16:creationId id="{771B8C0A-613C-A6ED-F850-B7B2EA155BF4}"/>
                  </a:ext>
                </a:extLst>
              </p:cNvPr>
              <p:cNvSpPr/>
              <p:nvPr/>
            </p:nvSpPr>
            <p:spPr>
              <a:xfrm flipH="false" flipV="false"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  <p:grpSp>
            <p:nvGrpSpPr>
              <p:cNvPr descr="34ac8ebd-2c78-45b8-9ce5-574163ff0cc7" id="95" name="组合 94">
                <a:extLst>
                  <a:ext uri="{FF2B5EF4-FFF2-40B4-BE49-F238E27FC236}">
                    <a16:creationId id="{06C30757-2C2F-8677-8A77-750800896B96}"/>
                  </a:ext>
                </a:extLst>
              </p:cNvPr>
              <p:cNvGrpSpPr/>
              <p:nvPr/>
            </p:nvGrpSpPr>
            <p:grpSpPr>
              <a:xfrm>
                <a:off x="5304669" y="2441361"/>
                <a:ext cx="2860864" cy="1205891"/>
                <a:chOff x="1523834" y="5316110"/>
                <a:chExt cx="2860864" cy="1205891"/>
              </a:xfrm>
            </p:grpSpPr>
            <p:sp>
              <p:nvSpPr>
                <p:cNvPr descr="b50711c8-c209-4e5d-a653-ce17b102eed8" id="96" name="Bullet4">
                  <a:extLst>
                    <a:ext uri="{FF2B5EF4-FFF2-40B4-BE49-F238E27FC236}">
                      <a16:creationId id="{2697C799-E926-4D22-DDAF-513E0A5DD13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23834" y="5316110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2F2F2F"/>
                      </a:solidFill>
                      <a:ea typeface="微软雅黑"/>
                    </a:rPr>
                    <a:t>未来展望与机遇</a:t>
                  </a:r>
                </a:p>
              </p:txBody>
            </p:sp>
            <p:cxnSp>
              <p:nvCxnSpPr>
                <p:cNvPr descr="ebede6aa-6dad-47e2-abbb-a620816c84bb" id="98" name="直接连接符 97">
                  <a:extLst>
                    <a:ext uri="{FF2B5EF4-FFF2-40B4-BE49-F238E27FC236}">
                      <a16:creationId id="{4932436E-120D-78F4-40BA-1574046CB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true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53bf28ba-8f37-4041-92c5-7485fc215cd7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b="true" i="false" lang="en-US" sz="3200" u="none">
                <a:solidFill>
                  <a:srgbClr val="2F2F2F"/>
                </a:solidFill>
                <a:ea typeface="微软雅黑"/>
              </a:rPr>
              <a:t>新准则概述与影响</a:t>
            </a:r>
          </a:p>
        </p:txBody>
      </p:sp>
      <p:sp>
        <p:nvSpPr>
          <p:cNvPr descr="c88c00a7-8405-44bc-8e0d-74b2548feab2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latin typeface="Arial"/>
              </a:rPr>
              <a:t>IFRS17的核心变革及其对财险公司财务管理的深远影响，是本次分析的起点。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151083fd-94d3-46e2-92d9-8ba30fc7473d" id="49" name="f3a6d23e-f17e-4b19-9ad2-04b4a318ed61.source.4.zh-Hans.pptx">
            <a:extLst>
              <a:ext uri="{FF2B5EF4-FFF2-40B4-BE49-F238E27FC236}">
                <a16:creationId id="{93E490E5-A17F-BA2E-7F99-3A4DD4327F68}"/>
              </a:ext>
            </a:extLst>
          </p:cNvPr>
          <p:cNvGrpSpPr/>
          <p:nvPr/>
        </p:nvGrpSpPr>
        <p:grpSpPr>
          <a:xfrm>
            <a:off x="0" y="1130301"/>
            <a:ext cx="12192000" cy="5727699"/>
            <a:chOff x="0" y="1130301"/>
            <a:chExt cx="12192000" cy="5727699"/>
          </a:xfrm>
        </p:grpSpPr>
        <p:sp>
          <p:nvSpPr>
            <p:cNvPr descr="ff95c48d-0e96-4fcc-82c6-75bb7f48d75b" id="5" name="PictureMisc1">
              <a:extLst>
                <a:ext uri="{FF2B5EF4-FFF2-40B4-BE49-F238E27FC236}">
                  <a16:creationId id="{6720E81B-5C82-4A9D-D88C-64620B8A6CCB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0" y="5562667"/>
              <a:ext cx="12192000" cy="1295333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418803" l="0" r="0" t="-869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bce7f1df-2422-4ef7-83e4-6605baba5fcb" id="6" name="c">
              <a:extLst>
                <a:ext uri="{FF2B5EF4-FFF2-40B4-BE49-F238E27FC236}">
                  <a16:creationId id="{DC1363E8-0EF9-8F4F-8400-25AB2444BDA2}"/>
                </a:ext>
              </a:extLst>
            </p:cNvPr>
            <p:cNvSpPr/>
            <p:nvPr/>
          </p:nvSpPr>
          <p:spPr>
            <a:xfrm flipH="false" flipV="false">
              <a:off x="660399" y="1777184"/>
              <a:ext cx="10858500" cy="4356916"/>
            </a:xfrm>
            <a:prstGeom prst="roundRect">
              <a:avLst>
                <a:gd fmla="val 3015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non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04fcdc35-7790-473e-ab72-5da4c8a3ed7b" id="7" name="Title">
              <a:extLst>
                <a:ext uri="{FF2B5EF4-FFF2-40B4-BE49-F238E27FC236}">
                  <a16:creationId id="{06DAED5A-E50A-5439-2BB8-B1DBD46DE6C4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剖析新保险合同准则的四大核心变化</a:t>
              </a:r>
            </a:p>
          </p:txBody>
        </p:sp>
        <p:grpSp>
          <p:nvGrpSpPr>
            <p:cNvPr descr="d2d6ef16-856b-495a-a969-64bf21b0024b" id="45" name="组合 44">
              <a:extLst>
                <a:ext uri="{FF2B5EF4-FFF2-40B4-BE49-F238E27FC236}">
                  <a16:creationId id="{6BBA273C-0C1E-A202-DE7D-F3AE67C2AE84}"/>
                </a:ext>
              </a:extLst>
            </p:cNvPr>
            <p:cNvGrpSpPr/>
            <p:nvPr/>
          </p:nvGrpSpPr>
          <p:grpSpPr>
            <a:xfrm>
              <a:off x="885625" y="1931699"/>
              <a:ext cx="5009337" cy="1822378"/>
              <a:chOff x="885625" y="1931699"/>
              <a:chExt cx="5009337" cy="1822378"/>
            </a:xfrm>
          </p:grpSpPr>
          <p:sp>
            <p:nvSpPr>
              <p:cNvPr descr="9c53253b-b001-4e28-8099-8931a8e1f5f2" id="42" name="Number1">
                <a:extLst>
                  <a:ext uri="{FF2B5EF4-FFF2-40B4-BE49-F238E27FC236}">
                    <a16:creationId id="{26F2EE8C-7C68-E2E7-2AB3-722E45BFBED4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3E3318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8d380af7-ea1f-4a04-80a2-ae7e82ce4725" id="43" name="Bullet1">
                <a:extLst>
                  <a:ext uri="{FF2B5EF4-FFF2-40B4-BE49-F238E27FC236}">
                    <a16:creationId id="{2B95AD5E-E459-B4B0-579D-E3E90BE557F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合同分组</a:t>
                </a:r>
              </a:p>
            </p:txBody>
          </p:sp>
          <p:sp>
            <p:nvSpPr>
              <p:cNvPr descr="41d3e034-d64b-4f06-bf1c-26e34b9ca530" id="44" name="Text1">
                <a:extLst>
                  <a:ext uri="{FF2B5EF4-FFF2-40B4-BE49-F238E27FC236}">
                    <a16:creationId id="{7CA05697-5B50-4D7B-D6C7-6BEBCF03513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1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引入“合同组”概念，要求以一致的风险特征为基础进行分组，改变了原有的核算单元，影响财务报表结构与数据可比性。</a:t>
                </a:r>
              </a:p>
            </p:txBody>
          </p:sp>
        </p:grpSp>
        <p:grpSp>
          <p:nvGrpSpPr>
            <p:cNvPr descr="afe003aa-7431-4cbc-8091-29c512ade229" id="46" name="组合 45">
              <a:extLst>
                <a:ext uri="{FF2B5EF4-FFF2-40B4-BE49-F238E27FC236}">
                  <a16:creationId id="{19BFE2D9-4C10-1FBA-4189-19664EF60159}"/>
                </a:ext>
              </a:extLst>
            </p:cNvPr>
            <p:cNvGrpSpPr/>
            <p:nvPr/>
          </p:nvGrpSpPr>
          <p:grpSpPr>
            <a:xfrm>
              <a:off x="885625" y="4204072"/>
              <a:ext cx="5009337" cy="1822378"/>
              <a:chOff x="885625" y="4204072"/>
              <a:chExt cx="5009337" cy="1822378"/>
            </a:xfrm>
          </p:grpSpPr>
          <p:sp>
            <p:nvSpPr>
              <p:cNvPr descr="13084be6-fa41-42fa-9dd2-624e111f153b" id="36" name="Number2">
                <a:extLst>
                  <a:ext uri="{FF2B5EF4-FFF2-40B4-BE49-F238E27FC236}">
                    <a16:creationId id="{7E5C3440-52F1-B6CE-AB9A-C71B677B9893}"/>
                  </a:ext>
                </a:extLst>
              </p:cNvPr>
              <p:cNvSpPr/>
              <p:nvPr/>
            </p:nvSpPr>
            <p:spPr>
              <a:xfrm flipH="true" flipV="false">
                <a:off x="885625" y="4204072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3E3318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f6b01126-55fa-461d-911d-5ac70015a581" id="37" name="Bullet2">
                <a:extLst>
                  <a:ext uri="{FF2B5EF4-FFF2-40B4-BE49-F238E27FC236}">
                    <a16:creationId id="{3E2CF96F-0E00-6F69-5571-2D874945887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4204072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履约义务</a:t>
                </a:r>
              </a:p>
            </p:txBody>
          </p:sp>
          <p:sp>
            <p:nvSpPr>
              <p:cNvPr descr="e661f293-c675-4eac-9f14-e55ae44d1cbe" id="38" name="Text2">
                <a:extLst>
                  <a:ext uri="{FF2B5EF4-FFF2-40B4-BE49-F238E27FC236}">
                    <a16:creationId id="{20449CBE-D07B-0FD0-8B21-ED817269BA3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4676734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明确区分保险服务履约义务和投资成分，保险服务需通过“保费分配”模型在合同期间确认收入，计量方式更为复杂。</a:t>
                </a:r>
              </a:p>
            </p:txBody>
          </p:sp>
        </p:grpSp>
        <p:grpSp>
          <p:nvGrpSpPr>
            <p:cNvPr descr="f00cabbc-b305-42d2-ab29-a3aaf9214ebc" id="47" name="组合 46">
              <a:extLst>
                <a:ext uri="{FF2B5EF4-FFF2-40B4-BE49-F238E27FC236}">
                  <a16:creationId id="{711EEAA1-9F0E-8567-2C3E-D5AD9F46A876}"/>
                </a:ext>
              </a:extLst>
            </p:cNvPr>
            <p:cNvGrpSpPr/>
            <p:nvPr/>
          </p:nvGrpSpPr>
          <p:grpSpPr>
            <a:xfrm>
              <a:off x="6026873" y="1931699"/>
              <a:ext cx="5009337" cy="1822378"/>
              <a:chOff x="6026873" y="1931699"/>
              <a:chExt cx="5009337" cy="1822378"/>
            </a:xfrm>
          </p:grpSpPr>
          <p:sp>
            <p:nvSpPr>
              <p:cNvPr descr="63e9004a-0c4f-40db-8b3c-1687942c12c2" id="25" name="Number3">
                <a:extLst>
                  <a:ext uri="{FF2B5EF4-FFF2-40B4-BE49-F238E27FC236}">
                    <a16:creationId id="{F68CE557-7BB6-816C-B6F6-289B9EAAD2C1}"/>
                  </a:ext>
                </a:extLst>
              </p:cNvPr>
              <p:cNvSpPr/>
              <p:nvPr/>
            </p:nvSpPr>
            <p:spPr>
              <a:xfrm flipH="true" flipV="false">
                <a:off x="6026873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3E3318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8fae35eb-a93d-47dd-b7ad-d439c558a1e8" id="26" name="Bullet3">
                <a:extLst>
                  <a:ext uri="{FF2B5EF4-FFF2-40B4-BE49-F238E27FC236}">
                    <a16:creationId id="{C0DD4716-8131-189C-29C2-D11537015BF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1931699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计量模型</a:t>
                </a:r>
              </a:p>
            </p:txBody>
          </p:sp>
          <p:sp>
            <p:nvSpPr>
              <p:cNvPr descr="71ea2e23-c520-43dc-8a72-4d1e55c7f663" id="27" name="Text3">
                <a:extLst>
                  <a:ext uri="{FF2B5EF4-FFF2-40B4-BE49-F238E27FC236}">
                    <a16:creationId id="{144D2CF7-A059-866C-E3A6-652C3418C3B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2404361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采用“广义匹配原则”，将保险合同负债拆分为未来现金流现值和合同服务边际两部分，计量不确定性增加。</a:t>
                </a:r>
              </a:p>
            </p:txBody>
          </p:sp>
        </p:grpSp>
        <p:grpSp>
          <p:nvGrpSpPr>
            <p:cNvPr descr="01e10f50-58aa-4395-a068-9df533300019" id="48" name="组合 47">
              <a:extLst>
                <a:ext uri="{FF2B5EF4-FFF2-40B4-BE49-F238E27FC236}">
                  <a16:creationId id="{FC57F776-A99B-84CF-C06A-A4A406ABDBFC}"/>
                </a:ext>
              </a:extLst>
            </p:cNvPr>
            <p:cNvGrpSpPr/>
            <p:nvPr/>
          </p:nvGrpSpPr>
          <p:grpSpPr>
            <a:xfrm>
              <a:off x="6026873" y="4204072"/>
              <a:ext cx="5009337" cy="1822378"/>
              <a:chOff x="6026873" y="4204072"/>
              <a:chExt cx="5009337" cy="1822378"/>
            </a:xfrm>
          </p:grpSpPr>
          <p:sp>
            <p:nvSpPr>
              <p:cNvPr descr="0e5f18de-97d6-45c9-b7f2-78c054294687" id="22" name="Number4">
                <a:extLst>
                  <a:ext uri="{FF2B5EF4-FFF2-40B4-BE49-F238E27FC236}">
                    <a16:creationId id="{072C7DF8-60FA-A867-BFFC-3D7195BAAD22}"/>
                  </a:ext>
                </a:extLst>
              </p:cNvPr>
              <p:cNvSpPr/>
              <p:nvPr/>
            </p:nvSpPr>
            <p:spPr>
              <a:xfrm flipH="true" flipV="false">
                <a:off x="6026873" y="4204072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3E3318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0d2adb91-7967-441b-a323-add16a9590db" id="23" name="Bullet4">
                <a:extLst>
                  <a:ext uri="{FF2B5EF4-FFF2-40B4-BE49-F238E27FC236}">
                    <a16:creationId id="{E3BC0995-906E-179E-5FD0-91ADAB16C69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4204072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披露要求</a:t>
                </a:r>
              </a:p>
            </p:txBody>
          </p:sp>
          <p:sp>
            <p:nvSpPr>
              <p:cNvPr descr="2b96dca2-c746-4ee7-8e59-115530774052" id="24" name="Text4">
                <a:extLst>
                  <a:ext uri="{FF2B5EF4-FFF2-40B4-BE49-F238E27FC236}">
                    <a16:creationId id="{6BA62AF2-180D-CDC5-53AB-355A97D6BD1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4676734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显著提升了信息披露的详细程度和透明度，要求揭示保险合同相关风险、假设、现金流量及利润驱动因素。</a:t>
                </a:r>
              </a:p>
            </p:txBody>
          </p: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latin typeface="Arial"/>
              </a:rPr>
              <a:t>IFRS17核心变革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ee54a702-79ef-47e2-9402-6b78062a8012" id="4" name="e5bed833-6d36-48e3-b086-44f1bd744d82.source.4.zh-Hans.pptx">
            <a:extLst>
              <a:ext uri="{FF2B5EF4-FFF2-40B4-BE49-F238E27FC236}">
                <a16:creationId id="{DFCEEA74-10B3-60C5-9FFC-246F6618AF8C}"/>
              </a:ext>
            </a:extLst>
          </p:cNvPr>
          <p:cNvGrpSpPr/>
          <p:nvPr/>
        </p:nvGrpSpPr>
        <p:grpSpPr>
          <a:xfrm>
            <a:off x="669926" y="1140685"/>
            <a:ext cx="10844195" cy="5717315"/>
            <a:chOff x="669926" y="1140685"/>
            <a:chExt cx="10844195" cy="5717315"/>
          </a:xfrm>
        </p:grpSpPr>
        <p:cxnSp>
          <p:nvCxnSpPr>
            <p:cNvPr descr="b57b073c-e543-4e17-84d6-dae6a26362ff" id="3" name="直接连接符 2">
              <a:extLst>
                <a:ext uri="{FF2B5EF4-FFF2-40B4-BE49-F238E27FC236}">
                  <a16:creationId id="{1495A410-78D7-CA84-049D-75EAE16BD2E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78342" y="2676653"/>
              <a:ext cx="6707" cy="418134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6b3ed521-85b4-4b91-8569-882a321c4edf" id="30" name="直接连接符 29">
              <a:extLst>
                <a:ext uri="{FF2B5EF4-FFF2-40B4-BE49-F238E27FC236}">
                  <a16:creationId id="{F934239E-5B97-CAFA-8603-2D7351B86195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78342" y="2676653"/>
              <a:ext cx="6707" cy="418134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388c6ec2-b4de-4582-9c10-34a6cc46bac2" id="31" name="Title">
              <a:extLst>
                <a:ext uri="{FF2B5EF4-FFF2-40B4-BE49-F238E27FC236}">
                  <a16:creationId id="{1FE1CCAB-B9D4-E112-FF6D-874085A6777A}"/>
                </a:ext>
              </a:extLst>
            </p:cNvPr>
            <p:cNvSpPr txBox="1"/>
            <p:nvPr/>
          </p:nvSpPr>
          <p:spPr>
            <a:xfrm flipH="false" flipV="false">
              <a:off x="669926" y="1140685"/>
              <a:ext cx="10836269" cy="724303"/>
            </a:xfrm>
            <a:prstGeom prst="rect">
              <a:avLst/>
            </a:prstGeom>
            <a:noFill/>
          </p:spPr>
          <p:txBody>
            <a:bodyPr anchor="ctr" anchorCtr="false" bIns="46800" lIns="90000" rIns="90000" rtlCol="0" tIns="46800" wrap="square">
              <a:normAutofit/>
            </a:bodyPr>
            <a:lstStyle>
              <a:defPPr>
                <a:defRPr lang="en-US"/>
              </a:defPPr>
              <a:lvl1pPr>
                <a:defRPr b="1" sz="2400"/>
              </a:lvl1pPr>
            </a:lstStyle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新准则对关键财务指标的多维度冲击</a:t>
              </a:r>
            </a:p>
          </p:txBody>
        </p:sp>
        <p:grpSp>
          <p:nvGrpSpPr>
            <p:cNvPr descr="77304be3-76f3-46e7-88b6-37a610ad9fb6" id="49" name="组合 48">
              <a:extLst>
                <a:ext uri="{FF2B5EF4-FFF2-40B4-BE49-F238E27FC236}">
                  <a16:creationId id="{94D54144-6EA4-8BE9-F52B-F8816BDC1B74}"/>
                </a:ext>
              </a:extLst>
            </p:cNvPr>
            <p:cNvGrpSpPr/>
            <p:nvPr/>
          </p:nvGrpSpPr>
          <p:grpSpPr>
            <a:xfrm>
              <a:off x="675279" y="2173469"/>
              <a:ext cx="10830915" cy="942929"/>
              <a:chOff x="675279" y="2173469"/>
              <a:chExt cx="10830915" cy="942929"/>
            </a:xfrm>
          </p:grpSpPr>
          <p:sp>
            <p:nvSpPr>
              <p:cNvPr descr="760f2fef-7b0c-4a46-902d-0bf68810c130" id="33" name="Icon1">
                <a:extLst>
                  <a:ext uri="{FF2B5EF4-FFF2-40B4-BE49-F238E27FC236}">
                    <a16:creationId id="{E686B6EC-927C-C6F6-4852-AA14132B4A2B}"/>
                  </a:ext>
                </a:extLst>
              </p:cNvPr>
              <p:cNvSpPr/>
              <p:nvPr/>
            </p:nvSpPr>
            <p:spPr>
              <a:xfrm flipH="false" flipV="false">
                <a:off x="675279" y="2461940"/>
                <a:ext cx="219540" cy="219155"/>
              </a:xfrm>
              <a:custGeom>
                <a:avLst/>
                <a:gdLst>
                  <a:gd fmla="*/ 2200 w 4400" name="T0"/>
                  <a:gd fmla="*/ 0 h 4400" name="T1"/>
                  <a:gd fmla="*/ 0 w 4400" name="T2"/>
                  <a:gd fmla="*/ 2200 h 4400" name="T3"/>
                  <a:gd fmla="*/ 2200 w 4400" name="T4"/>
                  <a:gd fmla="*/ 4400 h 4400" name="T5"/>
                  <a:gd fmla="*/ 4400 w 4400" name="T6"/>
                  <a:gd fmla="*/ 2200 h 4400" name="T7"/>
                  <a:gd fmla="*/ 2200 w 4400" name="T8"/>
                  <a:gd fmla="*/ 0 h 4400" name="T9"/>
                  <a:gd fmla="*/ 3408 w 4400" name="T10"/>
                  <a:gd fmla="*/ 1941 h 4400" name="T11"/>
                  <a:gd fmla="*/ 2341 w 4400" name="T12"/>
                  <a:gd fmla="*/ 3008 h 4400" name="T13"/>
                  <a:gd fmla="*/ 2200 w 4400" name="T14"/>
                  <a:gd fmla="*/ 3067 h 4400" name="T15"/>
                  <a:gd fmla="*/ 2059 w 4400" name="T16"/>
                  <a:gd fmla="*/ 3008 h 4400" name="T17"/>
                  <a:gd fmla="*/ 992 w 4400" name="T18"/>
                  <a:gd fmla="*/ 1941 h 4400" name="T19"/>
                  <a:gd fmla="*/ 992 w 4400" name="T20"/>
                  <a:gd fmla="*/ 1659 h 4400" name="T21"/>
                  <a:gd fmla="*/ 1275 w 4400" name="T22"/>
                  <a:gd fmla="*/ 1659 h 4400" name="T23"/>
                  <a:gd fmla="*/ 2200 w 4400" name="T24"/>
                  <a:gd fmla="*/ 2584 h 4400" name="T25"/>
                  <a:gd fmla="*/ 3125 w 4400" name="T26"/>
                  <a:gd fmla="*/ 1659 h 4400" name="T27"/>
                  <a:gd fmla="*/ 3408 w 4400" name="T28"/>
                  <a:gd fmla="*/ 1659 h 4400" name="T29"/>
                  <a:gd fmla="*/ 3408 w 4400" name="T30"/>
                  <a:gd fmla="*/ 1941 h 4400" name="T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b="b" l="0" r="r" t="0"/>
                <a:pathLst>
                  <a:path h="4400" w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descr="32db0e5d-cea2-4694-b636-f758d5bcac9b" id="34" name="Bullet1">
                <a:extLst>
                  <a:ext uri="{FF2B5EF4-FFF2-40B4-BE49-F238E27FC236}">
                    <a16:creationId id="{AC5A819B-CBE1-6173-8708-856E44C89011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982804" y="2173469"/>
                <a:ext cx="10523390" cy="398049"/>
              </a:xfrm>
              <a:prstGeom prst="roundRect">
                <a:avLst>
                  <a:gd fmla="val 0" name="adj"/>
                </a:avLst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利润表</a:t>
                </a:r>
              </a:p>
            </p:txBody>
          </p:sp>
          <p:sp>
            <p:nvSpPr>
              <p:cNvPr descr="3d22cdc7-400b-46cc-a3e8-2b733acff274" id="35" name="Text1">
                <a:extLst>
                  <a:ext uri="{FF2B5EF4-FFF2-40B4-BE49-F238E27FC236}">
                    <a16:creationId id="{1403CF58-1314-CDAD-5770-B36A7088EB9E}"/>
                  </a:ext>
                </a:extLst>
              </p:cNvPr>
              <p:cNvSpPr txBox="1">
                <a:spLocks/>
              </p:cNvSpPr>
              <p:nvPr/>
            </p:nvSpPr>
            <p:spPr>
              <a:xfrm flipH="true" flipV="false">
                <a:off x="982804" y="2637555"/>
                <a:ext cx="10523390" cy="47884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保险服务收入确认节奏放缓，早期利润可能减少；承保业绩波动性降低，平滑了利润曲线，但整体利润释放周期变长。</a:t>
                </a:r>
              </a:p>
            </p:txBody>
          </p:sp>
        </p:grpSp>
        <p:grpSp>
          <p:nvGrpSpPr>
            <p:cNvPr descr="e7256074-dc3c-4d17-a6b0-09fa4c8ab28c" id="50" name="组合 49">
              <a:extLst>
                <a:ext uri="{FF2B5EF4-FFF2-40B4-BE49-F238E27FC236}">
                  <a16:creationId id="{F278E0B2-275E-3E0E-96BC-EE7C0C1C114D}"/>
                </a:ext>
              </a:extLst>
            </p:cNvPr>
            <p:cNvGrpSpPr/>
            <p:nvPr/>
          </p:nvGrpSpPr>
          <p:grpSpPr>
            <a:xfrm>
              <a:off x="675279" y="3164856"/>
              <a:ext cx="10830919" cy="942929"/>
              <a:chOff x="675279" y="3112217"/>
              <a:chExt cx="10830919" cy="942929"/>
            </a:xfrm>
          </p:grpSpPr>
          <p:sp>
            <p:nvSpPr>
              <p:cNvPr descr="e1519f19-30d7-4fca-8eaa-afb60a3dba28" id="37" name="Icon2">
                <a:extLst>
                  <a:ext uri="{FF2B5EF4-FFF2-40B4-BE49-F238E27FC236}">
                    <a16:creationId id="{05F5C0F6-2969-46CB-D203-FC25E926400A}"/>
                  </a:ext>
                </a:extLst>
              </p:cNvPr>
              <p:cNvSpPr/>
              <p:nvPr/>
            </p:nvSpPr>
            <p:spPr>
              <a:xfrm flipH="false" flipV="false">
                <a:off x="675279" y="3400689"/>
                <a:ext cx="219540" cy="219155"/>
              </a:xfrm>
              <a:custGeom>
                <a:avLst/>
                <a:gdLst>
                  <a:gd fmla="*/ 2200 w 4400" name="T0"/>
                  <a:gd fmla="*/ 0 h 4400" name="T1"/>
                  <a:gd fmla="*/ 0 w 4400" name="T2"/>
                  <a:gd fmla="*/ 2200 h 4400" name="T3"/>
                  <a:gd fmla="*/ 2200 w 4400" name="T4"/>
                  <a:gd fmla="*/ 4400 h 4400" name="T5"/>
                  <a:gd fmla="*/ 4400 w 4400" name="T6"/>
                  <a:gd fmla="*/ 2200 h 4400" name="T7"/>
                  <a:gd fmla="*/ 2200 w 4400" name="T8"/>
                  <a:gd fmla="*/ 0 h 4400" name="T9"/>
                  <a:gd fmla="*/ 3408 w 4400" name="T10"/>
                  <a:gd fmla="*/ 1941 h 4400" name="T11"/>
                  <a:gd fmla="*/ 2341 w 4400" name="T12"/>
                  <a:gd fmla="*/ 3008 h 4400" name="T13"/>
                  <a:gd fmla="*/ 2200 w 4400" name="T14"/>
                  <a:gd fmla="*/ 3067 h 4400" name="T15"/>
                  <a:gd fmla="*/ 2059 w 4400" name="T16"/>
                  <a:gd fmla="*/ 3008 h 4400" name="T17"/>
                  <a:gd fmla="*/ 992 w 4400" name="T18"/>
                  <a:gd fmla="*/ 1941 h 4400" name="T19"/>
                  <a:gd fmla="*/ 992 w 4400" name="T20"/>
                  <a:gd fmla="*/ 1659 h 4400" name="T21"/>
                  <a:gd fmla="*/ 1275 w 4400" name="T22"/>
                  <a:gd fmla="*/ 1659 h 4400" name="T23"/>
                  <a:gd fmla="*/ 2200 w 4400" name="T24"/>
                  <a:gd fmla="*/ 2584 h 4400" name="T25"/>
                  <a:gd fmla="*/ 3125 w 4400" name="T26"/>
                  <a:gd fmla="*/ 1659 h 4400" name="T27"/>
                  <a:gd fmla="*/ 3408 w 4400" name="T28"/>
                  <a:gd fmla="*/ 1659 h 4400" name="T29"/>
                  <a:gd fmla="*/ 3408 w 4400" name="T30"/>
                  <a:gd fmla="*/ 1941 h 4400" name="T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b="b" l="0" r="r" t="0"/>
                <a:pathLst>
                  <a:path h="4400" w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descr="382dd651-7b75-456d-a51f-49db4bc585da" id="38" name="Bullet2">
                <a:extLst>
                  <a:ext uri="{FF2B5EF4-FFF2-40B4-BE49-F238E27FC236}">
                    <a16:creationId id="{0E2E7C1D-420C-0D94-FDA9-B28B7FBB57A9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982808" y="3112217"/>
                <a:ext cx="10523390" cy="398049"/>
              </a:xfrm>
              <a:prstGeom prst="roundRect">
                <a:avLst>
                  <a:gd fmla="val 0" name="adj"/>
                </a:avLst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资产负债表</a:t>
                </a:r>
              </a:p>
            </p:txBody>
          </p:sp>
          <p:sp>
            <p:nvSpPr>
              <p:cNvPr descr="7f3ad67e-8c0c-4c8f-b46c-f581169c25b2" id="39" name="Text2">
                <a:extLst>
                  <a:ext uri="{FF2B5EF4-FFF2-40B4-BE49-F238E27FC236}">
                    <a16:creationId id="{D7C5BC4D-99CE-3B8D-952E-41738D29E178}"/>
                  </a:ext>
                </a:extLst>
              </p:cNvPr>
              <p:cNvSpPr txBox="1">
                <a:spLocks/>
              </p:cNvSpPr>
              <p:nvPr/>
            </p:nvSpPr>
            <p:spPr>
              <a:xfrm flipH="true" flipV="false">
                <a:off x="982808" y="3576303"/>
                <a:ext cx="10523390" cy="47884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保险合同负债显著增加，资产与负债的匹配性要求更高。未到期责任准备金和未决赔款准备金的计量基础发生根本性变化。</a:t>
                </a:r>
              </a:p>
            </p:txBody>
          </p:sp>
        </p:grpSp>
        <p:grpSp>
          <p:nvGrpSpPr>
            <p:cNvPr descr="259dcfbe-c479-4f6b-aad7-f6febd0dfee0" id="51" name="组合 50">
              <a:extLst>
                <a:ext uri="{FF2B5EF4-FFF2-40B4-BE49-F238E27FC236}">
                  <a16:creationId id="{764C571D-E797-8951-DD1A-A00091F60D83}"/>
                </a:ext>
              </a:extLst>
            </p:cNvPr>
            <p:cNvGrpSpPr/>
            <p:nvPr/>
          </p:nvGrpSpPr>
          <p:grpSpPr>
            <a:xfrm>
              <a:off x="675279" y="4156243"/>
              <a:ext cx="10834880" cy="942929"/>
              <a:chOff x="675279" y="4050965"/>
              <a:chExt cx="10834880" cy="942929"/>
            </a:xfrm>
          </p:grpSpPr>
          <p:sp>
            <p:nvSpPr>
              <p:cNvPr descr="575d047b-4e59-4a80-96b6-15f5a34025fb" id="41" name="Icon3">
                <a:extLst>
                  <a:ext uri="{FF2B5EF4-FFF2-40B4-BE49-F238E27FC236}">
                    <a16:creationId id="{05EC27AE-704F-34B2-FD69-62F67252A06B}"/>
                  </a:ext>
                </a:extLst>
              </p:cNvPr>
              <p:cNvSpPr/>
              <p:nvPr/>
            </p:nvSpPr>
            <p:spPr>
              <a:xfrm flipH="false" flipV="false">
                <a:off x="675279" y="4339437"/>
                <a:ext cx="219540" cy="219155"/>
              </a:xfrm>
              <a:custGeom>
                <a:avLst/>
                <a:gdLst>
                  <a:gd fmla="*/ 2200 w 4400" name="T0"/>
                  <a:gd fmla="*/ 0 h 4400" name="T1"/>
                  <a:gd fmla="*/ 0 w 4400" name="T2"/>
                  <a:gd fmla="*/ 2200 h 4400" name="T3"/>
                  <a:gd fmla="*/ 2200 w 4400" name="T4"/>
                  <a:gd fmla="*/ 4400 h 4400" name="T5"/>
                  <a:gd fmla="*/ 4400 w 4400" name="T6"/>
                  <a:gd fmla="*/ 2200 h 4400" name="T7"/>
                  <a:gd fmla="*/ 2200 w 4400" name="T8"/>
                  <a:gd fmla="*/ 0 h 4400" name="T9"/>
                  <a:gd fmla="*/ 3408 w 4400" name="T10"/>
                  <a:gd fmla="*/ 1941 h 4400" name="T11"/>
                  <a:gd fmla="*/ 2341 w 4400" name="T12"/>
                  <a:gd fmla="*/ 3008 h 4400" name="T13"/>
                  <a:gd fmla="*/ 2200 w 4400" name="T14"/>
                  <a:gd fmla="*/ 3067 h 4400" name="T15"/>
                  <a:gd fmla="*/ 2059 w 4400" name="T16"/>
                  <a:gd fmla="*/ 3008 h 4400" name="T17"/>
                  <a:gd fmla="*/ 992 w 4400" name="T18"/>
                  <a:gd fmla="*/ 1941 h 4400" name="T19"/>
                  <a:gd fmla="*/ 992 w 4400" name="T20"/>
                  <a:gd fmla="*/ 1659 h 4400" name="T21"/>
                  <a:gd fmla="*/ 1275 w 4400" name="T22"/>
                  <a:gd fmla="*/ 1659 h 4400" name="T23"/>
                  <a:gd fmla="*/ 2200 w 4400" name="T24"/>
                  <a:gd fmla="*/ 2584 h 4400" name="T25"/>
                  <a:gd fmla="*/ 3125 w 4400" name="T26"/>
                  <a:gd fmla="*/ 1659 h 4400" name="T27"/>
                  <a:gd fmla="*/ 3408 w 4400" name="T28"/>
                  <a:gd fmla="*/ 1659 h 4400" name="T29"/>
                  <a:gd fmla="*/ 3408 w 4400" name="T30"/>
                  <a:gd fmla="*/ 1941 h 4400" name="T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b="b" l="0" r="r" t="0"/>
                <a:pathLst>
                  <a:path h="4400" w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descr="a4a3299f-b494-4115-92e3-34829663b9f4" id="42" name="Bullet3">
                <a:extLst>
                  <a:ext uri="{FF2B5EF4-FFF2-40B4-BE49-F238E27FC236}">
                    <a16:creationId id="{00D8E342-E508-0B81-D818-C32B6CC98F83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986769" y="4050965"/>
                <a:ext cx="10523390" cy="398049"/>
              </a:xfrm>
              <a:prstGeom prst="roundRect">
                <a:avLst>
                  <a:gd fmla="val 0" name="adj"/>
                </a:avLst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财务指标</a:t>
                </a:r>
              </a:p>
            </p:txBody>
          </p:sp>
          <p:sp>
            <p:nvSpPr>
              <p:cNvPr descr="cb1e3d60-c557-44b2-9db8-c9a7f5fa6579" id="43" name="Text3">
                <a:extLst>
                  <a:ext uri="{FF2B5EF4-FFF2-40B4-BE49-F238E27FC236}">
                    <a16:creationId id="{8D1F2833-1DB0-AD98-BB52-347B957FF7E4}"/>
                  </a:ext>
                </a:extLst>
              </p:cNvPr>
              <p:cNvSpPr txBox="1">
                <a:spLocks/>
              </p:cNvSpPr>
              <p:nvPr/>
            </p:nvSpPr>
            <p:spPr>
              <a:xfrm flipH="true" flipV="false">
                <a:off x="986769" y="4515051"/>
                <a:ext cx="10523390" cy="47884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核心盈利能力指标如ROE、ROA等可能面临短期下行压力。新准则下的指标需重新构建评价体系，以反映真实的经营状况。</a:t>
                </a:r>
              </a:p>
            </p:txBody>
          </p:sp>
        </p:grpSp>
        <p:grpSp>
          <p:nvGrpSpPr>
            <p:cNvPr descr="1b33ae24-8b78-403e-89fb-c3b1bcc36565" id="52" name="组合 51">
              <a:extLst>
                <a:ext uri="{FF2B5EF4-FFF2-40B4-BE49-F238E27FC236}">
                  <a16:creationId id="{D805B235-E695-A46A-8919-3445A95497A9}"/>
                </a:ext>
              </a:extLst>
            </p:cNvPr>
            <p:cNvGrpSpPr/>
            <p:nvPr/>
          </p:nvGrpSpPr>
          <p:grpSpPr>
            <a:xfrm>
              <a:off x="675279" y="5147629"/>
              <a:ext cx="10838842" cy="942929"/>
              <a:chOff x="675279" y="4989713"/>
              <a:chExt cx="10838842" cy="942929"/>
            </a:xfrm>
          </p:grpSpPr>
          <p:sp>
            <p:nvSpPr>
              <p:cNvPr descr="9b4ca86c-da09-450f-9eb0-5d9d4745d12e" id="45" name="Icon4">
                <a:extLst>
                  <a:ext uri="{FF2B5EF4-FFF2-40B4-BE49-F238E27FC236}">
                    <a16:creationId id="{56524597-460E-61C3-5B41-049719E9108C}"/>
                  </a:ext>
                </a:extLst>
              </p:cNvPr>
              <p:cNvSpPr/>
              <p:nvPr/>
            </p:nvSpPr>
            <p:spPr>
              <a:xfrm flipH="false" flipV="false">
                <a:off x="675279" y="5278186"/>
                <a:ext cx="219540" cy="219155"/>
              </a:xfrm>
              <a:custGeom>
                <a:avLst/>
                <a:gdLst>
                  <a:gd fmla="*/ 2200 w 4400" name="T0"/>
                  <a:gd fmla="*/ 0 h 4400" name="T1"/>
                  <a:gd fmla="*/ 0 w 4400" name="T2"/>
                  <a:gd fmla="*/ 2200 h 4400" name="T3"/>
                  <a:gd fmla="*/ 2200 w 4400" name="T4"/>
                  <a:gd fmla="*/ 4400 h 4400" name="T5"/>
                  <a:gd fmla="*/ 4400 w 4400" name="T6"/>
                  <a:gd fmla="*/ 2200 h 4400" name="T7"/>
                  <a:gd fmla="*/ 2200 w 4400" name="T8"/>
                  <a:gd fmla="*/ 0 h 4400" name="T9"/>
                  <a:gd fmla="*/ 3408 w 4400" name="T10"/>
                  <a:gd fmla="*/ 1941 h 4400" name="T11"/>
                  <a:gd fmla="*/ 2341 w 4400" name="T12"/>
                  <a:gd fmla="*/ 3008 h 4400" name="T13"/>
                  <a:gd fmla="*/ 2200 w 4400" name="T14"/>
                  <a:gd fmla="*/ 3067 h 4400" name="T15"/>
                  <a:gd fmla="*/ 2059 w 4400" name="T16"/>
                  <a:gd fmla="*/ 3008 h 4400" name="T17"/>
                  <a:gd fmla="*/ 992 w 4400" name="T18"/>
                  <a:gd fmla="*/ 1941 h 4400" name="T19"/>
                  <a:gd fmla="*/ 992 w 4400" name="T20"/>
                  <a:gd fmla="*/ 1659 h 4400" name="T21"/>
                  <a:gd fmla="*/ 1275 w 4400" name="T22"/>
                  <a:gd fmla="*/ 1659 h 4400" name="T23"/>
                  <a:gd fmla="*/ 2200 w 4400" name="T24"/>
                  <a:gd fmla="*/ 2584 h 4400" name="T25"/>
                  <a:gd fmla="*/ 3125 w 4400" name="T26"/>
                  <a:gd fmla="*/ 1659 h 4400" name="T27"/>
                  <a:gd fmla="*/ 3408 w 4400" name="T28"/>
                  <a:gd fmla="*/ 1659 h 4400" name="T29"/>
                  <a:gd fmla="*/ 3408 w 4400" name="T30"/>
                  <a:gd fmla="*/ 1941 h 4400" name="T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b="b" l="0" r="r" t="0"/>
                <a:pathLst>
                  <a:path h="4400" w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descr="21f41d72-3978-4960-9ac3-8705f9d6efb4" id="46" name="Bullet4">
                <a:extLst>
                  <a:ext uri="{FF2B5EF4-FFF2-40B4-BE49-F238E27FC236}">
                    <a16:creationId id="{B30CB26B-0DF9-8E1B-DE0C-D625CF6EBD52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990731" y="4989713"/>
                <a:ext cx="10523390" cy="398049"/>
              </a:xfrm>
              <a:prstGeom prst="roundRect">
                <a:avLst>
                  <a:gd fmla="val 0" name="adj"/>
                </a:avLst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现金流</a:t>
                </a:r>
              </a:p>
            </p:txBody>
          </p:sp>
          <p:sp>
            <p:nvSpPr>
              <p:cNvPr descr="6c9fbf26-af5c-4c3a-8b37-154b1c4358f7" id="47" name="Text4">
                <a:extLst>
                  <a:ext uri="{FF2B5EF4-FFF2-40B4-BE49-F238E27FC236}">
                    <a16:creationId id="{EDC41A94-A74F-D900-8BB8-AD194CA4B916}"/>
                  </a:ext>
                </a:extLst>
              </p:cNvPr>
              <p:cNvSpPr txBox="1">
                <a:spLocks/>
              </p:cNvSpPr>
              <p:nvPr/>
            </p:nvSpPr>
            <p:spPr>
              <a:xfrm flipH="true" flipV="false">
                <a:off x="990731" y="5453799"/>
                <a:ext cx="10523390" cy="47884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对现金流的影响相对直接，但仍需关注新准则下计量变化带来的融资需求和资本管理压力。</a:t>
                </a:r>
              </a:p>
            </p:txBody>
          </p: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财务影响全景图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53bf28ba-8f37-4041-92c5-7485fc215cd7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b="true" i="false" lang="en-US" sz="3200" u="none">
                <a:solidFill>
                  <a:srgbClr val="2F2F2F"/>
                </a:solidFill>
                <a:ea typeface="微软雅黑"/>
              </a:rPr>
              <a:t>财务核算深度解析</a:t>
            </a:r>
          </a:p>
        </p:txBody>
      </p:sp>
      <p:sp>
        <p:nvSpPr>
          <p:cNvPr descr="c88c00a7-8405-44bc-8e0d-74b2548feab2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聚焦新准则下的具体财务处理流程，探讨收入、负债和成本的确认与计量方法。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e34b1fb-72eb-4992-bcce-2beadb4578fd" id="24" name="cde4f3d2-c3c5-441f-8d7a-dd3e3b160f31.source.4.zh-Hans.pptx">
            <a:extLst>
              <a:ext uri="{FF2B5EF4-FFF2-40B4-BE49-F238E27FC236}">
                <a16:creationId id="{FE768BD5-DE0D-7DB3-06EE-EB7EC27BD4C5}"/>
              </a:ext>
            </a:extLst>
          </p:cNvPr>
          <p:cNvGrpSpPr/>
          <p:nvPr/>
        </p:nvGrpSpPr>
        <p:grpSpPr>
          <a:xfrm>
            <a:off x="660401" y="1130300"/>
            <a:ext cx="10858499" cy="5003800"/>
            <a:chOff x="660401" y="1130300"/>
            <a:chExt cx="10858499" cy="5003800"/>
          </a:xfrm>
        </p:grpSpPr>
        <p:grpSp>
          <p:nvGrpSpPr>
            <p:cNvPr descr="5e2e9215-aec3-4f21-ae33-509665588b49" id="4" name="组合 3">
              <a:extLst>
                <a:ext uri="{FF2B5EF4-FFF2-40B4-BE49-F238E27FC236}">
                  <a16:creationId id="{68348258-6E63-7BCB-19A0-05001C65B8B0}"/>
                </a:ext>
              </a:extLst>
            </p:cNvPr>
            <p:cNvGrpSpPr/>
            <p:nvPr/>
          </p:nvGrpSpPr>
          <p:grpSpPr>
            <a:xfrm>
              <a:off x="660401" y="1130300"/>
              <a:ext cx="10858499" cy="5003800"/>
              <a:chOff x="660401" y="1130300"/>
              <a:chExt cx="10858499" cy="5003800"/>
            </a:xfrm>
          </p:grpSpPr>
          <p:grpSp>
            <p:nvGrpSpPr>
              <p:cNvPr descr="697cc7fc-831e-42f4-9b72-4bd6485491e8" id="14" name="组合 13">
                <a:extLst>
                  <a:ext uri="{FF2B5EF4-FFF2-40B4-BE49-F238E27FC236}">
                    <a16:creationId id="{8B3B08C0-3AD4-C8EF-CA6E-8FE2F73917D6}"/>
                  </a:ext>
                </a:extLst>
              </p:cNvPr>
              <p:cNvGrpSpPr/>
              <p:nvPr/>
            </p:nvGrpSpPr>
            <p:grpSpPr>
              <a:xfrm>
                <a:off x="660401" y="1130300"/>
                <a:ext cx="3185099" cy="2386551"/>
                <a:chOff x="660401" y="340371"/>
                <a:chExt cx="3185099" cy="2386551"/>
              </a:xfrm>
            </p:grpSpPr>
            <p:sp>
              <p:nvSpPr>
                <p:cNvPr descr="888851d5-6efb-41bf-8b2f-526ee9325f21" id="16" name="Bullet1">
                  <a:extLst>
                    <a:ext uri="{FF2B5EF4-FFF2-40B4-BE49-F238E27FC236}">
                      <a16:creationId id="{952F1A81-A66E-E0B2-E534-DA2EE4E9070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60401" y="340371"/>
                  <a:ext cx="3185098" cy="4726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defTabSz="913765" fontAlgn="auto" indent="0" lvl="0" marR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b="1" baseline="0" cap="none" i="0" kumimoji="0" normalizeH="0" spc="0" strike="noStrike" u="none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履约现金流</a:t>
                  </a:r>
                </a:p>
              </p:txBody>
            </p:sp>
            <p:sp>
              <p:nvSpPr>
                <p:cNvPr descr="3fc53226-7ed7-47c9-89f5-4ed86500e7e9" id="17" name="Text1">
                  <a:extLst>
                    <a:ext uri="{FF2B5EF4-FFF2-40B4-BE49-F238E27FC236}">
                      <a16:creationId id="{E27ACE71-4DE2-F425-A5E7-D8D1FCC82E2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60402" y="813032"/>
                  <a:ext cx="3185098" cy="19138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仅包含与保险服务相关的现金流，排除了投资成分，是收入确认的基础。</a:t>
                  </a:r>
                </a:p>
              </p:txBody>
            </p:sp>
          </p:grpSp>
          <p:grpSp>
            <p:nvGrpSpPr>
              <p:cNvPr descr="a22a8240-881d-4950-8a87-446401767877" id="35" name="组合 34">
                <a:extLst>
                  <a:ext uri="{FF2B5EF4-FFF2-40B4-BE49-F238E27FC236}">
                    <a16:creationId id="{2B5423FF-3C30-7E37-9DFE-0D0A9FC54ECD}"/>
                  </a:ext>
                </a:extLst>
              </p:cNvPr>
              <p:cNvGrpSpPr/>
              <p:nvPr/>
            </p:nvGrpSpPr>
            <p:grpSpPr>
              <a:xfrm>
                <a:off x="660401" y="3747549"/>
                <a:ext cx="3185099" cy="2386551"/>
                <a:chOff x="660401" y="723900"/>
                <a:chExt cx="3185099" cy="2386551"/>
              </a:xfrm>
            </p:grpSpPr>
            <p:sp>
              <p:nvSpPr>
                <p:cNvPr descr="64374907-d8a3-488a-80e5-8eb100387a69" id="37" name="Bullet2">
                  <a:extLst>
                    <a:ext uri="{FF2B5EF4-FFF2-40B4-BE49-F238E27FC236}">
                      <a16:creationId id="{1ABDDDA9-C594-A48A-18B7-97FE2E513C2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60401" y="723900"/>
                  <a:ext cx="3185098" cy="4726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defTabSz="913765" fontAlgn="auto" indent="0" lvl="0" marR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b="1" baseline="0" cap="none" i="0" kumimoji="0" normalizeH="0" spc="0" strike="noStrike" u="none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合同服务边际</a:t>
                  </a:r>
                </a:p>
              </p:txBody>
            </p:sp>
            <p:sp>
              <p:nvSpPr>
                <p:cNvPr descr="e8a21cb4-88f3-423f-a490-87f3819dd6fd" id="38" name="Text2">
                  <a:extLst>
                    <a:ext uri="{FF2B5EF4-FFF2-40B4-BE49-F238E27FC236}">
                      <a16:creationId id="{815DAD5A-DA16-D25C-B481-00A00420CC8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60402" y="1196561"/>
                  <a:ext cx="3185098" cy="19138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在合同开始日确认，用于弥补未来现金流的不确定性，并在合同期间摊销或调整。</a:t>
                  </a:r>
                </a:p>
              </p:txBody>
            </p:sp>
          </p:grpSp>
          <p:grpSp>
            <p:nvGrpSpPr>
              <p:cNvPr descr="e6d2ebe9-c19a-461a-a391-d74b091bc5cd" id="50" name="组合 49">
                <a:extLst>
                  <a:ext uri="{FF2B5EF4-FFF2-40B4-BE49-F238E27FC236}">
                    <a16:creationId id="{92BE4784-728C-58A3-1675-FC1A0C7ADF93}"/>
                  </a:ext>
                </a:extLst>
              </p:cNvPr>
              <p:cNvGrpSpPr/>
              <p:nvPr/>
            </p:nvGrpSpPr>
            <p:grpSpPr>
              <a:xfrm>
                <a:off x="8392544" y="1130300"/>
                <a:ext cx="3126356" cy="2386551"/>
                <a:chOff x="1158303" y="340371"/>
                <a:chExt cx="3126356" cy="2386551"/>
              </a:xfrm>
            </p:grpSpPr>
            <p:sp>
              <p:nvSpPr>
                <p:cNvPr descr="a2402054-05af-4d9f-a84f-90c70d42539e" id="60" name="Bullet3">
                  <a:extLst>
                    <a:ext uri="{FF2B5EF4-FFF2-40B4-BE49-F238E27FC236}">
                      <a16:creationId id="{5CC182E5-DB38-31EA-1CD6-3DF0047639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58303" y="340371"/>
                  <a:ext cx="3126355" cy="4726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defTabSz="913765" fontAlgn="auto" indent="0" lvl="0" marR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b="1" baseline="0" cap="none" i="0" kumimoji="0" normalizeH="0" spc="0" strike="noStrike" u="none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流量调整</a:t>
                  </a:r>
                </a:p>
              </p:txBody>
            </p:sp>
            <p:sp>
              <p:nvSpPr>
                <p:cNvPr descr="69947508-ecf7-4c47-b43a-08994a7757fa" id="61" name="Text3">
                  <a:extLst>
                    <a:ext uri="{FF2B5EF4-FFF2-40B4-BE49-F238E27FC236}">
                      <a16:creationId id="{7C26E2BE-36D5-BB6B-E34F-90DB5C408F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58304" y="813032"/>
                  <a:ext cx="3126355" cy="19138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对现金流进行风险调整、货币时间价值调整和非金融风险调整，以反映真实的履约成本。</a:t>
                  </a:r>
                </a:p>
              </p:txBody>
            </p:sp>
          </p:grpSp>
          <p:grpSp>
            <p:nvGrpSpPr>
              <p:cNvPr descr="60f2f9ce-32e3-4fd7-8a11-2d28229d5ba2" id="51" name="组合 50">
                <a:extLst>
                  <a:ext uri="{FF2B5EF4-FFF2-40B4-BE49-F238E27FC236}">
                    <a16:creationId id="{5C51D414-34F1-00DB-3855-6DBC97A7B4A9}"/>
                  </a:ext>
                </a:extLst>
              </p:cNvPr>
              <p:cNvGrpSpPr/>
              <p:nvPr/>
            </p:nvGrpSpPr>
            <p:grpSpPr>
              <a:xfrm>
                <a:off x="8392545" y="3747549"/>
                <a:ext cx="3126355" cy="2386551"/>
                <a:chOff x="1158304" y="723900"/>
                <a:chExt cx="3126355" cy="2386551"/>
              </a:xfrm>
            </p:grpSpPr>
            <p:sp>
              <p:nvSpPr>
                <p:cNvPr descr="eeea8475-d67e-459a-8efe-bb62bb5fd0bb" id="57" name="Bullet4">
                  <a:extLst>
                    <a:ext uri="{FF2B5EF4-FFF2-40B4-BE49-F238E27FC236}">
                      <a16:creationId id="{1D1E7D1E-8919-0495-C790-E0FB04CF824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58304" y="723900"/>
                  <a:ext cx="3126355" cy="4726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defTabSz="913765" fontAlgn="auto" indent="0" lvl="0" marR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b="1" baseline="0" cap="none" i="0" kumimoji="0" normalizeH="0" spc="0" strike="noStrike" u="none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收入确认路径</a:t>
                  </a:r>
                </a:p>
              </p:txBody>
            </p:sp>
            <p:sp>
              <p:nvSpPr>
                <p:cNvPr descr="93fbc216-5b65-4703-8966-29fb2b6b2d0c" id="58" name="Text4">
                  <a:extLst>
                    <a:ext uri="{FF2B5EF4-FFF2-40B4-BE49-F238E27FC236}">
                      <a16:creationId id="{B247B890-C3C8-0874-4689-AB51E620D55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58304" y="1196561"/>
                  <a:ext cx="3126355" cy="19138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履约现金流在合同期间按时间比例或履约进度确认为收入，同时摊销或调整合同服务边际。</a:t>
                  </a:r>
                </a:p>
              </p:txBody>
            </p:sp>
          </p:grpSp>
        </p:grpSp>
        <p:grpSp>
          <p:nvGrpSpPr>
            <p:cNvPr descr="b7955968-88fb-4c16-a443-a761444e4136" id="23" name="组合 22">
              <a:extLst>
                <a:ext uri="{FF2B5EF4-FFF2-40B4-BE49-F238E27FC236}">
                  <a16:creationId id="{FB826CAE-931D-78B3-FC9D-2FF9CD491448}"/>
                </a:ext>
              </a:extLst>
            </p:cNvPr>
            <p:cNvGrpSpPr/>
            <p:nvPr/>
          </p:nvGrpSpPr>
          <p:grpSpPr>
            <a:xfrm>
              <a:off x="4413250" y="2082800"/>
              <a:ext cx="3352800" cy="3352800"/>
              <a:chOff x="4413250" y="2082800"/>
              <a:chExt cx="3352800" cy="3352800"/>
            </a:xfrm>
          </p:grpSpPr>
          <p:sp>
            <p:nvSpPr>
              <p:cNvPr descr="c1639b6b-0728-45ae-aa72-3f3b112b5984" id="5" name="椭圆 4">
                <a:extLst>
                  <a:ext uri="{FF2B5EF4-FFF2-40B4-BE49-F238E27FC236}">
                    <a16:creationId id="{18A964D6-3698-1431-633C-F1483626CF46}"/>
                  </a:ext>
                </a:extLst>
              </p:cNvPr>
              <p:cNvSpPr/>
              <p:nvPr/>
            </p:nvSpPr>
            <p:spPr>
              <a:xfrm flipH="false" flipV="false">
                <a:off x="4413250" y="2082800"/>
                <a:ext cx="3352800" cy="3352800"/>
              </a:xfrm>
              <a:prstGeom prst="ellipse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076f123-247a-4e8a-9dc8-2e0dede3d68f" id="9" name="Title">
                <a:extLst>
                  <a:ext uri="{FF2B5EF4-FFF2-40B4-BE49-F238E27FC236}">
                    <a16:creationId id="{A7B30F7F-B84C-D72A-6977-EE24BF5E2901}"/>
                  </a:ext>
                </a:extLst>
              </p:cNvPr>
              <p:cNvSpPr/>
              <p:nvPr/>
            </p:nvSpPr>
            <p:spPr>
              <a:xfrm flipH="false" flipV="false">
                <a:off x="4698999" y="2368550"/>
                <a:ext cx="2781302" cy="27813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2400" u="none">
                    <a:solidFill>
                      <a:srgbClr val="2F2F2F"/>
                    </a:solidFill>
                    <a:ea typeface="微软雅黑"/>
                  </a:rPr>
                  <a:t>详解“保费分配”模型下的收入确认新逻辑</a:t>
                </a:r>
              </a:p>
            </p:txBody>
          </p:sp>
          <p:sp>
            <p:nvSpPr>
              <p:cNvPr descr="d44c0fc3-2c74-4ed3-a750-39750f103ba1" id="18" name="Number1">
                <a:extLst>
                  <a:ext uri="{FF2B5EF4-FFF2-40B4-BE49-F238E27FC236}">
                    <a16:creationId id="{93E1517A-B221-320E-9DE7-04FD016FF6AB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4500880" y="2443546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75d48b9d-455e-4ba0-958c-348f3c2c80b9" id="19" name="Number2">
                <a:extLst>
                  <a:ext uri="{FF2B5EF4-FFF2-40B4-BE49-F238E27FC236}">
                    <a16:creationId id="{5DA4263B-3CD2-DBCF-0CDB-E6173424E98D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4500880" y="4629083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8b723551-4b36-4d47-847d-533189d271b1" id="20" name="Number3">
                <a:extLst>
                  <a:ext uri="{FF2B5EF4-FFF2-40B4-BE49-F238E27FC236}">
                    <a16:creationId id="{D11BEAF9-D63D-1D1A-03C0-554D6091C00E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7186596" y="2443546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264f5049-0eb8-43c7-b640-105a72ff1803" id="21" name="Number4">
                <a:extLst>
                  <a:ext uri="{FF2B5EF4-FFF2-40B4-BE49-F238E27FC236}">
                    <a16:creationId id="{1F8FECE5-6199-FFD4-9E40-0FBEC130F1B1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7186596" y="4629083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保险服务收入确认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b4007c1-8742-46be-b951-4ae357a4f1e0" id="35" name="e879a752-9be4-47c0-a361-228ab7e229d2.source.4.zh-Hans.pptx">
            <a:extLst>
              <a:ext uri="{FF2B5EF4-FFF2-40B4-BE49-F238E27FC236}">
                <a16:creationId id="{578463F5-42F7-C2F5-7068-87141DDB2066}"/>
              </a:ext>
            </a:extLst>
          </p:cNvPr>
          <p:cNvGrpSpPr/>
          <p:nvPr/>
        </p:nvGrpSpPr>
        <p:grpSpPr>
          <a:xfrm>
            <a:off x="660400" y="1129576"/>
            <a:ext cx="10858500" cy="4992703"/>
            <a:chOff x="660400" y="1141397"/>
            <a:chExt cx="10858500" cy="4992703"/>
          </a:xfrm>
        </p:grpSpPr>
        <p:grpSp>
          <p:nvGrpSpPr>
            <p:cNvPr descr="e1365765-3475-4707-9bf9-03e30a323794" id="3" name="组合 2">
              <a:extLst>
                <a:ext uri="{FF2B5EF4-FFF2-40B4-BE49-F238E27FC236}">
                  <a16:creationId id="{E00A7A7F-33B3-61CD-7476-51315A0A74DB}"/>
                </a:ext>
              </a:extLst>
            </p:cNvPr>
            <p:cNvGrpSpPr/>
            <p:nvPr/>
          </p:nvGrpSpPr>
          <p:grpSpPr>
            <a:xfrm>
              <a:off x="660400" y="1141397"/>
              <a:ext cx="10858500" cy="4992703"/>
              <a:chOff x="660400" y="1141397"/>
              <a:chExt cx="10858500" cy="4992703"/>
            </a:xfrm>
          </p:grpSpPr>
          <p:sp>
            <p:nvSpPr>
              <p:cNvPr descr="99b061ef-0712-4014-bd93-7e14fe81cff1" id="2" name="Title">
                <a:extLst>
                  <a:ext uri="{FF2B5EF4-FFF2-40B4-BE49-F238E27FC236}">
                    <a16:creationId id="{AB7EAD45-F786-61FF-C21D-A8605D9ED592}"/>
                  </a:ext>
                </a:extLst>
              </p:cNvPr>
              <p:cNvSpPr/>
              <p:nvPr/>
            </p:nvSpPr>
            <p:spPr>
              <a:xfrm flipH="false" flipV="false">
                <a:off x="660400" y="1141397"/>
                <a:ext cx="10858500" cy="853692"/>
              </a:xfrm>
              <a:prstGeom prst="roundRect">
                <a:avLst>
                  <a:gd fmla="val 14472" name="adj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2400" u="none">
                    <a:solidFill>
                      <a:srgbClr val="2F2F2F"/>
                    </a:solidFill>
                    <a:ea typeface="微软雅黑"/>
                  </a:rPr>
                  <a:t>掌握“广义匹配原则”下的负债计量精髓</a:t>
                </a:r>
              </a:p>
            </p:txBody>
          </p:sp>
          <p:grpSp>
            <p:nvGrpSpPr>
              <p:cNvPr descr="f060d7ee-ffdf-47fa-849d-ba173c41f047" id="28" name="组合 27">
                <a:extLst>
                  <a:ext uri="{FF2B5EF4-FFF2-40B4-BE49-F238E27FC236}">
                    <a16:creationId id="{0FEABD27-BA69-3707-9C00-2C69C00064FF}"/>
                  </a:ext>
                </a:extLst>
              </p:cNvPr>
              <p:cNvGrpSpPr/>
              <p:nvPr/>
            </p:nvGrpSpPr>
            <p:grpSpPr>
              <a:xfrm>
                <a:off x="660400" y="3271960"/>
                <a:ext cx="2606574" cy="2862140"/>
                <a:chOff x="660400" y="3271960"/>
                <a:chExt cx="2606574" cy="2862140"/>
              </a:xfrm>
            </p:grpSpPr>
            <p:sp>
              <p:nvSpPr>
                <p:cNvPr descr="adea1419-f49a-47b8-a2d8-ef4372cd1de7" id="4" name="Bullet1">
                  <a:extLst>
                    <a:ext uri="{FF2B5EF4-FFF2-40B4-BE49-F238E27FC236}">
                      <a16:creationId id="{87D3F54C-011B-9571-7CA3-0CF1804CE20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1116067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未来现金流现值</a:t>
                  </a:r>
                </a:p>
              </p:txBody>
            </p:sp>
            <p:sp>
              <p:nvSpPr>
                <p:cNvPr descr="6b9a8221-44a6-4123-a179-af2c40386c27" id="5" name="Text1">
                  <a:extLst>
                    <a:ext uri="{FF2B5EF4-FFF2-40B4-BE49-F238E27FC236}">
                      <a16:creationId id="{842086CC-F24F-ED36-28E6-95E56308552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16068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核心负债组成部分，反映为履行保险合同义务预计支付的现金流出，以市场利率为基础进行折现。</a:t>
                  </a:r>
                </a:p>
              </p:txBody>
            </p:sp>
            <p:sp>
              <p:nvSpPr>
                <p:cNvPr descr="40c00e9f-bd47-412c-8969-1589cd0d7930" id="6" name="Number1">
                  <a:extLst>
                    <a:ext uri="{FF2B5EF4-FFF2-40B4-BE49-F238E27FC236}">
                      <a16:creationId id="{3879B731-F281-231B-0E97-10C6384957BB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descr="4c2cdbf7-b0ac-4b45-a6d5-1b6f6636dd14" id="29" name="组合 28">
                <a:extLst>
                  <a:ext uri="{FF2B5EF4-FFF2-40B4-BE49-F238E27FC236}">
                    <a16:creationId id="{F116810A-B2D1-3CF7-06CF-2CD3F505BEA8}"/>
                  </a:ext>
                </a:extLst>
              </p:cNvPr>
              <p:cNvGrpSpPr/>
              <p:nvPr/>
            </p:nvGrpSpPr>
            <p:grpSpPr>
              <a:xfrm>
                <a:off x="3389596" y="3271960"/>
                <a:ext cx="2606574" cy="2862140"/>
                <a:chOff x="3389596" y="3271960"/>
                <a:chExt cx="2606574" cy="2862140"/>
              </a:xfrm>
            </p:grpSpPr>
            <p:sp>
              <p:nvSpPr>
                <p:cNvPr descr="d952065f-3858-4aed-b487-7f2e6e47978e" id="11" name="Bullet2">
                  <a:extLst>
                    <a:ext uri="{FF2B5EF4-FFF2-40B4-BE49-F238E27FC236}">
                      <a16:creationId id="{CAEA92A5-23B6-8290-DE35-07D4969AB97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845263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合同服务边际</a:t>
                  </a:r>
                </a:p>
              </p:txBody>
            </p:sp>
            <p:sp>
              <p:nvSpPr>
                <p:cNvPr descr="682900aa-acf9-44bf-a8b2-0d327c59ccfe" id="12" name="Text2">
                  <a:extLst>
                    <a:ext uri="{FF2B5EF4-FFF2-40B4-BE49-F238E27FC236}">
                      <a16:creationId id="{2C7C2796-4399-11C6-7C18-FA46EB0C80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845264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作为负债的组成部分，用于缓冲未来现金流的不确定性，确保负债计量的充分性。</a:t>
                  </a:r>
                </a:p>
              </p:txBody>
            </p:sp>
            <p:sp>
              <p:nvSpPr>
                <p:cNvPr descr="fa7455b1-0cd4-42c2-894e-29dc3db20694" id="13" name="Number2">
                  <a:extLst>
                    <a:ext uri="{FF2B5EF4-FFF2-40B4-BE49-F238E27FC236}">
                      <a16:creationId id="{59F72626-3F18-DD50-FE26-355560F62173}"/>
                    </a:ext>
                  </a:extLst>
                </p:cNvPr>
                <p:cNvSpPr/>
                <p:nvPr/>
              </p:nvSpPr>
              <p:spPr>
                <a:xfrm flipH="false" flipV="false">
                  <a:off x="3389596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descr="9ea1d8dc-2345-44b7-9bdc-744db0a43913" id="30" name="组合 29">
                <a:extLst>
                  <a:ext uri="{FF2B5EF4-FFF2-40B4-BE49-F238E27FC236}">
                    <a16:creationId id="{FCE30AA7-3CAF-103C-17FB-746308CBD866}"/>
                  </a:ext>
                </a:extLst>
              </p:cNvPr>
              <p:cNvGrpSpPr/>
              <p:nvPr/>
            </p:nvGrpSpPr>
            <p:grpSpPr>
              <a:xfrm>
                <a:off x="6118792" y="3271960"/>
                <a:ext cx="2606574" cy="2862140"/>
                <a:chOff x="6118792" y="3271960"/>
                <a:chExt cx="2606574" cy="2862140"/>
              </a:xfrm>
            </p:grpSpPr>
            <p:sp>
              <p:nvSpPr>
                <p:cNvPr descr="bd14946b-a7e8-48d8-b7b8-bd3971c24b06" id="15" name="Bullet3">
                  <a:extLst>
                    <a:ext uri="{FF2B5EF4-FFF2-40B4-BE49-F238E27FC236}">
                      <a16:creationId id="{92B27383-A253-8280-C90B-5DC18F6FCB5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6574459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计量单元</a:t>
                  </a:r>
                </a:p>
              </p:txBody>
            </p:sp>
            <p:sp>
              <p:nvSpPr>
                <p:cNvPr descr="72809a82-bc7a-447e-97fd-c06af92aba59" id="16" name="Text3">
                  <a:extLst>
                    <a:ext uri="{FF2B5EF4-FFF2-40B4-BE49-F238E27FC236}">
                      <a16:creationId id="{51184CD6-903B-762E-2296-3A9F9C47173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574460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以合同组而非单个合同为计量单元，简化了核算同时要求更高的数据颗粒度和系统支持。</a:t>
                  </a:r>
                </a:p>
              </p:txBody>
            </p:sp>
            <p:sp>
              <p:nvSpPr>
                <p:cNvPr descr="b9dde2f4-684a-4376-b32c-f88cb8e4cf43" id="17" name="Number3">
                  <a:extLst>
                    <a:ext uri="{FF2B5EF4-FFF2-40B4-BE49-F238E27FC236}">
                      <a16:creationId id="{34F045FE-D783-4CCD-1FC2-57EA8C982F24}"/>
                    </a:ext>
                  </a:extLst>
                </p:cNvPr>
                <p:cNvSpPr/>
                <p:nvPr/>
              </p:nvSpPr>
              <p:spPr>
                <a:xfrm flipH="false" flipV="false">
                  <a:off x="6118792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  <p:grpSp>
            <p:nvGrpSpPr>
              <p:cNvPr descr="8efabdd5-ebe7-4b53-a7a9-e146c52f62aa" id="31" name="组合 30">
                <a:extLst>
                  <a:ext uri="{FF2B5EF4-FFF2-40B4-BE49-F238E27FC236}">
                    <a16:creationId id="{9B4E1358-D252-D1FC-0A22-1B3ED8BD7136}"/>
                  </a:ext>
                </a:extLst>
              </p:cNvPr>
              <p:cNvGrpSpPr/>
              <p:nvPr/>
            </p:nvGrpSpPr>
            <p:grpSpPr>
              <a:xfrm>
                <a:off x="8847990" y="3271960"/>
                <a:ext cx="2606574" cy="2862140"/>
                <a:chOff x="8847990" y="3271960"/>
                <a:chExt cx="2606574" cy="2862140"/>
              </a:xfrm>
            </p:grpSpPr>
            <p:sp>
              <p:nvSpPr>
                <p:cNvPr descr="271c9514-b720-4222-91d4-655aa599289c" id="19" name="Bullet4">
                  <a:extLst>
                    <a:ext uri="{FF2B5EF4-FFF2-40B4-BE49-F238E27FC236}">
                      <a16:creationId id="{E0D30CD4-566A-51A8-9801-DB18D90F663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9303656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假设变动处理</a:t>
                  </a:r>
                </a:p>
              </p:txBody>
            </p:sp>
            <p:sp>
              <p:nvSpPr>
                <p:cNvPr descr="feda5ee5-1f8a-4f72-b752-9bc83bb0e6bd" id="20" name="Text4">
                  <a:extLst>
                    <a:ext uri="{FF2B5EF4-FFF2-40B4-BE49-F238E27FC236}">
                      <a16:creationId id="{09A9ACDE-5C0F-75CB-7A99-403B621BFA5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303658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当精算假设（如死亡率、发病率、投资回报率）发生重大不利变动时，需确认首日亏损，增加了利润表的波动性。</a:t>
                  </a:r>
                </a:p>
              </p:txBody>
            </p:sp>
            <p:sp>
              <p:nvSpPr>
                <p:cNvPr descr="e8f6520c-0d0e-4e07-b653-fdd2591cc6b0" id="21" name="Number4">
                  <a:extLst>
                    <a:ext uri="{FF2B5EF4-FFF2-40B4-BE49-F238E27FC236}">
                      <a16:creationId id="{9256FB04-2B03-455E-C38A-BD256CA6A3A9}"/>
                    </a:ext>
                  </a:extLst>
                </p:cNvPr>
                <p:cNvSpPr/>
                <p:nvPr/>
              </p:nvSpPr>
              <p:spPr>
                <a:xfrm flipH="false" flipV="false">
                  <a:off x="8847990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</p:grpSp>
        <p:cxnSp>
          <p:nvCxnSpPr>
            <p:cNvPr descr="a45c4c5b-a5b8-4b5d-a676-e6bf1375ef6d" id="7" name="连接符: 肘形 6">
              <a:extLst>
                <a:ext uri="{FF2B5EF4-FFF2-40B4-BE49-F238E27FC236}">
                  <a16:creationId id="{6B8B8047-E2F7-878E-6356-5844E29E6AB2}"/>
                </a:ext>
              </a:extLst>
            </p:cNvPr>
            <p:cNvCxnSpPr>
              <a:cxnSpLocks/>
              <a:stCxn id="6" idx="0"/>
              <a:endCxn id="21" idx="0"/>
            </p:cNvCxnSpPr>
            <p:nvPr/>
          </p:nvCxnSpPr>
          <p:spPr>
            <a:xfrm flipH="true" flipV="true" rot="5400000">
              <a:off x="4982028" y="-789751"/>
              <a:ext cx="12700" cy="8187590"/>
            </a:xfrm>
            <a:prstGeom prst="bentConnector3">
              <a:avLst>
                <a:gd fmla="val 1800000" name="adj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37d5afd-6ad8-4f26-8750-d55929404af1" id="24" name="连接符: 肘形 23">
              <a:extLst>
                <a:ext uri="{FF2B5EF4-FFF2-40B4-BE49-F238E27FC236}">
                  <a16:creationId id="{63770A9A-6771-0D4E-6979-BEB109766D1A}"/>
                </a:ext>
              </a:extLst>
            </p:cNvPr>
            <p:cNvCxnSpPr>
              <a:cxnSpLocks/>
              <a:stCxn id="13" idx="0"/>
              <a:endCxn id="17" idx="0"/>
            </p:cNvCxnSpPr>
            <p:nvPr/>
          </p:nvCxnSpPr>
          <p:spPr>
            <a:xfrm flipH="true" flipV="true" rot="5400000">
              <a:off x="4982027" y="1939446"/>
              <a:ext cx="12700" cy="2729196"/>
            </a:xfrm>
            <a:prstGeom prst="bentConnector3">
              <a:avLst>
                <a:gd fmla="val 1800000" name="adj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保险合同负债计量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caf868f-d4f3-495f-8737-05313ae65610" id="24" name="720d478c-9421-4f0f-9cb9-00c560b38fe9.source.4.zh-Hans.pptx">
            <a:extLst>
              <a:ext uri="{FF2B5EF4-FFF2-40B4-BE49-F238E27FC236}">
                <a16:creationId id="{A784F41B-2A01-88F1-134F-177DC6A51FE2}"/>
              </a:ext>
            </a:extLst>
          </p:cNvPr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descr="b281ac56-607d-484f-a021-eb87d117a4bb" id="49" name="Title">
              <a:extLst>
                <a:ext uri="{FF2B5EF4-FFF2-40B4-BE49-F238E27FC236}">
                  <a16:creationId id="{62E43763-3750-0067-B75B-ADC319D34D3B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分析新准则对获取成本和承保成本的重新定义</a:t>
              </a:r>
            </a:p>
          </p:txBody>
        </p:sp>
        <p:grpSp>
          <p:nvGrpSpPr>
            <p:cNvPr descr="e827f9cc-f6e7-44e4-b3a9-6b2ae3d19329" id="12" name="组合 11">
              <a:extLst>
                <a:ext uri="{FF2B5EF4-FFF2-40B4-BE49-F238E27FC236}">
                  <a16:creationId id="{9AF73126-9FFE-F662-93BD-B0CA276A8DB6}"/>
                </a:ext>
              </a:extLst>
            </p:cNvPr>
            <p:cNvGrpSpPr/>
            <p:nvPr/>
          </p:nvGrpSpPr>
          <p:grpSpPr>
            <a:xfrm>
              <a:off x="660400" y="1715072"/>
              <a:ext cx="5381905" cy="2175721"/>
              <a:chOff x="1143981" y="1715072"/>
              <a:chExt cx="5381905" cy="2175721"/>
            </a:xfrm>
          </p:grpSpPr>
          <p:grpSp>
            <p:nvGrpSpPr>
              <p:cNvPr descr="15076b71-e016-41e0-a064-0e718ad8f266" id="10" name="组合 9">
                <a:extLst>
                  <a:ext uri="{FF2B5EF4-FFF2-40B4-BE49-F238E27FC236}">
                    <a16:creationId id="{6EBB8B26-2133-0445-33B5-740630191BFB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6b83bb35-3d40-4dea-ba10-369f98739851" id="7" name="ComponentBackground1">
                  <a:extLst>
                    <a:ext uri="{FF2B5EF4-FFF2-40B4-BE49-F238E27FC236}">
                      <a16:creationId id="{F268D195-2263-0573-927C-0B70D973F6B8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201b4eb2-7dfa-4efb-8e06-dec2f2f33648" id="8" name="Text1">
                  <a:extLst>
                    <a:ext uri="{FF2B5EF4-FFF2-40B4-BE49-F238E27FC236}">
                      <a16:creationId id="{C03A9A82-DDA3-FC0E-CFFE-67004C1A654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将部分保单获取成本（如佣金、手续费）资本化为合同获取成本，并在合同服务期限内摊销，减少了早期费用冲击。</a:t>
                  </a:r>
                </a:p>
              </p:txBody>
            </p:sp>
            <p:sp>
              <p:nvSpPr>
                <p:cNvPr descr="98242a11-1f36-47b1-99fc-3b32ecd7331f" id="9" name="Bullet1">
                  <a:extLst>
                    <a:ext uri="{FF2B5EF4-FFF2-40B4-BE49-F238E27FC236}">
                      <a16:creationId id="{A2EA0832-09FA-5E91-21D1-AA48C6373B3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获取成本</a:t>
                  </a:r>
                </a:p>
              </p:txBody>
            </p:sp>
          </p:grpSp>
          <p:sp>
            <p:nvSpPr>
              <p:cNvPr descr="73eb28ed-ca09-4bee-b7df-a40245065737" id="11" name="Number1">
                <a:extLst>
                  <a:ext uri="{FF2B5EF4-FFF2-40B4-BE49-F238E27FC236}">
                    <a16:creationId id="{E8EDFF1D-9129-EA36-9D01-1408F9E88DA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39b27bd3-d8e5-4185-8a22-431296e32c46" id="13" name="组合 12">
              <a:extLst>
                <a:ext uri="{FF2B5EF4-FFF2-40B4-BE49-F238E27FC236}">
                  <a16:creationId id="{F9F07FE4-7615-8A32-6554-C563051A75AC}"/>
                </a:ext>
              </a:extLst>
            </p:cNvPr>
            <p:cNvGrpSpPr/>
            <p:nvPr/>
          </p:nvGrpSpPr>
          <p:grpSpPr>
            <a:xfrm>
              <a:off x="660400" y="3958379"/>
              <a:ext cx="5381905" cy="2175721"/>
              <a:chOff x="1143981" y="1715072"/>
              <a:chExt cx="5381905" cy="2175721"/>
            </a:xfrm>
          </p:grpSpPr>
          <p:grpSp>
            <p:nvGrpSpPr>
              <p:cNvPr descr="7a7825d8-3b92-4cf4-9b20-d941a7a02342" id="14" name="组合 13">
                <a:extLst>
                  <a:ext uri="{FF2B5EF4-FFF2-40B4-BE49-F238E27FC236}">
                    <a16:creationId id="{CA3E0EC1-818F-0D85-7059-BE90F8B2B478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c34e1085-e2e6-4ff7-9aac-bf0174922524" id="16" name="ComponentBackground2">
                  <a:extLst>
                    <a:ext uri="{FF2B5EF4-FFF2-40B4-BE49-F238E27FC236}">
                      <a16:creationId id="{B1FAA50F-F273-C97A-3074-52FB62CE859C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00a99a56-e074-46b7-b7a6-fdbd721716d7" id="17" name="Text2">
                  <a:extLst>
                    <a:ext uri="{FF2B5EF4-FFF2-40B4-BE49-F238E27FC236}">
                      <a16:creationId id="{0FE2DD8D-AA96-9383-AB8C-64D79C31E91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指为履行保险合同发生的直接成本，如赔付支出、理赔费用等，需与保险服务收入匹配。</a:t>
                  </a:r>
                </a:p>
              </p:txBody>
            </p:sp>
            <p:sp>
              <p:nvSpPr>
                <p:cNvPr descr="c161ab1c-1854-4560-8e5c-49c7f24d5873" id="18" name="Bullet2">
                  <a:extLst>
                    <a:ext uri="{FF2B5EF4-FFF2-40B4-BE49-F238E27FC236}">
                      <a16:creationId id="{B6EDC7BE-AD9A-F751-714C-D6E1F1E8FA7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承保成本</a:t>
                  </a:r>
                </a:p>
              </p:txBody>
            </p:sp>
          </p:grpSp>
          <p:sp>
            <p:nvSpPr>
              <p:cNvPr descr="ec5befbd-b030-48f7-9ed7-d508cf170e59" id="15" name="Number2">
                <a:extLst>
                  <a:ext uri="{FF2B5EF4-FFF2-40B4-BE49-F238E27FC236}">
                    <a16:creationId id="{086F784D-D65C-8303-A277-4678B6BD777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740b7251-7773-458b-a8ec-b23b8bd34e2f" id="33" name="组合 32">
              <a:extLst>
                <a:ext uri="{FF2B5EF4-FFF2-40B4-BE49-F238E27FC236}">
                  <a16:creationId id="{AD526F1F-2047-8FA0-46D9-3355EC10E069}"/>
                </a:ext>
              </a:extLst>
            </p:cNvPr>
            <p:cNvGrpSpPr/>
            <p:nvPr/>
          </p:nvGrpSpPr>
          <p:grpSpPr>
            <a:xfrm>
              <a:off x="6136995" y="1715072"/>
              <a:ext cx="5381905" cy="2175721"/>
              <a:chOff x="1143981" y="1715072"/>
              <a:chExt cx="5381905" cy="2175721"/>
            </a:xfrm>
          </p:grpSpPr>
          <p:grpSp>
            <p:nvGrpSpPr>
              <p:cNvPr descr="8af775ff-4ab4-4d8b-b200-7394d285a81a" id="34" name="组合 33">
                <a:extLst>
                  <a:ext uri="{FF2B5EF4-FFF2-40B4-BE49-F238E27FC236}">
                    <a16:creationId id="{3F37601F-E80A-380C-35B0-772340383CE4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1b24d2d8-311f-4e53-a71f-fae5481cc3c0" id="36" name="ComponentBackground3">
                  <a:extLst>
                    <a:ext uri="{FF2B5EF4-FFF2-40B4-BE49-F238E27FC236}">
                      <a16:creationId id="{66908969-4647-CCCC-F4ED-AC8E574305C3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e9d1a4da-4320-430a-8d70-63117c67eb79" id="37" name="Text3">
                  <a:extLst>
                    <a:ext uri="{FF2B5EF4-FFF2-40B4-BE49-F238E27FC236}">
                      <a16:creationId id="{92B26B71-9692-C416-33C4-08ADE094EF5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不符合资本化条件的获取成本，以及所有的维持成本，仍在发生时计入当期损益。</a:t>
                  </a:r>
                </a:p>
              </p:txBody>
            </p:sp>
            <p:sp>
              <p:nvSpPr>
                <p:cNvPr descr="018ed229-df48-4332-8b83-c6188e6485c8" id="38" name="Bullet3">
                  <a:extLst>
                    <a:ext uri="{FF2B5EF4-FFF2-40B4-BE49-F238E27FC236}">
                      <a16:creationId id="{55F06C09-03E3-66FC-2A3C-C735F064743C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费用化处理</a:t>
                  </a:r>
                </a:p>
              </p:txBody>
            </p:sp>
          </p:grpSp>
          <p:sp>
            <p:nvSpPr>
              <p:cNvPr descr="e019effc-f745-470b-b4d0-26a757ebc63c" id="35" name="Number3">
                <a:extLst>
                  <a:ext uri="{FF2B5EF4-FFF2-40B4-BE49-F238E27FC236}">
                    <a16:creationId id="{D2C66691-2210-7A1D-5B90-476F97C2D66E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5182a1bb-a90c-41ab-99d6-aac0669956c7" id="39" name="组合 38">
              <a:extLst>
                <a:ext uri="{FF2B5EF4-FFF2-40B4-BE49-F238E27FC236}">
                  <a16:creationId id="{AB0FB4A7-C7DE-E585-4761-F7D898D3A010}"/>
                </a:ext>
              </a:extLst>
            </p:cNvPr>
            <p:cNvGrpSpPr/>
            <p:nvPr/>
          </p:nvGrpSpPr>
          <p:grpSpPr>
            <a:xfrm>
              <a:off x="6136995" y="3958379"/>
              <a:ext cx="5381905" cy="2175721"/>
              <a:chOff x="1143981" y="1715072"/>
              <a:chExt cx="5381905" cy="2175721"/>
            </a:xfrm>
          </p:grpSpPr>
          <p:grpSp>
            <p:nvGrpSpPr>
              <p:cNvPr descr="1ba279c8-4031-46de-90d3-c6be882cea8d" id="40" name="组合 39">
                <a:extLst>
                  <a:ext uri="{FF2B5EF4-FFF2-40B4-BE49-F238E27FC236}">
                    <a16:creationId id="{F9DDF53B-F8FE-74F2-9F1E-B5A63D58BFD0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c76046db-d72d-4da6-b3ef-0e746837fc6d" id="42" name="ComponentBackground4">
                  <a:extLst>
                    <a:ext uri="{FF2B5EF4-FFF2-40B4-BE49-F238E27FC236}">
                      <a16:creationId id="{27EF7237-6D94-24A1-C578-AB12E57FD07D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060a5c50-9498-42c3-9d49-e634adc88f5a" id="43" name="Text4">
                  <a:extLst>
                    <a:ext uri="{FF2B5EF4-FFF2-40B4-BE49-F238E27FC236}">
                      <a16:creationId id="{C9948F1C-0076-4FFD-30EC-8AA3517F57FB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合同获取成本的摊销方法应与保险服务收入的确认模式相一致，以确保配比原则。</a:t>
                  </a:r>
                </a:p>
              </p:txBody>
            </p:sp>
            <p:sp>
              <p:nvSpPr>
                <p:cNvPr descr="633bae8c-099e-4d0e-9c8f-6b53d837867e" id="44" name="Bullet4">
                  <a:extLst>
                    <a:ext uri="{FF2B5EF4-FFF2-40B4-BE49-F238E27FC236}">
                      <a16:creationId id="{1D37FA88-B60A-4D03-B083-7B5A0894E355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摊销方法</a:t>
                  </a:r>
                </a:p>
              </p:txBody>
            </p:sp>
          </p:grpSp>
          <p:sp>
            <p:nvSpPr>
              <p:cNvPr descr="316b6603-9f82-4190-8c3d-3bad9ff82491" id="41" name="Number4">
                <a:extLst>
                  <a:ext uri="{FF2B5EF4-FFF2-40B4-BE49-F238E27FC236}">
                    <a16:creationId id="{359130C6-7CF9-986F-8218-CEDC7167AFA8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成本与费用处理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53bf28ba-8f37-4041-92c5-7485fc215cd7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b="true" i="false" lang="en-US" sz="3200" u="none">
                <a:solidFill>
                  <a:srgbClr val="2F2F2F"/>
                </a:solidFill>
                <a:ea typeface="微软雅黑"/>
              </a:rPr>
              <a:t>经营挑战与应对</a:t>
            </a:r>
          </a:p>
        </p:txBody>
      </p:sp>
      <p:sp>
        <p:nvSpPr>
          <p:cNvPr descr="c88c00a7-8405-44bc-8e0d-74b2548feab2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识别新准则实施给财险公司带来的主要挑战，并提出系统性应对策略。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cfc265ca-5e4a-4b15-883c-9313874afac5" id="2" name="25a7079e-161e-4c80-8680-b7da59c53ec5.source.5.zh-Hans.pptx">
            <a:extLst>
              <a:ext uri="{FF2B5EF4-FFF2-40B4-BE49-F238E27FC236}">
                <a16:creationId id="{71A80AB0-C57A-30A5-FC1C-C8F022A8F7CA}"/>
              </a:ext>
            </a:extLst>
          </p:cNvPr>
          <p:cNvGrpSpPr/>
          <p:nvPr/>
        </p:nvGrpSpPr>
        <p:grpSpPr>
          <a:xfrm>
            <a:off x="658813" y="1144032"/>
            <a:ext cx="10776442" cy="4875599"/>
            <a:chOff x="658813" y="1144032"/>
            <a:chExt cx="10776442" cy="4875599"/>
          </a:xfrm>
        </p:grpSpPr>
        <p:sp>
          <p:nvSpPr>
            <p:cNvPr descr="bcb9bff8-41a8-443a-8b1d-0ef617b87351" id="118" name="Title">
              <a:extLst>
                <a:ext uri="{FF2B5EF4-FFF2-40B4-BE49-F238E27FC236}">
                  <a16:creationId id="{8639CD2A-BF1D-44A4-BA73-0F7CCCB103FF}"/>
                </a:ext>
              </a:extLst>
            </p:cNvPr>
            <p:cNvSpPr/>
            <p:nvPr/>
          </p:nvSpPr>
          <p:spPr>
            <a:xfrm flipH="false" flipV="false">
              <a:off x="658813" y="1144032"/>
              <a:ext cx="3774197" cy="956795"/>
            </a:xfrm>
            <a:prstGeom prst="rect">
              <a:avLst/>
            </a:prstGeom>
          </p:spPr>
          <p:txBody>
            <a:bodyPr anchor="t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正视转型过程中的五大核心障碍</a:t>
              </a:r>
            </a:p>
          </p:txBody>
        </p:sp>
        <p:cxnSp>
          <p:nvCxnSpPr>
            <p:cNvPr descr="88c99f98-ce37-43aa-911c-e8f14a4f41b0" id="26" name="直接连接符 25">
              <a:extLst>
                <a:ext uri="{FF2B5EF4-FFF2-40B4-BE49-F238E27FC236}">
                  <a16:creationId id="{E63F8863-ECCB-4CA6-AE36-7F291E0277D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72793" y="2243884"/>
              <a:ext cx="1914382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d052249b-c648-4d61-b53d-f688703f12ee" id="10" name="直接连接符 9">
              <a:extLst>
                <a:ext uri="{FF2B5EF4-FFF2-40B4-BE49-F238E27FC236}">
                  <a16:creationId id="{6B270FD7-5236-4CD7-918C-08C847E5E301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4776387" y="1969437"/>
              <a:ext cx="0" cy="114206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58fd4872-b794-4a8b-b158-a4b2f2708044" id="42" name="直接连接符 41">
              <a:extLst>
                <a:ext uri="{FF2B5EF4-FFF2-40B4-BE49-F238E27FC236}">
                  <a16:creationId id="{E81AD72E-CF5B-4290-852F-7B7040C8A327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4776387" y="4354147"/>
              <a:ext cx="0" cy="114206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c1068ec-46ea-44be-8f0f-0e4db44a5168" id="35" name="直接连接符 34">
              <a:extLst>
                <a:ext uri="{FF2B5EF4-FFF2-40B4-BE49-F238E27FC236}">
                  <a16:creationId id="{EAB57553-EB22-4F5F-B770-13520BBA3EE8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8296896" y="1969437"/>
              <a:ext cx="0" cy="114206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134fb1c1-0fe9-4c8e-b415-6bcfd9b4869e" id="48" name="直接连接符 47">
              <a:extLst>
                <a:ext uri="{FF2B5EF4-FFF2-40B4-BE49-F238E27FC236}">
                  <a16:creationId id="{B25E6571-7709-450B-86E7-38ACCB96A085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8296896" y="4354147"/>
              <a:ext cx="0" cy="114206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20a1dc23-4b26-41fc-b5ab-c8e37d0e0194" id="54" name="直接连接符 53">
              <a:extLst>
                <a:ext uri="{FF2B5EF4-FFF2-40B4-BE49-F238E27FC236}">
                  <a16:creationId id="{0D7F4105-2FCA-4775-A1F8-8F1AC55FD90D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1255878" y="4354147"/>
              <a:ext cx="0" cy="114206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480c7990-5d8c-47f5-a065-02cece29f653" id="9" name="组合 8">
              <a:extLst>
                <a:ext uri="{FF2B5EF4-FFF2-40B4-BE49-F238E27FC236}">
                  <a16:creationId id="{B708C786-45BC-3EF8-EDFC-7BE246C788E5}"/>
                </a:ext>
              </a:extLst>
            </p:cNvPr>
            <p:cNvGrpSpPr/>
            <p:nvPr/>
          </p:nvGrpSpPr>
          <p:grpSpPr>
            <a:xfrm>
              <a:off x="4517526" y="1519713"/>
              <a:ext cx="3397220" cy="2115208"/>
              <a:chOff x="4517526" y="1519713"/>
              <a:chExt cx="3397220" cy="2115208"/>
            </a:xfrm>
          </p:grpSpPr>
          <p:sp>
            <p:nvSpPr>
              <p:cNvPr descr="0c5a966e-f60a-486a-8e7c-a15e9c4508c6" id="32" name="Bullet1">
                <a:extLst>
                  <a:ext uri="{FF2B5EF4-FFF2-40B4-BE49-F238E27FC236}">
                    <a16:creationId id="{BCE2628F-880B-4CBE-9A54-ED2EB281E034}"/>
                  </a:ext>
                </a:extLst>
              </p:cNvPr>
              <p:cNvSpPr txBox="1"/>
              <p:nvPr/>
            </p:nvSpPr>
            <p:spPr>
              <a:xfrm flipH="false" flipV="false">
                <a:off x="5115000" y="1545210"/>
                <a:ext cx="2799746" cy="581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数据与系统</a:t>
                </a:r>
              </a:p>
            </p:txBody>
          </p:sp>
          <p:sp>
            <p:nvSpPr>
              <p:cNvPr descr="751fa4c3-9878-482b-8938-f024db3d1bbd" id="33" name="Number1">
                <a:extLst>
                  <a:ext uri="{FF2B5EF4-FFF2-40B4-BE49-F238E27FC236}">
                    <a16:creationId id="{F1E125D1-0063-42B4-87F9-3EFEC386A998}"/>
                  </a:ext>
                </a:extLst>
              </p:cNvPr>
              <p:cNvSpPr/>
              <p:nvPr/>
            </p:nvSpPr>
            <p:spPr>
              <a:xfrm flipH="false" flipV="false">
                <a:off x="4517526" y="1519713"/>
                <a:ext cx="512957" cy="512957"/>
              </a:xfrm>
              <a:prstGeom prst="rect">
                <a:avLst/>
              </a:pr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78a3fc7f-6eec-4a5f-aba1-8a890a1d3ff4" id="37" name="Text1">
                <a:extLst>
                  <a:ext uri="{FF2B5EF4-FFF2-40B4-BE49-F238E27FC236}">
                    <a16:creationId id="{E671CFD3-76C9-4926-A4FD-5FBFE429633D}"/>
                  </a:ext>
                </a:extLst>
              </p:cNvPr>
              <p:cNvSpPr txBox="1"/>
              <p:nvPr/>
            </p:nvSpPr>
            <p:spPr>
              <a:xfrm flipH="false" flipV="false">
                <a:off x="5114999" y="2127136"/>
                <a:ext cx="2799746" cy="1507785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现有IT系统无法满足新准则的精细化核算要求，数据治理、整合与清洗工作量大，数据颗粒度需显著提升。</a:t>
                </a:r>
              </a:p>
            </p:txBody>
          </p:sp>
        </p:grpSp>
        <p:grpSp>
          <p:nvGrpSpPr>
            <p:cNvPr descr="28b9eb31-aff5-45c6-a3c3-fca9838b06cb" id="12" name="组合 11">
              <a:extLst>
                <a:ext uri="{FF2B5EF4-FFF2-40B4-BE49-F238E27FC236}">
                  <a16:creationId id="{059A7890-5383-6ACE-CCB0-2D39C1AD8FA6}"/>
                </a:ext>
              </a:extLst>
            </p:cNvPr>
            <p:cNvGrpSpPr/>
            <p:nvPr/>
          </p:nvGrpSpPr>
          <p:grpSpPr>
            <a:xfrm>
              <a:off x="8038035" y="1519713"/>
              <a:ext cx="3397220" cy="2115208"/>
              <a:chOff x="8038035" y="1519713"/>
              <a:chExt cx="3397220" cy="2115208"/>
            </a:xfrm>
          </p:grpSpPr>
          <p:sp>
            <p:nvSpPr>
              <p:cNvPr descr="58acaf72-c86b-4c70-8f71-fe0117eba3ac" id="30" name="Bullet2">
                <a:extLst>
                  <a:ext uri="{FF2B5EF4-FFF2-40B4-BE49-F238E27FC236}">
                    <a16:creationId id="{F97DA2BF-4CB1-4F41-8700-D6F558D3FE3F}"/>
                  </a:ext>
                </a:extLst>
              </p:cNvPr>
              <p:cNvSpPr txBox="1"/>
              <p:nvPr/>
            </p:nvSpPr>
            <p:spPr>
              <a:xfrm flipH="false" flipV="false">
                <a:off x="8635509" y="1545210"/>
                <a:ext cx="2799746" cy="581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精算与模型</a:t>
                </a:r>
              </a:p>
            </p:txBody>
          </p:sp>
          <p:sp>
            <p:nvSpPr>
              <p:cNvPr descr="9b77b413-e064-4688-abbd-ac58c7b25dea" id="36" name="Number2">
                <a:extLst>
                  <a:ext uri="{FF2B5EF4-FFF2-40B4-BE49-F238E27FC236}">
                    <a16:creationId id="{4817FA8B-99E1-4651-BC06-CEE25FA3C290}"/>
                  </a:ext>
                </a:extLst>
              </p:cNvPr>
              <p:cNvSpPr/>
              <p:nvPr/>
            </p:nvSpPr>
            <p:spPr>
              <a:xfrm flipH="false" flipV="false">
                <a:off x="8038035" y="1519713"/>
                <a:ext cx="512957" cy="512957"/>
              </a:xfrm>
              <a:prstGeom prst="rect">
                <a:avLst/>
              </a:pr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8d0609f9-f711-4b11-bd26-8c51ce8a3337" id="34" name="Text2">
                <a:extLst>
                  <a:ext uri="{FF2B5EF4-FFF2-40B4-BE49-F238E27FC236}">
                    <a16:creationId id="{630739DC-90BA-4FE8-9FAC-C57564D248D9}"/>
                  </a:ext>
                </a:extLst>
              </p:cNvPr>
              <p:cNvSpPr txBox="1"/>
              <p:nvPr/>
            </p:nvSpPr>
            <p:spPr>
              <a:xfrm flipH="false" flipV="false">
                <a:off x="8635508" y="2127136"/>
                <a:ext cx="2799746" cy="1507785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新计量模型复杂，对精算假设、模型构建和验证提出极高要求，假设敏感性增强，结果不确定性增加。</a:t>
                </a:r>
              </a:p>
            </p:txBody>
          </p:sp>
        </p:grpSp>
        <p:grpSp>
          <p:nvGrpSpPr>
            <p:cNvPr descr="81e0fc77-dc7d-452d-9774-a24347cbcbcc" id="14" name="组合 13">
              <a:extLst>
                <a:ext uri="{FF2B5EF4-FFF2-40B4-BE49-F238E27FC236}">
                  <a16:creationId id="{9BEE4FD7-D6FF-1C22-8C8F-6317FA74741B}"/>
                </a:ext>
              </a:extLst>
            </p:cNvPr>
            <p:cNvGrpSpPr/>
            <p:nvPr/>
          </p:nvGrpSpPr>
          <p:grpSpPr>
            <a:xfrm>
              <a:off x="997017" y="3904423"/>
              <a:ext cx="3397220" cy="2115208"/>
              <a:chOff x="997017" y="3904423"/>
              <a:chExt cx="3397220" cy="2115208"/>
            </a:xfrm>
          </p:grpSpPr>
          <p:sp>
            <p:nvSpPr>
              <p:cNvPr descr="5f59203b-da2d-4c83-af08-f31576eadbb5" id="51" name="Bullet3">
                <a:extLst>
                  <a:ext uri="{FF2B5EF4-FFF2-40B4-BE49-F238E27FC236}">
                    <a16:creationId id="{70C70B80-041B-41E4-BB3A-0AA970999D8A}"/>
                  </a:ext>
                </a:extLst>
              </p:cNvPr>
              <p:cNvSpPr txBox="1"/>
              <p:nvPr/>
            </p:nvSpPr>
            <p:spPr>
              <a:xfrm flipH="false" flipV="false">
                <a:off x="1594491" y="3929920"/>
                <a:ext cx="2799746" cy="581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人才与培训</a:t>
                </a:r>
              </a:p>
            </p:txBody>
          </p:sp>
          <p:sp>
            <p:nvSpPr>
              <p:cNvPr descr="bafbcd8c-9054-4aa5-8bcf-b003b24ddc40" id="55" name="Number3">
                <a:extLst>
                  <a:ext uri="{FF2B5EF4-FFF2-40B4-BE49-F238E27FC236}">
                    <a16:creationId id="{D28E5256-60D6-477F-B5CD-DE58C8DAD6A9}"/>
                  </a:ext>
                </a:extLst>
              </p:cNvPr>
              <p:cNvSpPr/>
              <p:nvPr/>
            </p:nvSpPr>
            <p:spPr>
              <a:xfrm flipH="false" flipV="false">
                <a:off x="997017" y="3904423"/>
                <a:ext cx="512957" cy="512957"/>
              </a:xfrm>
              <a:prstGeom prst="rect">
                <a:avLst/>
              </a:pr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a3508ef6-3072-4300-bed3-863094129c6a" id="53" name="Text3">
                <a:extLst>
                  <a:ext uri="{FF2B5EF4-FFF2-40B4-BE49-F238E27FC236}">
                    <a16:creationId id="{08400FF1-EDA0-4C49-98A6-E15DE31260E4}"/>
                  </a:ext>
                </a:extLst>
              </p:cNvPr>
              <p:cNvSpPr txBox="1"/>
              <p:nvPr/>
            </p:nvSpPr>
            <p:spPr>
              <a:xfrm flipH="false" flipV="false">
                <a:off x="1594490" y="4511846"/>
                <a:ext cx="2799746" cy="1507785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急需既懂保险业务又精通新准则的复合型人才，员工培训和知识更新任务艰巨。</a:t>
                </a:r>
              </a:p>
            </p:txBody>
          </p:sp>
        </p:grpSp>
        <p:grpSp>
          <p:nvGrpSpPr>
            <p:cNvPr descr="2d04ea65-da40-43ce-8314-79a4a8ec9270" id="11" name="组合 10">
              <a:extLst>
                <a:ext uri="{FF2B5EF4-FFF2-40B4-BE49-F238E27FC236}">
                  <a16:creationId id="{66725D98-35FB-6A02-4CE7-4C41B0D8EA38}"/>
                </a:ext>
              </a:extLst>
            </p:cNvPr>
            <p:cNvGrpSpPr/>
            <p:nvPr/>
          </p:nvGrpSpPr>
          <p:grpSpPr>
            <a:xfrm>
              <a:off x="4517526" y="3904423"/>
              <a:ext cx="3397220" cy="2115208"/>
              <a:chOff x="4517526" y="3904423"/>
              <a:chExt cx="3397220" cy="2115208"/>
            </a:xfrm>
          </p:grpSpPr>
          <p:sp>
            <p:nvSpPr>
              <p:cNvPr descr="4c22e791-0ed2-473f-a87d-80defe689f9c" id="39" name="Bullet4">
                <a:extLst>
                  <a:ext uri="{FF2B5EF4-FFF2-40B4-BE49-F238E27FC236}">
                    <a16:creationId id="{BD52A53B-89C1-4EE4-A39B-C869791E3829}"/>
                  </a:ext>
                </a:extLst>
              </p:cNvPr>
              <p:cNvSpPr txBox="1"/>
              <p:nvPr/>
            </p:nvSpPr>
            <p:spPr>
              <a:xfrm flipH="false" flipV="false">
                <a:off x="5115000" y="3929920"/>
                <a:ext cx="2799746" cy="581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流程再造</a:t>
                </a:r>
              </a:p>
            </p:txBody>
          </p:sp>
          <p:sp>
            <p:nvSpPr>
              <p:cNvPr descr="690b79f4-83a3-412b-9280-aca3b770beb6" id="43" name="Number4">
                <a:extLst>
                  <a:ext uri="{FF2B5EF4-FFF2-40B4-BE49-F238E27FC236}">
                    <a16:creationId id="{B4A270CB-A0AF-48E4-8232-42564328E9F3}"/>
                  </a:ext>
                </a:extLst>
              </p:cNvPr>
              <p:cNvSpPr/>
              <p:nvPr/>
            </p:nvSpPr>
            <p:spPr>
              <a:xfrm flipH="false" flipV="false">
                <a:off x="4517526" y="3904423"/>
                <a:ext cx="512957" cy="512957"/>
              </a:xfrm>
              <a:prstGeom prst="rect">
                <a:avLst/>
              </a:pr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descr="3e534e09-59d5-4368-841c-f9df02e57ba3" id="41" name="Text4">
                <a:extLst>
                  <a:ext uri="{FF2B5EF4-FFF2-40B4-BE49-F238E27FC236}">
                    <a16:creationId id="{96423E97-5934-44B6-961F-B40988BCAD8D}"/>
                  </a:ext>
                </a:extLst>
              </p:cNvPr>
              <p:cNvSpPr txBox="1"/>
              <p:nvPr/>
            </p:nvSpPr>
            <p:spPr>
              <a:xfrm flipH="false" flipV="false">
                <a:off x="5114999" y="4511846"/>
                <a:ext cx="2799746" cy="1507785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需重塑产品设计、核保核赔、再保、财务核算等全业务流程，以实现与新准则的衔接。</a:t>
                </a:r>
              </a:p>
            </p:txBody>
          </p:sp>
        </p:grpSp>
        <p:grpSp>
          <p:nvGrpSpPr>
            <p:cNvPr descr="f5f3c6e5-3b32-453b-9684-756b23d9da61" id="13" name="组合 12">
              <a:extLst>
                <a:ext uri="{FF2B5EF4-FFF2-40B4-BE49-F238E27FC236}">
                  <a16:creationId id="{61A4418A-829F-A8FC-5099-B03176872F40}"/>
                </a:ext>
              </a:extLst>
            </p:cNvPr>
            <p:cNvGrpSpPr/>
            <p:nvPr/>
          </p:nvGrpSpPr>
          <p:grpSpPr>
            <a:xfrm>
              <a:off x="8038035" y="3904423"/>
              <a:ext cx="3397220" cy="2115208"/>
              <a:chOff x="8038035" y="3904423"/>
              <a:chExt cx="3397220" cy="2115208"/>
            </a:xfrm>
          </p:grpSpPr>
          <p:sp>
            <p:nvSpPr>
              <p:cNvPr descr="a3940b49-7ed9-4b40-be49-60bd24a6a12f" id="45" name="Bullet5">
                <a:extLst>
                  <a:ext uri="{FF2B5EF4-FFF2-40B4-BE49-F238E27FC236}">
                    <a16:creationId id="{B925C060-8D67-4FFF-B6EB-8E8008A63CCE}"/>
                  </a:ext>
                </a:extLst>
              </p:cNvPr>
              <p:cNvSpPr txBox="1"/>
              <p:nvPr/>
            </p:nvSpPr>
            <p:spPr>
              <a:xfrm flipH="false" flipV="false">
                <a:off x="8635509" y="3929920"/>
                <a:ext cx="2799746" cy="581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财务报表波动</a:t>
                </a:r>
              </a:p>
            </p:txBody>
          </p:sp>
          <p:sp>
            <p:nvSpPr>
              <p:cNvPr descr="f2b5bd4c-49df-4f29-a572-df3a2c112646" id="49" name="Number5">
                <a:extLst>
                  <a:ext uri="{FF2B5EF4-FFF2-40B4-BE49-F238E27FC236}">
                    <a16:creationId id="{ABC88BBB-26C8-4690-9039-8F7FF0D8FF6F}"/>
                  </a:ext>
                </a:extLst>
              </p:cNvPr>
              <p:cNvSpPr/>
              <p:nvPr/>
            </p:nvSpPr>
            <p:spPr>
              <a:xfrm flipH="false" flipV="false">
                <a:off x="8038035" y="3904423"/>
                <a:ext cx="512957" cy="512957"/>
              </a:xfrm>
              <a:prstGeom prst="rect">
                <a:avLst/>
              </a:pr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05</a:t>
                </a:r>
              </a:p>
            </p:txBody>
          </p:sp>
          <p:sp>
            <p:nvSpPr>
              <p:cNvPr descr="e236256d-72fe-4587-8d78-c92c7dcdb0af" id="47" name="Text5">
                <a:extLst>
                  <a:ext uri="{FF2B5EF4-FFF2-40B4-BE49-F238E27FC236}">
                    <a16:creationId id="{89AA443B-9FE4-4B0B-B063-4AB97ABEF940}"/>
                  </a:ext>
                </a:extLst>
              </p:cNvPr>
              <p:cNvSpPr txBox="1"/>
              <p:nvPr/>
            </p:nvSpPr>
            <p:spPr>
              <a:xfrm flipH="false" flipV="false">
                <a:off x="8635508" y="4511846"/>
                <a:ext cx="2799746" cy="1507785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利润和净资产的波动性可能增加，对公司的资本规划、业绩管理和市场沟通构成挑战。</a:t>
                </a:r>
              </a:p>
            </p:txBody>
          </p: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实施面临的主要挑战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c9d625c4-46bf-47e7-8aa7-ff262476c8ed" id="40" name="2c4d4f11-81c1-4eef-8a95-b02fb39dfa5f.source.5.zh-Hans.pptx">
            <a:extLst>
              <a:ext uri="{FF2B5EF4-FFF2-40B4-BE49-F238E27FC236}">
                <a16:creationId id="{A6E92A21-70C5-B36B-AE6A-0FD6E9B124AD}"/>
              </a:ext>
            </a:extLst>
          </p:cNvPr>
          <p:cNvGrpSpPr/>
          <p:nvPr/>
        </p:nvGrpSpPr>
        <p:grpSpPr>
          <a:xfrm>
            <a:off x="0" y="1364760"/>
            <a:ext cx="12192000" cy="4463161"/>
            <a:chOff x="0" y="1364760"/>
            <a:chExt cx="12192000" cy="4463161"/>
          </a:xfrm>
        </p:grpSpPr>
        <p:cxnSp>
          <p:nvCxnSpPr>
            <p:cNvPr descr="d59c343f-fc0c-4f86-98ab-07b39ba2789d" id="32" name="íṧliďê">
              <a:extLst>
                <a:ext uri="{FF2B5EF4-FFF2-40B4-BE49-F238E27FC236}">
                  <a16:creationId id="{861AAA57-52F3-E750-FFA8-3494B4AC695B}"/>
                </a:ext>
              </a:extLst>
            </p:cNvPr>
            <p:cNvCxnSpPr/>
            <p:nvPr/>
          </p:nvCxnSpPr>
          <p:spPr>
            <a:xfrm flipH="false" flipV="false">
              <a:off x="0" y="2092014"/>
              <a:ext cx="12192000" cy="0"/>
            </a:xfrm>
            <a:prstGeom prst="line">
              <a:avLst/>
            </a:prstGeom>
            <a:ln cap="rnd" w="12700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a881f3d7-a654-4fa7-b154-7303d520e057" id="34" name="组合 33">
              <a:extLst>
                <a:ext uri="{FF2B5EF4-FFF2-40B4-BE49-F238E27FC236}">
                  <a16:creationId id="{866B92EA-F46A-0274-A62E-4157875034E5}"/>
                </a:ext>
              </a:extLst>
            </p:cNvPr>
            <p:cNvGrpSpPr/>
            <p:nvPr/>
          </p:nvGrpSpPr>
          <p:grpSpPr>
            <a:xfrm>
              <a:off x="989557" y="2739538"/>
              <a:ext cx="3321907" cy="1435514"/>
              <a:chOff x="967523" y="2739538"/>
              <a:chExt cx="3321907" cy="1435514"/>
            </a:xfrm>
          </p:grpSpPr>
          <p:sp>
            <p:nvSpPr>
              <p:cNvPr descr="6d3e999b-eef4-4b26-b2e3-99653e4ace71" id="26" name="Number1">
                <a:extLst>
                  <a:ext uri="{FF2B5EF4-FFF2-40B4-BE49-F238E27FC236}">
                    <a16:creationId id="{4EB4A73F-EE58-452D-A2FB-8906FD2B4701}"/>
                  </a:ext>
                </a:extLst>
              </p:cNvPr>
              <p:cNvSpPr/>
              <p:nvPr/>
            </p:nvSpPr>
            <p:spPr>
              <a:xfrm flipH="false" flipV="false">
                <a:off x="967523" y="2915797"/>
                <a:ext cx="757508" cy="733332"/>
              </a:xfrm>
              <a:prstGeom prst="roundRect">
                <a:avLst>
                  <a:gd fmla="val 5587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f50f90d3-779e-4081-910f-c296f990bf1d" id="28" name="Text1">
                <a:extLst>
                  <a:ext uri="{FF2B5EF4-FFF2-40B4-BE49-F238E27FC236}">
                    <a16:creationId id="{F8E07573-A8E5-42F7-B445-E2E8E3B47ABD}"/>
                  </a:ext>
                </a:extLst>
              </p:cNvPr>
              <p:cNvSpPr/>
              <p:nvPr/>
            </p:nvSpPr>
            <p:spPr bwMode="auto">
              <a:xfrm flipH="false" flipV="false">
                <a:off x="1851780" y="3229237"/>
                <a:ext cx="2437650" cy="9458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成立跨部门（财务、精算、IT、业务）的项目团队，明确职责分工，确保项目高效推进。</a:t>
                </a:r>
              </a:p>
            </p:txBody>
          </p:sp>
          <p:sp>
            <p:nvSpPr>
              <p:cNvPr descr="63507a7f-9511-4474-90f7-fa502272b443" id="29" name="Bullet1">
                <a:extLst>
                  <a:ext uri="{FF2B5EF4-FFF2-40B4-BE49-F238E27FC236}">
                    <a16:creationId id="{A6443F06-F4A1-4FCB-A18D-52FB7A6A71C8}"/>
                  </a:ext>
                </a:extLst>
              </p:cNvPr>
              <p:cNvSpPr/>
              <p:nvPr/>
            </p:nvSpPr>
            <p:spPr>
              <a:xfrm flipH="false" flipV="false">
                <a:off x="1851780" y="2739538"/>
                <a:ext cx="2437650" cy="489700"/>
              </a:xfrm>
              <a:prstGeom prst="rect">
                <a:avLst/>
              </a:prstGeom>
              <a:noFill/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组建专项团队</a:t>
                </a:r>
              </a:p>
            </p:txBody>
          </p:sp>
        </p:grpSp>
        <p:grpSp>
          <p:nvGrpSpPr>
            <p:cNvPr descr="12a4b212-cf1c-41a1-8a4b-3e19c9ef571d" id="35" name="组合 34">
              <a:extLst>
                <a:ext uri="{FF2B5EF4-FFF2-40B4-BE49-F238E27FC236}">
                  <a16:creationId id="{3864340E-2D1D-0015-5A55-84903E86185E}"/>
                </a:ext>
              </a:extLst>
            </p:cNvPr>
            <p:cNvGrpSpPr/>
            <p:nvPr/>
          </p:nvGrpSpPr>
          <p:grpSpPr>
            <a:xfrm>
              <a:off x="4438928" y="2739538"/>
              <a:ext cx="3321907" cy="1435514"/>
              <a:chOff x="4416894" y="2739538"/>
              <a:chExt cx="3321907" cy="1435514"/>
            </a:xfrm>
          </p:grpSpPr>
          <p:sp>
            <p:nvSpPr>
              <p:cNvPr descr="d48d8151-bfe6-4d3d-93de-8d8db8dca13e" id="22" name="Number2">
                <a:extLst>
                  <a:ext uri="{FF2B5EF4-FFF2-40B4-BE49-F238E27FC236}">
                    <a16:creationId id="{6E68C102-55FF-4252-92D3-5C67CB149640}"/>
                  </a:ext>
                </a:extLst>
              </p:cNvPr>
              <p:cNvSpPr/>
              <p:nvPr/>
            </p:nvSpPr>
            <p:spPr>
              <a:xfrm flipH="false" flipV="false">
                <a:off x="4416894" y="2915797"/>
                <a:ext cx="757508" cy="733332"/>
              </a:xfrm>
              <a:prstGeom prst="roundRect">
                <a:avLst>
                  <a:gd fmla="val 5587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2F2F2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6248e7e6-106a-40c2-86f4-76911f995ac6" id="24" name="Text2">
                <a:extLst>
                  <a:ext uri="{FF2B5EF4-FFF2-40B4-BE49-F238E27FC236}">
                    <a16:creationId id="{F8E07573-A8E5-42F7-B445-E2E8E3B47ABD}"/>
                  </a:ext>
                </a:extLst>
              </p:cNvPr>
              <p:cNvSpPr/>
              <p:nvPr/>
            </p:nvSpPr>
            <p:spPr bwMode="auto">
              <a:xfrm flipH="false" flipV="false">
                <a:off x="5301151" y="3229237"/>
                <a:ext cx="2437650" cy="9458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加大对数据治理和IT系统的投入，构建能满足新准则要求的新核心系统或改造现有系统。</a:t>
                </a:r>
              </a:p>
            </p:txBody>
          </p:sp>
          <p:sp>
            <p:nvSpPr>
              <p:cNvPr descr="7fe6c127-0d74-494d-9b84-1300022f799e" id="25" name="Bullet2">
                <a:extLst>
                  <a:ext uri="{FF2B5EF4-FFF2-40B4-BE49-F238E27FC236}">
                    <a16:creationId id="{88228763-7A1B-4679-9F6A-E2917BF24564}"/>
                  </a:ext>
                </a:extLst>
              </p:cNvPr>
              <p:cNvSpPr/>
              <p:nvPr/>
            </p:nvSpPr>
            <p:spPr>
              <a:xfrm flipH="false" flipV="false">
                <a:off x="5301151" y="2739538"/>
                <a:ext cx="2437650" cy="489700"/>
              </a:xfrm>
              <a:prstGeom prst="rect">
                <a:avLst/>
              </a:prstGeom>
              <a:noFill/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升级数据系统</a:t>
                </a:r>
              </a:p>
            </p:txBody>
          </p:sp>
        </p:grpSp>
        <p:grpSp>
          <p:nvGrpSpPr>
            <p:cNvPr descr="c2f31509-8fc4-4f95-8ca2-abc12f52da63" id="36" name="组合 35">
              <a:extLst>
                <a:ext uri="{FF2B5EF4-FFF2-40B4-BE49-F238E27FC236}">
                  <a16:creationId id="{AE2D3AC7-A8F7-9924-F671-8F5DA3E518C5}"/>
                </a:ext>
              </a:extLst>
            </p:cNvPr>
            <p:cNvGrpSpPr/>
            <p:nvPr/>
          </p:nvGrpSpPr>
          <p:grpSpPr>
            <a:xfrm>
              <a:off x="7888298" y="2739538"/>
              <a:ext cx="3321907" cy="1435514"/>
              <a:chOff x="7866264" y="2739538"/>
              <a:chExt cx="3321907" cy="1435514"/>
            </a:xfrm>
          </p:grpSpPr>
          <p:sp>
            <p:nvSpPr>
              <p:cNvPr descr="922c3bd0-285a-4123-a76c-cf276abd3133" id="18" name="Number3">
                <a:extLst>
                  <a:ext uri="{FF2B5EF4-FFF2-40B4-BE49-F238E27FC236}">
                    <a16:creationId id="{9B48031A-80E9-41FE-9E8E-22BB36AE4497}"/>
                  </a:ext>
                </a:extLst>
              </p:cNvPr>
              <p:cNvSpPr/>
              <p:nvPr/>
            </p:nvSpPr>
            <p:spPr>
              <a:xfrm flipH="false" flipV="false">
                <a:off x="7866264" y="2915797"/>
                <a:ext cx="757508" cy="733332"/>
              </a:xfrm>
              <a:prstGeom prst="roundRect">
                <a:avLst>
                  <a:gd fmla="val 5587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8b4dc6e9-70f2-4fd8-86b7-7017efecc15b" id="20" name="Text3">
                <a:extLst>
                  <a:ext uri="{FF2B5EF4-FFF2-40B4-BE49-F238E27FC236}">
                    <a16:creationId id="{F8E07573-A8E5-42F7-B445-E2E8E3B47ABD}"/>
                  </a:ext>
                </a:extLst>
              </p:cNvPr>
              <p:cNvSpPr/>
              <p:nvPr/>
            </p:nvSpPr>
            <p:spPr bwMode="auto">
              <a:xfrm flipH="false" flipV="false">
                <a:off x="8750521" y="3229237"/>
                <a:ext cx="2437650" cy="9458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投入资源研发和验证新的精算模型，建立动态假设管理机制，提升计量的准确性和稳健性。</a:t>
                </a:r>
              </a:p>
            </p:txBody>
          </p:sp>
          <p:sp>
            <p:nvSpPr>
              <p:cNvPr descr="16c6e991-6f20-41a7-8eef-f551ea2850cc" id="21" name="Bullet3">
                <a:extLst>
                  <a:ext uri="{FF2B5EF4-FFF2-40B4-BE49-F238E27FC236}">
                    <a16:creationId id="{CE0F7859-F1A2-4111-8E8E-89D700A3BABA}"/>
                  </a:ext>
                </a:extLst>
              </p:cNvPr>
              <p:cNvSpPr/>
              <p:nvPr/>
            </p:nvSpPr>
            <p:spPr>
              <a:xfrm flipH="false" flipV="false">
                <a:off x="8750521" y="2739538"/>
                <a:ext cx="2437650" cy="489700"/>
              </a:xfrm>
              <a:prstGeom prst="rect">
                <a:avLst/>
              </a:prstGeom>
              <a:noFill/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优化精算模型</a:t>
                </a:r>
              </a:p>
            </p:txBody>
          </p:sp>
        </p:grpSp>
        <p:grpSp>
          <p:nvGrpSpPr>
            <p:cNvPr descr="b8edaf3b-7322-4a59-9794-c688f134c7a7" id="37" name="组合 36">
              <a:extLst>
                <a:ext uri="{FF2B5EF4-FFF2-40B4-BE49-F238E27FC236}">
                  <a16:creationId id="{CB780624-1068-FA0D-CEB0-0DA78187B27A}"/>
                </a:ext>
              </a:extLst>
            </p:cNvPr>
            <p:cNvGrpSpPr/>
            <p:nvPr/>
          </p:nvGrpSpPr>
          <p:grpSpPr>
            <a:xfrm>
              <a:off x="2714242" y="4392407"/>
              <a:ext cx="3321907" cy="1435514"/>
              <a:chOff x="2692208" y="4392407"/>
              <a:chExt cx="3321907" cy="1435514"/>
            </a:xfrm>
          </p:grpSpPr>
          <p:sp>
            <p:nvSpPr>
              <p:cNvPr descr="d97eba00-bca0-4246-a9d9-9f96c970a7a0" id="14" name="Number4">
                <a:extLst>
                  <a:ext uri="{FF2B5EF4-FFF2-40B4-BE49-F238E27FC236}">
                    <a16:creationId id="{D2A306D5-AEAA-4B21-941D-BE592DC3815D}"/>
                  </a:ext>
                </a:extLst>
              </p:cNvPr>
              <p:cNvSpPr/>
              <p:nvPr/>
            </p:nvSpPr>
            <p:spPr>
              <a:xfrm flipH="false" flipV="false">
                <a:off x="2692208" y="4568666"/>
                <a:ext cx="757508" cy="733332"/>
              </a:xfrm>
              <a:prstGeom prst="roundRect">
                <a:avLst>
                  <a:gd fmla="val 5587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descr="9b753864-02c0-4cd9-92e1-7a7059cae272" id="16" name="Text4">
                <a:extLst>
                  <a:ext uri="{FF2B5EF4-FFF2-40B4-BE49-F238E27FC236}">
                    <a16:creationId id="{F8E07573-A8E5-42F7-B445-E2E8E3B47ABD}"/>
                  </a:ext>
                </a:extLst>
              </p:cNvPr>
              <p:cNvSpPr/>
              <p:nvPr/>
            </p:nvSpPr>
            <p:spPr bwMode="auto">
              <a:xfrm flipH="false" flipV="false">
                <a:off x="3576465" y="4882106"/>
                <a:ext cx="2437650" cy="9458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全面审视和优化现有业务流程，确保从源头满足新准则的数据采集和核算要求。</a:t>
                </a:r>
              </a:p>
            </p:txBody>
          </p:sp>
          <p:sp>
            <p:nvSpPr>
              <p:cNvPr descr="3517c23d-e89f-43b7-a40f-aed929b1d557" id="17" name="Bullet4">
                <a:extLst>
                  <a:ext uri="{FF2B5EF4-FFF2-40B4-BE49-F238E27FC236}">
                    <a16:creationId id="{DD32618F-A269-483E-B9D3-21D323DCF685}"/>
                  </a:ext>
                </a:extLst>
              </p:cNvPr>
              <p:cNvSpPr/>
              <p:nvPr/>
            </p:nvSpPr>
            <p:spPr>
              <a:xfrm flipH="false" flipV="false">
                <a:off x="3576465" y="4392407"/>
                <a:ext cx="2437650" cy="489700"/>
              </a:xfrm>
              <a:prstGeom prst="rect">
                <a:avLst/>
              </a:prstGeom>
              <a:noFill/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重构业务流程</a:t>
                </a:r>
              </a:p>
            </p:txBody>
          </p:sp>
        </p:grpSp>
        <p:grpSp>
          <p:nvGrpSpPr>
            <p:cNvPr descr="147d2483-4684-4f61-864d-df94fcfe7d55" id="38" name="组合 37">
              <a:extLst>
                <a:ext uri="{FF2B5EF4-FFF2-40B4-BE49-F238E27FC236}">
                  <a16:creationId id="{CC79F89A-0B7C-05F4-DEC2-D074EF74CC72}"/>
                </a:ext>
              </a:extLst>
            </p:cNvPr>
            <p:cNvGrpSpPr/>
            <p:nvPr/>
          </p:nvGrpSpPr>
          <p:grpSpPr>
            <a:xfrm>
              <a:off x="6163613" y="4392407"/>
              <a:ext cx="3321907" cy="1435514"/>
              <a:chOff x="6141579" y="4392407"/>
              <a:chExt cx="3321907" cy="1435514"/>
            </a:xfrm>
          </p:grpSpPr>
          <p:sp>
            <p:nvSpPr>
              <p:cNvPr descr="b0df60c0-11e5-447d-9cba-e91306401a4a" id="10" name="Number5">
                <a:extLst>
                  <a:ext uri="{FF2B5EF4-FFF2-40B4-BE49-F238E27FC236}">
                    <a16:creationId id="{20B4B9E9-B016-4278-8D86-E4CBC1A13DEF}"/>
                  </a:ext>
                </a:extLst>
              </p:cNvPr>
              <p:cNvSpPr/>
              <p:nvPr/>
            </p:nvSpPr>
            <p:spPr>
              <a:xfrm flipH="false" flipV="false">
                <a:off x="6141579" y="4568666"/>
                <a:ext cx="757508" cy="733332"/>
              </a:xfrm>
              <a:prstGeom prst="roundRect">
                <a:avLst>
                  <a:gd fmla="val 5587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2F2F2F"/>
                    </a:solidFill>
                    <a:latin typeface="Arial"/>
                  </a:rPr>
                  <a:t>05</a:t>
                </a:r>
              </a:p>
            </p:txBody>
          </p:sp>
          <p:sp>
            <p:nvSpPr>
              <p:cNvPr descr="d50e753a-f54e-4213-9ba6-e6262776f8a1" id="12" name="Text5">
                <a:extLst>
                  <a:ext uri="{FF2B5EF4-FFF2-40B4-BE49-F238E27FC236}">
                    <a16:creationId id="{F8E07573-A8E5-42F7-B445-E2E8E3B47ABD}"/>
                  </a:ext>
                </a:extLst>
              </p:cNvPr>
              <p:cNvSpPr/>
              <p:nvPr/>
            </p:nvSpPr>
            <p:spPr bwMode="auto">
              <a:xfrm flipH="false" flipV="false">
                <a:off x="7025836" y="4882106"/>
                <a:ext cx="2437650" cy="9458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通过内部培训、外部招聘和与咨询机构合作等方式，快速储备和培养实施所需的专业人才。</a:t>
                </a:r>
              </a:p>
            </p:txBody>
          </p:sp>
          <p:sp>
            <p:nvSpPr>
              <p:cNvPr descr="c26c973b-58f4-47d3-a5f2-e4a62e28efb0" id="13" name="Bullet5">
                <a:extLst>
                  <a:ext uri="{FF2B5EF4-FFF2-40B4-BE49-F238E27FC236}">
                    <a16:creationId id="{8E6882BE-5AC2-4686-A23E-9135212EED8C}"/>
                  </a:ext>
                </a:extLst>
              </p:cNvPr>
              <p:cNvSpPr/>
              <p:nvPr/>
            </p:nvSpPr>
            <p:spPr>
              <a:xfrm flipH="false" flipV="false">
                <a:off x="7025836" y="4392407"/>
                <a:ext cx="2437650" cy="489700"/>
              </a:xfrm>
              <a:prstGeom prst="rect">
                <a:avLst/>
              </a:prstGeom>
              <a:noFill/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强化人才储备</a:t>
                </a:r>
              </a:p>
            </p:txBody>
          </p:sp>
        </p:grpSp>
        <p:sp>
          <p:nvSpPr>
            <p:cNvPr descr="ab39d050-a0f1-4cfd-ab84-dbb43658b43f" id="33" name="Title">
              <a:extLst>
                <a:ext uri="{FF2B5EF4-FFF2-40B4-BE49-F238E27FC236}">
                  <a16:creationId id="{95A30A3D-88A8-AB0C-F340-991ED753C0F6}"/>
                </a:ext>
              </a:extLst>
            </p:cNvPr>
            <p:cNvSpPr txBox="1"/>
            <p:nvPr/>
          </p:nvSpPr>
          <p:spPr>
            <a:xfrm flipH="false" flipV="false">
              <a:off x="660400" y="1364760"/>
              <a:ext cx="10858500" cy="616437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多措并举，全面推进新准则平稳落地</a:t>
              </a:r>
            </a:p>
          </p:txBody>
        </p: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系统性应对策略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53bf28ba-8f37-4041-92c5-7485fc215cd7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b="true" i="false" lang="en-US" sz="3200" u="none">
                <a:solidFill>
                  <a:srgbClr val="2F2F2F"/>
                </a:solidFill>
                <a:ea typeface="微软雅黑"/>
              </a:rPr>
              <a:t>未来展望与机遇</a:t>
            </a:r>
          </a:p>
        </p:txBody>
      </p:sp>
      <p:sp>
        <p:nvSpPr>
          <p:cNvPr descr="c88c00a7-8405-44bc-8e0d-74b2548feab2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探讨新准则带来的长期影响，以及财险公司如何化挑战为机遇，实现高质量发展。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273643ee-60d3-4e26-876a-c04e8c74e319" id="31" name="39638a39-bbc0-4920-b7e4-b65c13a99ff4.source.4.zh-Hans.pptx">
            <a:extLst>
              <a:ext uri="{FF2B5EF4-FFF2-40B4-BE49-F238E27FC236}">
                <a16:creationId id="{DD22A449-28B7-3454-399C-D761E34A6054}"/>
              </a:ext>
            </a:extLst>
          </p:cNvPr>
          <p:cNvGrpSpPr/>
          <p:nvPr/>
        </p:nvGrpSpPr>
        <p:grpSpPr>
          <a:xfrm>
            <a:off x="666750" y="1191014"/>
            <a:ext cx="10858499" cy="4943086"/>
            <a:chOff x="666750" y="1191014"/>
            <a:chExt cx="10858499" cy="4943086"/>
          </a:xfrm>
        </p:grpSpPr>
        <p:cxnSp>
          <p:nvCxnSpPr>
            <p:cNvPr descr="0d233817-60b2-4357-9a34-ccacfa7a6f09" id="3" name="ïṣļîdè">
              <a:extLst>
                <a:ext uri="{FF2B5EF4-FFF2-40B4-BE49-F238E27FC236}">
                  <a16:creationId id="{88DB24FD-EBED-391C-2482-2CD113162649}"/>
                </a:ext>
              </a:extLst>
            </p:cNvPr>
            <p:cNvCxnSpPr/>
            <p:nvPr/>
          </p:nvCxnSpPr>
          <p:spPr>
            <a:xfrm flipH="false" flipV="false">
              <a:off x="3329924" y="2325840"/>
              <a:ext cx="0" cy="3808260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abac9212-5d26-4284-8b05-e7149f088a19" id="4" name="iṩľiḍe">
              <a:extLst>
                <a:ext uri="{FF2B5EF4-FFF2-40B4-BE49-F238E27FC236}">
                  <a16:creationId id="{FFF7285A-E469-F8DD-0323-E33CDD2C7DD0}"/>
                </a:ext>
              </a:extLst>
            </p:cNvPr>
            <p:cNvCxnSpPr/>
            <p:nvPr/>
          </p:nvCxnSpPr>
          <p:spPr>
            <a:xfrm flipH="false" flipV="false">
              <a:off x="6089650" y="2325840"/>
              <a:ext cx="0" cy="3808260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bdfb7292-81c9-40ad-a0d8-a0027548c548" id="5" name="iṣḻîďe">
              <a:extLst>
                <a:ext uri="{FF2B5EF4-FFF2-40B4-BE49-F238E27FC236}">
                  <a16:creationId id="{6ABA3D7E-8113-6FFF-581D-DE98380EBD41}"/>
                </a:ext>
              </a:extLst>
            </p:cNvPr>
            <p:cNvCxnSpPr/>
            <p:nvPr/>
          </p:nvCxnSpPr>
          <p:spPr>
            <a:xfrm flipH="false" flipV="false">
              <a:off x="8849376" y="2309113"/>
              <a:ext cx="0" cy="3808260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34ac9eac-242d-4f95-b6e2-78eb54de1b67" id="78" name="Title">
              <a:extLst>
                <a:ext uri="{FF2B5EF4-FFF2-40B4-BE49-F238E27FC236}">
                  <a16:creationId id="{DEDF1F1B-E13C-6451-29F8-2C3B0AAE39F2}"/>
                </a:ext>
              </a:extLst>
            </p:cNvPr>
            <p:cNvSpPr txBox="1"/>
            <p:nvPr/>
          </p:nvSpPr>
          <p:spPr>
            <a:xfrm flipH="false" flipV="false">
              <a:off x="666750" y="1191014"/>
              <a:ext cx="10858499" cy="812530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从更高维度审视新准则的战略意义</a:t>
              </a:r>
            </a:p>
          </p:txBody>
        </p:sp>
        <p:grpSp>
          <p:nvGrpSpPr>
            <p:cNvPr descr="0a18c26f-1d2e-46b7-bae5-7e840e1e3249" id="26" name="组合 25">
              <a:extLst>
                <a:ext uri="{FF2B5EF4-FFF2-40B4-BE49-F238E27FC236}">
                  <a16:creationId id="{1A82DE68-E1AD-ECC8-65CC-6B315AA2A312}"/>
                </a:ext>
              </a:extLst>
            </p:cNvPr>
            <p:cNvGrpSpPr/>
            <p:nvPr/>
          </p:nvGrpSpPr>
          <p:grpSpPr>
            <a:xfrm>
              <a:off x="1060280" y="2341729"/>
              <a:ext cx="2147564" cy="3557266"/>
              <a:chOff x="1060280" y="2341729"/>
              <a:chExt cx="2147564" cy="3557266"/>
            </a:xfrm>
          </p:grpSpPr>
          <p:sp>
            <p:nvSpPr>
              <p:cNvPr descr="740bc874-bd3d-4743-afac-a6025ac50910" id="7" name="Bullet1">
                <a:extLst>
                  <a:ext uri="{FF2B5EF4-FFF2-40B4-BE49-F238E27FC236}">
                    <a16:creationId id="{231C6E9A-F21E-F311-C6BF-38C9ED96A3D1}"/>
                  </a:ext>
                </a:extLst>
              </p:cNvPr>
              <p:cNvSpPr/>
              <p:nvPr/>
            </p:nvSpPr>
            <p:spPr>
              <a:xfrm flipH="false" flipV="false">
                <a:off x="1252949" y="4093147"/>
                <a:ext cx="1762226" cy="37682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 fontScale="85000" lnSpcReduction="10000"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提升信息透明度</a:t>
                </a:r>
              </a:p>
            </p:txBody>
          </p:sp>
          <p:sp>
            <p:nvSpPr>
              <p:cNvPr descr="cb583d3b-1b52-45b4-8486-95d832173112" id="73" name="Text1">
                <a:extLst>
                  <a:ext uri="{FF2B5EF4-FFF2-40B4-BE49-F238E27FC236}">
                    <a16:creationId id="{84A8C0A8-B77B-AE2A-C36E-88457E70D2FD}"/>
                  </a:ext>
                </a:extLst>
              </p:cNvPr>
              <p:cNvSpPr/>
              <p:nvPr/>
            </p:nvSpPr>
            <p:spPr bwMode="auto">
              <a:xfrm flipH="false" flipV="false">
                <a:off x="1060280" y="4589505"/>
                <a:ext cx="2147564" cy="1309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增强财务信息的可比性和决策有用性，有助于投资者、监管机构和公众更好地理解公司真实经营状况。</a:t>
                </a:r>
              </a:p>
            </p:txBody>
          </p:sp>
          <p:sp>
            <p:nvSpPr>
              <p:cNvPr descr="3acebc4d-3d5b-483e-9cd3-69324fa3f5a1" id="16" name="Number1">
                <a:extLst>
                  <a:ext uri="{FF2B5EF4-FFF2-40B4-BE49-F238E27FC236}">
                    <a16:creationId id="{07BADCD0-2BEC-8750-57E9-72004F18E688}"/>
                  </a:ext>
                </a:extLst>
              </p:cNvPr>
              <p:cNvSpPr txBox="1"/>
              <p:nvPr/>
            </p:nvSpPr>
            <p:spPr>
              <a:xfrm flipH="false" flipV="false">
                <a:off x="1154250" y="2341729"/>
                <a:ext cx="1959623" cy="580822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2F2F2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b9925d94-567b-406d-8658-bc1569d3eb7c" id="21" name="Icon1">
                <a:extLst>
                  <a:ext uri="{FF2B5EF4-FFF2-40B4-BE49-F238E27FC236}">
                    <a16:creationId id="{BBDF7230-682C-A212-E4A3-CA8E3A76DE4C}"/>
                  </a:ext>
                </a:extLst>
              </p:cNvPr>
              <p:cNvSpPr/>
              <p:nvPr/>
            </p:nvSpPr>
            <p:spPr bwMode="auto">
              <a:xfrm flipH="false" flipV="false">
                <a:off x="1868650" y="3227413"/>
                <a:ext cx="518211" cy="543438"/>
              </a:xfrm>
              <a:custGeom>
                <a:avLst/>
                <a:gdLst>
                  <a:gd fmla="*/ 271981 w 578354" name="connsiteX0"/>
                  <a:gd fmla="*/ 340887 h 606510" name="connsiteY0"/>
                  <a:gd fmla="*/ 256365 w 578354" name="connsiteX1"/>
                  <a:gd fmla="*/ 346409 h 606510" name="connsiteY1"/>
                  <a:gd fmla="*/ 251051 w 578354" name="connsiteX2"/>
                  <a:gd fmla="*/ 352798 h 606510" name="connsiteY2"/>
                  <a:gd fmla="*/ 251051 w 578354" name="connsiteX3"/>
                  <a:gd fmla="*/ 368716 h 606510" name="connsiteY3"/>
                  <a:gd fmla="*/ 248665 w 578354" name="connsiteX4"/>
                  <a:gd fmla="*/ 370449 h 606510" name="connsiteY4"/>
                  <a:gd fmla="*/ 247038 w 578354" name="connsiteX5"/>
                  <a:gd fmla="*/ 375322 h 606510" name="connsiteY5"/>
                  <a:gd fmla="*/ 250509 w 578354" name="connsiteX6"/>
                  <a:gd fmla="*/ 409431 h 606510" name="connsiteY6"/>
                  <a:gd fmla="*/ 255172 w 578354" name="connsiteX7"/>
                  <a:gd fmla="*/ 414954 h 606510" name="connsiteY7"/>
                  <a:gd fmla="*/ 256907 w 578354" name="connsiteX8"/>
                  <a:gd fmla="*/ 415170 h 606510" name="connsiteY8"/>
                  <a:gd fmla="*/ 262004 w 578354" name="connsiteX9"/>
                  <a:gd fmla="*/ 412572 h 606510" name="connsiteY9"/>
                  <a:gd fmla="*/ 280114 w 578354" name="connsiteX10"/>
                  <a:gd fmla="*/ 388749 h 606510" name="connsiteY10"/>
                  <a:gd fmla="*/ 281307 w 578354" name="connsiteX11"/>
                  <a:gd fmla="*/ 384851 h 606510" name="connsiteY11"/>
                  <a:gd fmla="*/ 281307 w 578354" name="connsiteX12"/>
                  <a:gd fmla="*/ 346626 h 606510" name="connsiteY12"/>
                  <a:gd fmla="*/ 278270 w 578354" name="connsiteX13"/>
                  <a:gd fmla="*/ 341104 h 606510" name="connsiteY13"/>
                  <a:gd fmla="*/ 271981 w 578354" name="connsiteX14"/>
                  <a:gd fmla="*/ 340887 h 606510" name="connsiteY14"/>
                  <a:gd fmla="*/ 190755 w 578354" name="connsiteX15"/>
                  <a:gd fmla="*/ 340887 h 606510" name="connsiteY15"/>
                  <a:gd fmla="*/ 184357 w 578354" name="connsiteX16"/>
                  <a:gd fmla="*/ 341104 h 606510" name="connsiteY16"/>
                  <a:gd fmla="*/ 181321 w 578354" name="connsiteX17"/>
                  <a:gd fmla="*/ 346626 h 606510" name="connsiteY17"/>
                  <a:gd fmla="*/ 181212 w 578354" name="connsiteX18"/>
                  <a:gd fmla="*/ 384851 h 606510" name="connsiteY18"/>
                  <a:gd fmla="*/ 182513 w 578354" name="connsiteX19"/>
                  <a:gd fmla="*/ 388749 h 606510" name="connsiteY19"/>
                  <a:gd fmla="*/ 200624 w 578354" name="connsiteX20"/>
                  <a:gd fmla="*/ 412680 h 606510" name="connsiteY20"/>
                  <a:gd fmla="*/ 205721 w 578354" name="connsiteX21"/>
                  <a:gd fmla="*/ 415170 h 606510" name="connsiteY21"/>
                  <a:gd fmla="*/ 207456 w 578354" name="connsiteX22"/>
                  <a:gd fmla="*/ 414954 h 606510" name="connsiteY22"/>
                  <a:gd fmla="*/ 212119 w 578354" name="connsiteX23"/>
                  <a:gd fmla="*/ 409431 h 606510" name="connsiteY23"/>
                  <a:gd fmla="*/ 215589 w 578354" name="connsiteX24"/>
                  <a:gd fmla="*/ 375322 h 606510" name="connsiteY24"/>
                  <a:gd fmla="*/ 213963 w 578354" name="connsiteX25"/>
                  <a:gd fmla="*/ 370449 h 606510" name="connsiteY25"/>
                  <a:gd fmla="*/ 211577 w 578354" name="connsiteX26"/>
                  <a:gd fmla="*/ 368716 h 606510" name="connsiteY26"/>
                  <a:gd fmla="*/ 211577 w 578354" name="connsiteX27"/>
                  <a:gd fmla="*/ 352798 h 606510" name="connsiteY27"/>
                  <a:gd fmla="*/ 206263 w 578354" name="connsiteX28"/>
                  <a:gd fmla="*/ 346409 h 606510" name="connsiteY28"/>
                  <a:gd fmla="*/ 190755 w 578354" name="connsiteX29"/>
                  <a:gd fmla="*/ 340887 h 606510" name="connsiteY29"/>
                  <a:gd fmla="*/ 200624 w 578354" name="connsiteX30"/>
                  <a:gd fmla="*/ 168497 h 606510" name="connsiteY30"/>
                  <a:gd fmla="*/ 156161 w 578354" name="connsiteX31"/>
                  <a:gd fmla="*/ 180300 h 606510" name="connsiteY31"/>
                  <a:gd fmla="*/ 152583 w 578354" name="connsiteX32"/>
                  <a:gd fmla="*/ 186039 h 606510" name="connsiteY32"/>
                  <a:gd fmla="*/ 152583 w 578354" name="connsiteX33"/>
                  <a:gd fmla="*/ 197518 h 606510" name="connsiteY33"/>
                  <a:gd fmla="*/ 149980 w 578354" name="connsiteX34"/>
                  <a:gd fmla="*/ 197518 h 606510" name="connsiteY34"/>
                  <a:gd fmla="*/ 143473 w 578354" name="connsiteX35"/>
                  <a:gd fmla="*/ 203906 h 606510" name="connsiteY35"/>
                  <a:gd fmla="*/ 143473 w 578354" name="connsiteX36"/>
                  <a:gd fmla="*/ 214410 h 606510" name="connsiteY36"/>
                  <a:gd fmla="*/ 146401 w 578354" name="connsiteX37"/>
                  <a:gd fmla="*/ 219824 h 606510" name="connsiteY37"/>
                  <a:gd fmla="*/ 152691 w 578354" name="connsiteX38"/>
                  <a:gd fmla="*/ 223831 h 606510" name="connsiteY38"/>
                  <a:gd fmla="*/ 153016 w 578354" name="connsiteX39"/>
                  <a:gd fmla="*/ 226538 h 606510" name="connsiteY39"/>
                  <a:gd fmla="*/ 176007 w 578354" name="connsiteX40"/>
                  <a:gd fmla="*/ 279598 h 606510" name="connsiteY40"/>
                  <a:gd fmla="*/ 214071 w 578354" name="connsiteX41"/>
                  <a:gd fmla="*/ 312516 h 606510" name="connsiteY41"/>
                  <a:gd fmla="*/ 248557 w 578354" name="connsiteX42"/>
                  <a:gd fmla="*/ 312516 h 606510" name="connsiteY42"/>
                  <a:gd fmla="*/ 286621 w 578354" name="connsiteX43"/>
                  <a:gd fmla="*/ 279598 h 606510" name="connsiteY43"/>
                  <a:gd fmla="*/ 309611 w 578354" name="connsiteX44"/>
                  <a:gd fmla="*/ 226538 h 606510" name="connsiteY44"/>
                  <a:gd fmla="*/ 309936 w 578354" name="connsiteX45"/>
                  <a:gd fmla="*/ 223831 h 606510" name="connsiteY45"/>
                  <a:gd fmla="*/ 316226 w 578354" name="connsiteX46"/>
                  <a:gd fmla="*/ 219824 h 606510" name="connsiteY46"/>
                  <a:gd fmla="*/ 319154 w 578354" name="connsiteX47"/>
                  <a:gd fmla="*/ 214410 h 606510" name="connsiteY47"/>
                  <a:gd fmla="*/ 319154 w 578354" name="connsiteX48"/>
                  <a:gd fmla="*/ 203906 h 606510" name="connsiteY48"/>
                  <a:gd fmla="*/ 312756 w 578354" name="connsiteX49"/>
                  <a:gd fmla="*/ 197518 h 606510" name="connsiteY49"/>
                  <a:gd fmla="*/ 309177 w 578354" name="connsiteX50"/>
                  <a:gd fmla="*/ 197518 h 606510" name="connsiteY50"/>
                  <a:gd fmla="*/ 307117 w 578354" name="connsiteX51"/>
                  <a:gd fmla="*/ 195352 h 606510" name="connsiteY51"/>
                  <a:gd fmla="*/ 301044 w 578354" name="connsiteX52"/>
                  <a:gd fmla="*/ 194919 h 606510" name="connsiteY52"/>
                  <a:gd fmla="*/ 275668 w 578354" name="connsiteX53"/>
                  <a:gd fmla="*/ 200658 h 606510" name="connsiteY53"/>
                  <a:gd fmla="*/ 236302 w 578354" name="connsiteX54"/>
                  <a:gd fmla="*/ 182791 h 606510" name="connsiteY54"/>
                  <a:gd fmla="*/ 200624 w 578354" name="connsiteX55"/>
                  <a:gd fmla="*/ 168497 h 606510" name="connsiteY55"/>
                  <a:gd fmla="*/ 426321 w 578354" name="connsiteX56"/>
                  <a:gd fmla="*/ 71765 h 606510" name="connsiteY56"/>
                  <a:gd fmla="*/ 439012 w 578354" name="connsiteX57"/>
                  <a:gd fmla="*/ 84331 h 606510" name="connsiteY57"/>
                  <a:gd fmla="*/ 439012 w 578354" name="connsiteX58"/>
                  <a:gd fmla="*/ 99173 h 606510" name="connsiteY58"/>
                  <a:gd fmla="*/ 464721 w 578354" name="connsiteX59"/>
                  <a:gd fmla="*/ 112498 h 606510" name="connsiteY59"/>
                  <a:gd fmla="*/ 467758 w 578354" name="connsiteX60"/>
                  <a:gd fmla="*/ 124306 h 606510" name="connsiteY60"/>
                  <a:gd fmla="*/ 459297 w 578354" name="connsiteX61"/>
                  <a:gd fmla="*/ 133080 h 606510" name="connsiteY61"/>
                  <a:gd fmla="*/ 452789 w 578354" name="connsiteX62"/>
                  <a:gd fmla="*/ 135139 h 606510" name="connsiteY62"/>
                  <a:gd fmla="*/ 439555 w 578354" name="connsiteX63"/>
                  <a:gd fmla="*/ 131455 h 606510" name="connsiteY63"/>
                  <a:gd fmla="*/ 425019 w 578354" name="connsiteX64"/>
                  <a:gd fmla="*/ 125931 h 606510" name="connsiteY64"/>
                  <a:gd fmla="*/ 413738 w 578354" name="connsiteX65"/>
                  <a:gd fmla="*/ 132972 h 606510" name="connsiteY65"/>
                  <a:gd fmla="*/ 415582 w 578354" name="connsiteX66"/>
                  <a:gd fmla="*/ 137197 h 606510" name="connsiteY66"/>
                  <a:gd fmla="*/ 426429 w 578354" name="connsiteX67"/>
                  <a:gd fmla="*/ 140989 h 606510" name="connsiteY67"/>
                  <a:gd fmla="*/ 456043 w 578354" name="connsiteX68"/>
                  <a:gd fmla="*/ 149113 h 606510" name="connsiteY68"/>
                  <a:gd fmla="*/ 471230 w 578354" name="connsiteX69"/>
                  <a:gd fmla="*/ 161355 h 606510" name="connsiteY69"/>
                  <a:gd fmla="*/ 477304 w 578354" name="connsiteX70"/>
                  <a:gd fmla="*/ 181829 h 606510" name="connsiteY70"/>
                  <a:gd fmla="*/ 465480 w 578354" name="connsiteX71"/>
                  <a:gd fmla="*/ 209454 h 606510" name="connsiteY71"/>
                  <a:gd fmla="*/ 439012 w 578354" name="connsiteX72"/>
                  <a:gd fmla="*/ 222020 h 606510" name="connsiteY72"/>
                  <a:gd fmla="*/ 439012 w 578354" name="connsiteX73"/>
                  <a:gd fmla="*/ 242278 h 606510" name="connsiteY73"/>
                  <a:gd fmla="*/ 426321 w 578354" name="connsiteX74"/>
                  <a:gd fmla="*/ 254953 h 606510" name="connsiteY74"/>
                  <a:gd fmla="*/ 413738 w 578354" name="connsiteX75"/>
                  <a:gd fmla="*/ 242278 h 606510" name="connsiteY75"/>
                  <a:gd fmla="*/ 413738 w 578354" name="connsiteX76"/>
                  <a:gd fmla="*/ 222670 h 606510" name="connsiteY76"/>
                  <a:gd fmla="*/ 378158 w 578354" name="connsiteX77"/>
                  <a:gd fmla="*/ 202087 h 606510" name="connsiteY77"/>
                  <a:gd fmla="*/ 377073 w 578354" name="connsiteX78"/>
                  <a:gd fmla="*/ 190171 h 606510" name="connsiteY78"/>
                  <a:gd fmla="*/ 386402 w 578354" name="connsiteX79"/>
                  <a:gd fmla="*/ 182696 h 606510" name="connsiteY79"/>
                  <a:gd fmla="*/ 395948 w 578354" name="connsiteX80"/>
                  <a:gd fmla="*/ 180963 h 606510" name="connsiteY80"/>
                  <a:gd fmla="*/ 408531 w 578354" name="connsiteX81"/>
                  <a:gd fmla="*/ 186163 h 606510" name="connsiteY81"/>
                  <a:gd fmla="*/ 426646 w 578354" name="connsiteX82"/>
                  <a:gd fmla="*/ 193963 h 606510" name="connsiteY82"/>
                  <a:gd fmla="*/ 439555 w 578354" name="connsiteX83"/>
                  <a:gd fmla="*/ 187138 h 606510" name="connsiteY83"/>
                  <a:gd fmla="*/ 436626 w 578354" name="connsiteX84"/>
                  <a:gd fmla="*/ 181504 h 606510" name="connsiteY84"/>
                  <a:gd fmla="*/ 425778 w 578354" name="connsiteX85"/>
                  <a:gd fmla="*/ 177821 h 606510" name="connsiteY85"/>
                  <a:gd fmla="*/ 385534 w 578354" name="connsiteX86"/>
                  <a:gd fmla="*/ 161355 h 606510" name="connsiteY86"/>
                  <a:gd fmla="*/ 376964 w 578354" name="connsiteX87"/>
                  <a:gd fmla="*/ 138280 h 606510" name="connsiteY87"/>
                  <a:gd fmla="*/ 386402 w 578354" name="connsiteX88"/>
                  <a:gd fmla="*/ 112714 h 606510" name="connsiteY88"/>
                  <a:gd fmla="*/ 413738 w 578354" name="connsiteX89"/>
                  <a:gd fmla="*/ 98848 h 606510" name="connsiteY89"/>
                  <a:gd fmla="*/ 413738 w 578354" name="connsiteX90"/>
                  <a:gd fmla="*/ 84331 h 606510" name="connsiteY90"/>
                  <a:gd fmla="*/ 426321 w 578354" name="connsiteX91"/>
                  <a:gd fmla="*/ 71765 h 606510" name="connsiteY91"/>
                  <a:gd fmla="*/ 215047 w 578354" name="connsiteX92"/>
                  <a:gd fmla="*/ 46785 h 606510" name="connsiteY92"/>
                  <a:gd fmla="*/ 247581 w 578354" name="connsiteX93"/>
                  <a:gd fmla="*/ 46785 h 606510" name="connsiteY93"/>
                  <a:gd fmla="*/ 347675 w 578354" name="connsiteX94"/>
                  <a:gd fmla="*/ 146840 h 606510" name="connsiteY94"/>
                  <a:gd fmla="*/ 347675 w 578354" name="connsiteX95"/>
                  <a:gd fmla="*/ 178243 h 606510" name="connsiteY95"/>
                  <a:gd fmla="*/ 353423 w 578354" name="connsiteX96"/>
                  <a:gd fmla="*/ 196110 h 606510" name="connsiteY96"/>
                  <a:gd fmla="*/ 353423 w 578354" name="connsiteX97"/>
                  <a:gd fmla="*/ 218525 h 606510" name="connsiteY97"/>
                  <a:gd fmla="*/ 342362 w 578354" name="connsiteX98"/>
                  <a:gd fmla="*/ 242131 h 606510" name="connsiteY98"/>
                  <a:gd fmla="*/ 335963 w 578354" name="connsiteX99"/>
                  <a:gd fmla="*/ 259132 h 606510" name="connsiteY99"/>
                  <a:gd fmla="*/ 314383 w 578354" name="connsiteX100"/>
                  <a:gd fmla="*/ 299522 h 606510" name="connsiteY100"/>
                  <a:gd fmla="*/ 299743 w 578354" name="connsiteX101"/>
                  <a:gd fmla="*/ 318147 h 606510" name="connsiteY101"/>
                  <a:gd fmla="*/ 310587 w 578354" name="connsiteX102"/>
                  <a:gd fmla="*/ 331683 h 606510" name="connsiteY102"/>
                  <a:gd fmla="*/ 382052 w 578354" name="connsiteX103"/>
                  <a:gd fmla="*/ 353231 h 606510" name="connsiteY103"/>
                  <a:gd fmla="*/ 462627 w 578354" name="connsiteX104"/>
                  <a:gd fmla="*/ 587560 h 606510" name="connsiteY104"/>
                  <a:gd fmla="*/ 443758 w 578354" name="connsiteX105"/>
                  <a:gd fmla="*/ 606510 h 606510" name="connsiteY105"/>
                  <a:gd fmla="*/ 18978 w 578354" name="connsiteX106"/>
                  <a:gd fmla="*/ 606510 h 606510" name="connsiteY106"/>
                  <a:gd fmla="*/ 0 w 578354" name="connsiteX107"/>
                  <a:gd fmla="*/ 587560 h 606510" name="connsiteY107"/>
                  <a:gd fmla="*/ 217 w 578354" name="connsiteX108"/>
                  <a:gd fmla="*/ 584636 h 606510" name="connsiteY108"/>
                  <a:gd fmla="*/ 80575 w 578354" name="connsiteX109"/>
                  <a:gd fmla="*/ 353231 h 606510" name="connsiteY109"/>
                  <a:gd fmla="*/ 152040 w 578354" name="connsiteX110"/>
                  <a:gd fmla="*/ 331683 h 606510" name="connsiteY110"/>
                  <a:gd fmla="*/ 162885 w 578354" name="connsiteX111"/>
                  <a:gd fmla="*/ 318147 h 606510" name="connsiteY111"/>
                  <a:gd fmla="*/ 148353 w 578354" name="connsiteX112"/>
                  <a:gd fmla="*/ 299522 h 606510" name="connsiteY112"/>
                  <a:gd fmla="*/ 126664 w 578354" name="connsiteX113"/>
                  <a:gd fmla="*/ 259132 h 606510" name="connsiteY113"/>
                  <a:gd fmla="*/ 120266 w 578354" name="connsiteX114"/>
                  <a:gd fmla="*/ 242131 h 606510" name="connsiteY114"/>
                  <a:gd fmla="*/ 109205 w 578354" name="connsiteX115"/>
                  <a:gd fmla="*/ 218525 h 606510" name="connsiteY115"/>
                  <a:gd fmla="*/ 109205 w 578354" name="connsiteX116"/>
                  <a:gd fmla="*/ 196110 h 606510" name="connsiteY116"/>
                  <a:gd fmla="*/ 114952 w 578354" name="connsiteX117"/>
                  <a:gd fmla="*/ 178243 h 606510" name="connsiteY117"/>
                  <a:gd fmla="*/ 114952 w 578354" name="connsiteX118"/>
                  <a:gd fmla="*/ 146840 h 606510" name="connsiteY118"/>
                  <a:gd fmla="*/ 215047 w 578354" name="connsiteX119"/>
                  <a:gd fmla="*/ 46785 h 606510" name="connsiteY119"/>
                  <a:gd fmla="*/ 414825 w 578354" name="connsiteX120"/>
                  <a:gd fmla="*/ 0 h 606510" name="connsiteY120"/>
                  <a:gd fmla="*/ 578354 w 578354" name="connsiteX121"/>
                  <a:gd fmla="*/ 163305 h 606510" name="connsiteY121"/>
                  <a:gd fmla="*/ 414825 w 578354" name="connsiteX122"/>
                  <a:gd fmla="*/ 326718 h 606510" name="connsiteY122"/>
                  <a:gd fmla="*/ 344664 w 578354" name="connsiteX123"/>
                  <a:gd fmla="*/ 310907 h 606510" name="connsiteY123"/>
                  <a:gd fmla="*/ 360063 w 578354" name="connsiteX124"/>
                  <a:gd fmla="*/ 279719 h 606510" name="connsiteY124"/>
                  <a:gd fmla="*/ 414825 w 578354" name="connsiteX125"/>
                  <a:gd fmla="*/ 291956 h 606510" name="connsiteY125"/>
                  <a:gd fmla="*/ 543545 w 578354" name="connsiteX126"/>
                  <a:gd fmla="*/ 163305 h 606510" name="connsiteY126"/>
                  <a:gd fmla="*/ 414825 w 578354" name="connsiteX127"/>
                  <a:gd fmla="*/ 34762 h 606510" name="connsiteY127"/>
                  <a:gd fmla="*/ 338808 w 578354" name="connsiteX128"/>
                  <a:gd fmla="*/ 59561 h 606510" name="connsiteY128"/>
                  <a:gd fmla="*/ 311264 w 578354" name="connsiteX129"/>
                  <a:gd fmla="*/ 37036 h 606510" name="connsiteY129"/>
                  <a:gd fmla="*/ 414825 w 578354" name="connsiteX130"/>
                  <a:gd fmla="*/ 0 h 606510" name="connsiteY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b="b" l="l" r="r" t="t"/>
                <a:pathLst>
                  <a:path h="606510" w="578354">
                    <a:moveTo>
                      <a:pt x="271981" y="340887"/>
                    </a:moveTo>
                    <a:cubicBezTo>
                      <a:pt x="266667" y="343702"/>
                      <a:pt x="261461" y="345543"/>
                      <a:pt x="256365" y="346409"/>
                    </a:cubicBezTo>
                    <a:cubicBezTo>
                      <a:pt x="253328" y="346951"/>
                      <a:pt x="251051" y="349658"/>
                      <a:pt x="251051" y="352798"/>
                    </a:cubicBezTo>
                    <a:lnTo>
                      <a:pt x="251051" y="368716"/>
                    </a:lnTo>
                    <a:cubicBezTo>
                      <a:pt x="250183" y="369149"/>
                      <a:pt x="249316" y="369691"/>
                      <a:pt x="248665" y="370449"/>
                    </a:cubicBezTo>
                    <a:cubicBezTo>
                      <a:pt x="247472" y="371748"/>
                      <a:pt x="246821" y="373589"/>
                      <a:pt x="247038" y="375322"/>
                    </a:cubicBezTo>
                    <a:lnTo>
                      <a:pt x="250509" y="409431"/>
                    </a:lnTo>
                    <a:cubicBezTo>
                      <a:pt x="250834" y="412030"/>
                      <a:pt x="252677" y="414196"/>
                      <a:pt x="255172" y="414954"/>
                    </a:cubicBezTo>
                    <a:cubicBezTo>
                      <a:pt x="255822" y="415062"/>
                      <a:pt x="256365" y="415170"/>
                      <a:pt x="256907" y="415170"/>
                    </a:cubicBezTo>
                    <a:cubicBezTo>
                      <a:pt x="258859" y="415170"/>
                      <a:pt x="260811" y="414304"/>
                      <a:pt x="262004" y="412572"/>
                    </a:cubicBezTo>
                    <a:lnTo>
                      <a:pt x="280114" y="388749"/>
                    </a:lnTo>
                    <a:cubicBezTo>
                      <a:pt x="280873" y="387666"/>
                      <a:pt x="281307" y="386258"/>
                      <a:pt x="281307" y="384851"/>
                    </a:cubicBezTo>
                    <a:lnTo>
                      <a:pt x="281307" y="346626"/>
                    </a:lnTo>
                    <a:cubicBezTo>
                      <a:pt x="281307" y="344352"/>
                      <a:pt x="280222" y="342295"/>
                      <a:pt x="278270" y="341104"/>
                    </a:cubicBezTo>
                    <a:cubicBezTo>
                      <a:pt x="276318" y="339912"/>
                      <a:pt x="273933" y="339912"/>
                      <a:pt x="271981" y="340887"/>
                    </a:cubicBezTo>
                    <a:close/>
                    <a:moveTo>
                      <a:pt x="190755" y="340887"/>
                    </a:moveTo>
                    <a:cubicBezTo>
                      <a:pt x="188695" y="339912"/>
                      <a:pt x="186309" y="339912"/>
                      <a:pt x="184357" y="341104"/>
                    </a:cubicBezTo>
                    <a:cubicBezTo>
                      <a:pt x="182513" y="342295"/>
                      <a:pt x="181321" y="344352"/>
                      <a:pt x="181321" y="346626"/>
                    </a:cubicBezTo>
                    <a:lnTo>
                      <a:pt x="181212" y="384851"/>
                    </a:lnTo>
                    <a:cubicBezTo>
                      <a:pt x="181212" y="386258"/>
                      <a:pt x="181754" y="387666"/>
                      <a:pt x="182513" y="388749"/>
                    </a:cubicBezTo>
                    <a:lnTo>
                      <a:pt x="200624" y="412680"/>
                    </a:lnTo>
                    <a:cubicBezTo>
                      <a:pt x="201817" y="414304"/>
                      <a:pt x="203769" y="415170"/>
                      <a:pt x="205721" y="415170"/>
                    </a:cubicBezTo>
                    <a:cubicBezTo>
                      <a:pt x="206263" y="415170"/>
                      <a:pt x="206914" y="415062"/>
                      <a:pt x="207456" y="414954"/>
                    </a:cubicBezTo>
                    <a:cubicBezTo>
                      <a:pt x="209950" y="414196"/>
                      <a:pt x="211794" y="412030"/>
                      <a:pt x="212119" y="409431"/>
                    </a:cubicBezTo>
                    <a:lnTo>
                      <a:pt x="215589" y="375322"/>
                    </a:lnTo>
                    <a:cubicBezTo>
                      <a:pt x="215806" y="373589"/>
                      <a:pt x="215264" y="371748"/>
                      <a:pt x="213963" y="370449"/>
                    </a:cubicBezTo>
                    <a:cubicBezTo>
                      <a:pt x="213312" y="369691"/>
                      <a:pt x="212553" y="369149"/>
                      <a:pt x="211577" y="368716"/>
                    </a:cubicBezTo>
                    <a:lnTo>
                      <a:pt x="211577" y="352798"/>
                    </a:lnTo>
                    <a:cubicBezTo>
                      <a:pt x="211577" y="349658"/>
                      <a:pt x="209299" y="346951"/>
                      <a:pt x="206263" y="346409"/>
                    </a:cubicBezTo>
                    <a:cubicBezTo>
                      <a:pt x="201166" y="345543"/>
                      <a:pt x="195961" y="343702"/>
                      <a:pt x="190755" y="340887"/>
                    </a:cubicBezTo>
                    <a:close/>
                    <a:moveTo>
                      <a:pt x="200624" y="168497"/>
                    </a:moveTo>
                    <a:cubicBezTo>
                      <a:pt x="182513" y="168497"/>
                      <a:pt x="164945" y="175861"/>
                      <a:pt x="156161" y="180300"/>
                    </a:cubicBezTo>
                    <a:cubicBezTo>
                      <a:pt x="153884" y="181383"/>
                      <a:pt x="152583" y="183657"/>
                      <a:pt x="152583" y="186039"/>
                    </a:cubicBezTo>
                    <a:lnTo>
                      <a:pt x="152583" y="197518"/>
                    </a:lnTo>
                    <a:lnTo>
                      <a:pt x="149980" y="197518"/>
                    </a:lnTo>
                    <a:cubicBezTo>
                      <a:pt x="146401" y="197518"/>
                      <a:pt x="143473" y="200333"/>
                      <a:pt x="143473" y="203906"/>
                    </a:cubicBezTo>
                    <a:lnTo>
                      <a:pt x="143473" y="214410"/>
                    </a:lnTo>
                    <a:cubicBezTo>
                      <a:pt x="143473" y="216576"/>
                      <a:pt x="144666" y="218633"/>
                      <a:pt x="146401" y="219824"/>
                    </a:cubicBezTo>
                    <a:lnTo>
                      <a:pt x="152691" y="223831"/>
                    </a:lnTo>
                    <a:lnTo>
                      <a:pt x="153016" y="226538"/>
                    </a:lnTo>
                    <a:cubicBezTo>
                      <a:pt x="155077" y="241806"/>
                      <a:pt x="163644" y="261731"/>
                      <a:pt x="176007" y="279598"/>
                    </a:cubicBezTo>
                    <a:cubicBezTo>
                      <a:pt x="191731" y="302338"/>
                      <a:pt x="206480" y="312516"/>
                      <a:pt x="214071" y="312516"/>
                    </a:cubicBezTo>
                    <a:lnTo>
                      <a:pt x="248557" y="312516"/>
                    </a:lnTo>
                    <a:cubicBezTo>
                      <a:pt x="256148" y="312516"/>
                      <a:pt x="270896" y="302338"/>
                      <a:pt x="286621" y="279598"/>
                    </a:cubicBezTo>
                    <a:cubicBezTo>
                      <a:pt x="298984" y="261731"/>
                      <a:pt x="307551" y="241806"/>
                      <a:pt x="309611" y="226538"/>
                    </a:cubicBezTo>
                    <a:lnTo>
                      <a:pt x="309936" y="223831"/>
                    </a:lnTo>
                    <a:lnTo>
                      <a:pt x="316226" y="219824"/>
                    </a:lnTo>
                    <a:cubicBezTo>
                      <a:pt x="318070" y="218633"/>
                      <a:pt x="319154" y="216576"/>
                      <a:pt x="319154" y="214410"/>
                    </a:cubicBezTo>
                    <a:lnTo>
                      <a:pt x="319154" y="203906"/>
                    </a:lnTo>
                    <a:cubicBezTo>
                      <a:pt x="319154" y="200333"/>
                      <a:pt x="316226" y="197518"/>
                      <a:pt x="312756" y="197518"/>
                    </a:cubicBezTo>
                    <a:lnTo>
                      <a:pt x="309177" y="197518"/>
                    </a:lnTo>
                    <a:cubicBezTo>
                      <a:pt x="308744" y="196651"/>
                      <a:pt x="307984" y="195893"/>
                      <a:pt x="307117" y="195352"/>
                    </a:cubicBezTo>
                    <a:cubicBezTo>
                      <a:pt x="305382" y="194161"/>
                      <a:pt x="302996" y="193944"/>
                      <a:pt x="301044" y="194919"/>
                    </a:cubicBezTo>
                    <a:cubicBezTo>
                      <a:pt x="292477" y="198709"/>
                      <a:pt x="283910" y="200658"/>
                      <a:pt x="275668" y="200658"/>
                    </a:cubicBezTo>
                    <a:cubicBezTo>
                      <a:pt x="261028" y="200658"/>
                      <a:pt x="247797" y="194702"/>
                      <a:pt x="236302" y="182791"/>
                    </a:cubicBezTo>
                    <a:cubicBezTo>
                      <a:pt x="227193" y="173370"/>
                      <a:pt x="215155" y="168497"/>
                      <a:pt x="200624" y="168497"/>
                    </a:cubicBezTo>
                    <a:close/>
                    <a:moveTo>
                      <a:pt x="426321" y="71765"/>
                    </a:moveTo>
                    <a:cubicBezTo>
                      <a:pt x="433372" y="71765"/>
                      <a:pt x="439012" y="77398"/>
                      <a:pt x="439012" y="84331"/>
                    </a:cubicBezTo>
                    <a:lnTo>
                      <a:pt x="439012" y="99173"/>
                    </a:lnTo>
                    <a:cubicBezTo>
                      <a:pt x="449860" y="101231"/>
                      <a:pt x="458321" y="105564"/>
                      <a:pt x="464721" y="112498"/>
                    </a:cubicBezTo>
                    <a:cubicBezTo>
                      <a:pt x="467650" y="115639"/>
                      <a:pt x="468843" y="120081"/>
                      <a:pt x="467758" y="124306"/>
                    </a:cubicBezTo>
                    <a:cubicBezTo>
                      <a:pt x="466565" y="128531"/>
                      <a:pt x="463419" y="131780"/>
                      <a:pt x="459297" y="133080"/>
                    </a:cubicBezTo>
                    <a:lnTo>
                      <a:pt x="452789" y="135139"/>
                    </a:lnTo>
                    <a:cubicBezTo>
                      <a:pt x="448016" y="136655"/>
                      <a:pt x="442809" y="135247"/>
                      <a:pt x="439555" y="131455"/>
                    </a:cubicBezTo>
                    <a:cubicBezTo>
                      <a:pt x="436192" y="127772"/>
                      <a:pt x="431311" y="125931"/>
                      <a:pt x="425019" y="125931"/>
                    </a:cubicBezTo>
                    <a:cubicBezTo>
                      <a:pt x="419921" y="125931"/>
                      <a:pt x="413738" y="127122"/>
                      <a:pt x="413738" y="132972"/>
                    </a:cubicBezTo>
                    <a:cubicBezTo>
                      <a:pt x="413738" y="134597"/>
                      <a:pt x="414388" y="136005"/>
                      <a:pt x="415582" y="137197"/>
                    </a:cubicBezTo>
                    <a:cubicBezTo>
                      <a:pt x="416883" y="138389"/>
                      <a:pt x="420463" y="139689"/>
                      <a:pt x="426429" y="140989"/>
                    </a:cubicBezTo>
                    <a:cubicBezTo>
                      <a:pt x="440097" y="144022"/>
                      <a:pt x="450077" y="146730"/>
                      <a:pt x="456043" y="149113"/>
                    </a:cubicBezTo>
                    <a:cubicBezTo>
                      <a:pt x="462118" y="151497"/>
                      <a:pt x="467216" y="155613"/>
                      <a:pt x="471230" y="161355"/>
                    </a:cubicBezTo>
                    <a:cubicBezTo>
                      <a:pt x="475243" y="167096"/>
                      <a:pt x="477304" y="174030"/>
                      <a:pt x="477304" y="181829"/>
                    </a:cubicBezTo>
                    <a:cubicBezTo>
                      <a:pt x="477304" y="192771"/>
                      <a:pt x="473291" y="202087"/>
                      <a:pt x="465480" y="209454"/>
                    </a:cubicBezTo>
                    <a:cubicBezTo>
                      <a:pt x="458863" y="215737"/>
                      <a:pt x="449968" y="219962"/>
                      <a:pt x="439012" y="222020"/>
                    </a:cubicBezTo>
                    <a:lnTo>
                      <a:pt x="439012" y="242278"/>
                    </a:lnTo>
                    <a:cubicBezTo>
                      <a:pt x="439012" y="249320"/>
                      <a:pt x="433372" y="254953"/>
                      <a:pt x="426321" y="254953"/>
                    </a:cubicBezTo>
                    <a:cubicBezTo>
                      <a:pt x="419378" y="254953"/>
                      <a:pt x="413738" y="249320"/>
                      <a:pt x="413738" y="242278"/>
                    </a:cubicBezTo>
                    <a:lnTo>
                      <a:pt x="413738" y="222670"/>
                    </a:lnTo>
                    <a:cubicBezTo>
                      <a:pt x="397683" y="220504"/>
                      <a:pt x="385751" y="213571"/>
                      <a:pt x="378158" y="202087"/>
                    </a:cubicBezTo>
                    <a:cubicBezTo>
                      <a:pt x="375771" y="198512"/>
                      <a:pt x="375337" y="194071"/>
                      <a:pt x="377073" y="190171"/>
                    </a:cubicBezTo>
                    <a:cubicBezTo>
                      <a:pt x="378700" y="186271"/>
                      <a:pt x="382171" y="183454"/>
                      <a:pt x="386402" y="182696"/>
                    </a:cubicBezTo>
                    <a:lnTo>
                      <a:pt x="395948" y="180963"/>
                    </a:lnTo>
                    <a:cubicBezTo>
                      <a:pt x="400721" y="180096"/>
                      <a:pt x="405710" y="182046"/>
                      <a:pt x="408531" y="186163"/>
                    </a:cubicBezTo>
                    <a:cubicBezTo>
                      <a:pt x="412110" y="191254"/>
                      <a:pt x="418185" y="193963"/>
                      <a:pt x="426646" y="193963"/>
                    </a:cubicBezTo>
                    <a:cubicBezTo>
                      <a:pt x="439555" y="193963"/>
                      <a:pt x="439555" y="188763"/>
                      <a:pt x="439555" y="187138"/>
                    </a:cubicBezTo>
                    <a:cubicBezTo>
                      <a:pt x="439555" y="184646"/>
                      <a:pt x="438578" y="182913"/>
                      <a:pt x="436626" y="181504"/>
                    </a:cubicBezTo>
                    <a:cubicBezTo>
                      <a:pt x="434673" y="180096"/>
                      <a:pt x="430985" y="178905"/>
                      <a:pt x="425778" y="177821"/>
                    </a:cubicBezTo>
                    <a:cubicBezTo>
                      <a:pt x="404734" y="173488"/>
                      <a:pt x="391283" y="167963"/>
                      <a:pt x="385534" y="161355"/>
                    </a:cubicBezTo>
                    <a:cubicBezTo>
                      <a:pt x="379785" y="154530"/>
                      <a:pt x="376964" y="147055"/>
                      <a:pt x="376964" y="138280"/>
                    </a:cubicBezTo>
                    <a:cubicBezTo>
                      <a:pt x="376964" y="128639"/>
                      <a:pt x="380110" y="120081"/>
                      <a:pt x="386402" y="112714"/>
                    </a:cubicBezTo>
                    <a:cubicBezTo>
                      <a:pt x="392368" y="105564"/>
                      <a:pt x="401588" y="100906"/>
                      <a:pt x="413738" y="98848"/>
                    </a:cubicBezTo>
                    <a:lnTo>
                      <a:pt x="413738" y="84331"/>
                    </a:lnTo>
                    <a:cubicBezTo>
                      <a:pt x="413738" y="77398"/>
                      <a:pt x="419378" y="71765"/>
                      <a:pt x="426321" y="71765"/>
                    </a:cubicBezTo>
                    <a:close/>
                    <a:moveTo>
                      <a:pt x="215047" y="46785"/>
                    </a:moveTo>
                    <a:lnTo>
                      <a:pt x="247581" y="46785"/>
                    </a:lnTo>
                    <a:cubicBezTo>
                      <a:pt x="302779" y="46785"/>
                      <a:pt x="347675" y="91723"/>
                      <a:pt x="347675" y="146840"/>
                    </a:cubicBezTo>
                    <a:lnTo>
                      <a:pt x="347675" y="178243"/>
                    </a:lnTo>
                    <a:cubicBezTo>
                      <a:pt x="351471" y="183441"/>
                      <a:pt x="353423" y="189721"/>
                      <a:pt x="353423" y="196110"/>
                    </a:cubicBezTo>
                    <a:lnTo>
                      <a:pt x="353423" y="218525"/>
                    </a:lnTo>
                    <a:cubicBezTo>
                      <a:pt x="353423" y="227621"/>
                      <a:pt x="349302" y="236284"/>
                      <a:pt x="342362" y="242131"/>
                    </a:cubicBezTo>
                    <a:cubicBezTo>
                      <a:pt x="340626" y="247654"/>
                      <a:pt x="338458" y="253393"/>
                      <a:pt x="335963" y="259132"/>
                    </a:cubicBezTo>
                    <a:cubicBezTo>
                      <a:pt x="330758" y="272559"/>
                      <a:pt x="323275" y="286528"/>
                      <a:pt x="314383" y="299522"/>
                    </a:cubicBezTo>
                    <a:cubicBezTo>
                      <a:pt x="310587" y="305045"/>
                      <a:pt x="305599" y="311650"/>
                      <a:pt x="299743" y="318147"/>
                    </a:cubicBezTo>
                    <a:cubicBezTo>
                      <a:pt x="305056" y="321937"/>
                      <a:pt x="308852" y="326485"/>
                      <a:pt x="310587" y="331683"/>
                    </a:cubicBezTo>
                    <a:lnTo>
                      <a:pt x="382052" y="353231"/>
                    </a:lnTo>
                    <a:cubicBezTo>
                      <a:pt x="432263" y="367742"/>
                      <a:pt x="462627" y="578464"/>
                      <a:pt x="462627" y="587560"/>
                    </a:cubicBezTo>
                    <a:cubicBezTo>
                      <a:pt x="462627" y="598064"/>
                      <a:pt x="454169" y="606510"/>
                      <a:pt x="443758" y="606510"/>
                    </a:cubicBezTo>
                    <a:lnTo>
                      <a:pt x="18978" y="606510"/>
                    </a:lnTo>
                    <a:cubicBezTo>
                      <a:pt x="8459" y="606510"/>
                      <a:pt x="0" y="598064"/>
                      <a:pt x="0" y="587560"/>
                    </a:cubicBezTo>
                    <a:cubicBezTo>
                      <a:pt x="0" y="586586"/>
                      <a:pt x="109" y="585611"/>
                      <a:pt x="217" y="584636"/>
                    </a:cubicBezTo>
                    <a:cubicBezTo>
                      <a:pt x="217" y="584636"/>
                      <a:pt x="30365" y="367742"/>
                      <a:pt x="80575" y="353231"/>
                    </a:cubicBezTo>
                    <a:lnTo>
                      <a:pt x="152040" y="331683"/>
                    </a:lnTo>
                    <a:cubicBezTo>
                      <a:pt x="153775" y="326485"/>
                      <a:pt x="157571" y="321937"/>
                      <a:pt x="162885" y="318147"/>
                    </a:cubicBezTo>
                    <a:cubicBezTo>
                      <a:pt x="157029" y="311650"/>
                      <a:pt x="152040" y="305045"/>
                      <a:pt x="148353" y="299522"/>
                    </a:cubicBezTo>
                    <a:cubicBezTo>
                      <a:pt x="139352" y="286528"/>
                      <a:pt x="131870" y="272559"/>
                      <a:pt x="126664" y="259132"/>
                    </a:cubicBezTo>
                    <a:cubicBezTo>
                      <a:pt x="124170" y="253393"/>
                      <a:pt x="122001" y="247654"/>
                      <a:pt x="120266" y="242131"/>
                    </a:cubicBezTo>
                    <a:cubicBezTo>
                      <a:pt x="113325" y="236284"/>
                      <a:pt x="109205" y="227621"/>
                      <a:pt x="109205" y="218525"/>
                    </a:cubicBezTo>
                    <a:lnTo>
                      <a:pt x="109205" y="196110"/>
                    </a:lnTo>
                    <a:cubicBezTo>
                      <a:pt x="109205" y="189721"/>
                      <a:pt x="111265" y="183441"/>
                      <a:pt x="114952" y="178243"/>
                    </a:cubicBezTo>
                    <a:lnTo>
                      <a:pt x="114952" y="146840"/>
                    </a:lnTo>
                    <a:cubicBezTo>
                      <a:pt x="114952" y="91723"/>
                      <a:pt x="159848" y="46785"/>
                      <a:pt x="215047" y="46785"/>
                    </a:cubicBezTo>
                    <a:close/>
                    <a:moveTo>
                      <a:pt x="414825" y="0"/>
                    </a:moveTo>
                    <a:cubicBezTo>
                      <a:pt x="504940" y="0"/>
                      <a:pt x="578354" y="73314"/>
                      <a:pt x="578354" y="163305"/>
                    </a:cubicBezTo>
                    <a:cubicBezTo>
                      <a:pt x="578354" y="253404"/>
                      <a:pt x="504940" y="326718"/>
                      <a:pt x="414825" y="326718"/>
                    </a:cubicBezTo>
                    <a:cubicBezTo>
                      <a:pt x="389667" y="326718"/>
                      <a:pt x="365918" y="320979"/>
                      <a:pt x="344664" y="310907"/>
                    </a:cubicBezTo>
                    <a:cubicBezTo>
                      <a:pt x="350737" y="300620"/>
                      <a:pt x="355942" y="290115"/>
                      <a:pt x="360063" y="279719"/>
                    </a:cubicBezTo>
                    <a:cubicBezTo>
                      <a:pt x="376654" y="287516"/>
                      <a:pt x="395198" y="291956"/>
                      <a:pt x="414825" y="291956"/>
                    </a:cubicBezTo>
                    <a:cubicBezTo>
                      <a:pt x="485854" y="291956"/>
                      <a:pt x="543545" y="234236"/>
                      <a:pt x="543545" y="163305"/>
                    </a:cubicBezTo>
                    <a:cubicBezTo>
                      <a:pt x="543545" y="92482"/>
                      <a:pt x="485854" y="34762"/>
                      <a:pt x="414825" y="34762"/>
                    </a:cubicBezTo>
                    <a:cubicBezTo>
                      <a:pt x="386414" y="34762"/>
                      <a:pt x="360171" y="43967"/>
                      <a:pt x="338808" y="59561"/>
                    </a:cubicBezTo>
                    <a:cubicBezTo>
                      <a:pt x="330675" y="50897"/>
                      <a:pt x="321458" y="43317"/>
                      <a:pt x="311264" y="37036"/>
                    </a:cubicBezTo>
                    <a:cubicBezTo>
                      <a:pt x="339459" y="13861"/>
                      <a:pt x="375570" y="0"/>
                      <a:pt x="4148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descr="f3709688-22cf-4287-b484-d53a0ac4a9a7" id="27" name="组合 26">
              <a:extLst>
                <a:ext uri="{FF2B5EF4-FFF2-40B4-BE49-F238E27FC236}">
                  <a16:creationId id="{6A81AB8E-0712-D840-B2C4-EC4AF6088C15}"/>
                </a:ext>
              </a:extLst>
            </p:cNvPr>
            <p:cNvGrpSpPr/>
            <p:nvPr/>
          </p:nvGrpSpPr>
          <p:grpSpPr>
            <a:xfrm>
              <a:off x="3725418" y="2341729"/>
              <a:ext cx="2147564" cy="3557266"/>
              <a:chOff x="3725418" y="2341729"/>
              <a:chExt cx="2147564" cy="3557266"/>
            </a:xfrm>
          </p:grpSpPr>
          <p:sp>
            <p:nvSpPr>
              <p:cNvPr descr="f9b9eb14-137b-4c72-8b72-8bd4b02bc7d5" id="10" name="Bullet2">
                <a:extLst>
                  <a:ext uri="{FF2B5EF4-FFF2-40B4-BE49-F238E27FC236}">
                    <a16:creationId id="{334ED697-3D46-552E-4D17-C211C63A1FBE}"/>
                  </a:ext>
                </a:extLst>
              </p:cNvPr>
              <p:cNvSpPr/>
              <p:nvPr/>
            </p:nvSpPr>
            <p:spPr>
              <a:xfrm flipH="false" flipV="false">
                <a:off x="3924393" y="4093147"/>
                <a:ext cx="1762226" cy="37682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 fontScale="85000" lnSpcReduction="10000"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促进全球一体化</a:t>
                </a:r>
              </a:p>
            </p:txBody>
          </p:sp>
          <p:sp>
            <p:nvSpPr>
              <p:cNvPr descr="a026589c-9161-424e-ab2c-daea2edff6e8" id="17" name="Number2">
                <a:extLst>
                  <a:ext uri="{FF2B5EF4-FFF2-40B4-BE49-F238E27FC236}">
                    <a16:creationId id="{270B6D1C-5CCB-0991-8FD9-D9C1E1938810}"/>
                  </a:ext>
                </a:extLst>
              </p:cNvPr>
              <p:cNvSpPr txBox="1"/>
              <p:nvPr/>
            </p:nvSpPr>
            <p:spPr>
              <a:xfrm flipH="false" flipV="false">
                <a:off x="3825694" y="2341729"/>
                <a:ext cx="1959623" cy="580822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2F2F2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d123a0d1-eba4-485a-982e-c9eace687e46" id="22" name="Icon2">
                <a:extLst>
                  <a:ext uri="{FF2B5EF4-FFF2-40B4-BE49-F238E27FC236}">
                    <a16:creationId id="{1F1BFB03-A528-C73C-4E62-090C6C6D1AEE}"/>
                  </a:ext>
                </a:extLst>
              </p:cNvPr>
              <p:cNvSpPr/>
              <p:nvPr/>
            </p:nvSpPr>
            <p:spPr bwMode="auto">
              <a:xfrm flipH="false" flipV="false">
                <a:off x="4527481" y="3261285"/>
                <a:ext cx="543438" cy="475696"/>
              </a:xfrm>
              <a:custGeom>
                <a:avLst/>
                <a:gdLst>
                  <a:gd fmla="*/ 215 w 406" name="T0"/>
                  <a:gd fmla="*/ 162 h 356" name="T1"/>
                  <a:gd fmla="*/ 157 w 406" name="T2"/>
                  <a:gd fmla="*/ 102 h 356" name="T3"/>
                  <a:gd fmla="*/ 19 w 406" name="T4"/>
                  <a:gd fmla="*/ 242 h 356" name="T5"/>
                  <a:gd fmla="*/ 0 w 406" name="T6"/>
                  <a:gd fmla="*/ 224 h 356" name="T7"/>
                  <a:gd fmla="*/ 157 w 406" name="T8"/>
                  <a:gd fmla="*/ 64 h 356" name="T9"/>
                  <a:gd fmla="*/ 216 w 406" name="T10"/>
                  <a:gd fmla="*/ 124 h 356" name="T11"/>
                  <a:gd fmla="*/ 315 w 406" name="T12"/>
                  <a:gd fmla="*/ 28 h 356" name="T13"/>
                  <a:gd fmla="*/ 287 w 406" name="T14"/>
                  <a:gd fmla="*/ 0 h 356" name="T15"/>
                  <a:gd fmla="*/ 362 w 406" name="T16"/>
                  <a:gd fmla="*/ 0 h 356" name="T17"/>
                  <a:gd fmla="*/ 362 w 406" name="T18"/>
                  <a:gd fmla="*/ 74 h 356" name="T19"/>
                  <a:gd fmla="*/ 334 w 406" name="T20"/>
                  <a:gd fmla="*/ 47 h 356" name="T21"/>
                  <a:gd fmla="*/ 215 w 406" name="T22"/>
                  <a:gd fmla="*/ 162 h 356" name="T23"/>
                  <a:gd fmla="*/ 66 w 406" name="T24"/>
                  <a:gd fmla="*/ 356 h 356" name="T25"/>
                  <a:gd fmla="*/ 156 w 406" name="T26"/>
                  <a:gd fmla="*/ 356 h 356" name="T27"/>
                  <a:gd fmla="*/ 156 w 406" name="T28"/>
                  <a:gd fmla="*/ 230 h 356" name="T29"/>
                  <a:gd fmla="*/ 66 w 406" name="T30"/>
                  <a:gd fmla="*/ 230 h 356" name="T31"/>
                  <a:gd fmla="*/ 66 w 406" name="T32"/>
                  <a:gd fmla="*/ 356 h 356" name="T33"/>
                  <a:gd fmla="*/ 191 w 406" name="T34"/>
                  <a:gd fmla="*/ 356 h 356" name="T35"/>
                  <a:gd fmla="*/ 281 w 406" name="T36"/>
                  <a:gd fmla="*/ 356 h 356" name="T37"/>
                  <a:gd fmla="*/ 281 w 406" name="T38"/>
                  <a:gd fmla="*/ 190 h 356" name="T39"/>
                  <a:gd fmla="*/ 191 w 406" name="T40"/>
                  <a:gd fmla="*/ 190 h 356" name="T41"/>
                  <a:gd fmla="*/ 191 w 406" name="T42"/>
                  <a:gd fmla="*/ 356 h 356" name="T43"/>
                  <a:gd fmla="*/ 316 w 406" name="T44"/>
                  <a:gd fmla="*/ 106 h 356" name="T45"/>
                  <a:gd fmla="*/ 316 w 406" name="T46"/>
                  <a:gd fmla="*/ 356 h 356" name="T47"/>
                  <a:gd fmla="*/ 406 w 406" name="T48"/>
                  <a:gd fmla="*/ 356 h 356" name="T49"/>
                  <a:gd fmla="*/ 406 w 406" name="T50"/>
                  <a:gd fmla="*/ 106 h 356" name="T51"/>
                  <a:gd fmla="*/ 316 w 406" name="T52"/>
                  <a:gd fmla="*/ 106 h 356" name="T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b="b" l="0" r="r" t="0"/>
                <a:pathLst>
                  <a:path h="356" w="406">
                    <a:moveTo>
                      <a:pt x="215" y="162"/>
                    </a:moveTo>
                    <a:lnTo>
                      <a:pt x="157" y="102"/>
                    </a:lnTo>
                    <a:lnTo>
                      <a:pt x="19" y="242"/>
                    </a:lnTo>
                    <a:lnTo>
                      <a:pt x="0" y="224"/>
                    </a:lnTo>
                    <a:lnTo>
                      <a:pt x="157" y="64"/>
                    </a:lnTo>
                    <a:lnTo>
                      <a:pt x="216" y="124"/>
                    </a:lnTo>
                    <a:lnTo>
                      <a:pt x="315" y="28"/>
                    </a:lnTo>
                    <a:lnTo>
                      <a:pt x="287" y="0"/>
                    </a:lnTo>
                    <a:lnTo>
                      <a:pt x="362" y="0"/>
                    </a:lnTo>
                    <a:lnTo>
                      <a:pt x="362" y="74"/>
                    </a:lnTo>
                    <a:lnTo>
                      <a:pt x="334" y="47"/>
                    </a:lnTo>
                    <a:lnTo>
                      <a:pt x="215" y="162"/>
                    </a:lnTo>
                    <a:close/>
                    <a:moveTo>
                      <a:pt x="66" y="356"/>
                    </a:moveTo>
                    <a:lnTo>
                      <a:pt x="156" y="356"/>
                    </a:lnTo>
                    <a:lnTo>
                      <a:pt x="156" y="230"/>
                    </a:lnTo>
                    <a:lnTo>
                      <a:pt x="66" y="230"/>
                    </a:lnTo>
                    <a:lnTo>
                      <a:pt x="66" y="356"/>
                    </a:lnTo>
                    <a:close/>
                    <a:moveTo>
                      <a:pt x="191" y="356"/>
                    </a:moveTo>
                    <a:lnTo>
                      <a:pt x="281" y="356"/>
                    </a:lnTo>
                    <a:lnTo>
                      <a:pt x="281" y="190"/>
                    </a:lnTo>
                    <a:lnTo>
                      <a:pt x="191" y="190"/>
                    </a:lnTo>
                    <a:lnTo>
                      <a:pt x="191" y="356"/>
                    </a:lnTo>
                    <a:close/>
                    <a:moveTo>
                      <a:pt x="316" y="106"/>
                    </a:moveTo>
                    <a:lnTo>
                      <a:pt x="316" y="356"/>
                    </a:lnTo>
                    <a:lnTo>
                      <a:pt x="406" y="356"/>
                    </a:lnTo>
                    <a:lnTo>
                      <a:pt x="406" y="106"/>
                    </a:lnTo>
                    <a:lnTo>
                      <a:pt x="316" y="10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descr="74670df7-d264-4ee7-9689-dd6362efbdfc" id="81" name="Text2">
                <a:extLst>
                  <a:ext uri="{FF2B5EF4-FFF2-40B4-BE49-F238E27FC236}">
                    <a16:creationId id="{BBA1178F-612F-A38D-0F2A-1F99B6E50A91}"/>
                  </a:ext>
                </a:extLst>
              </p:cNvPr>
              <p:cNvSpPr/>
              <p:nvPr/>
            </p:nvSpPr>
            <p:spPr bwMode="auto">
              <a:xfrm flipH="false" flipV="false">
                <a:off x="3725418" y="4589505"/>
                <a:ext cx="2147564" cy="1309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与国际市场接轨，采用统一的会计语言，为跨境业务发展和国际资本运作创造便利条件。</a:t>
                </a:r>
              </a:p>
            </p:txBody>
          </p:sp>
        </p:grpSp>
        <p:grpSp>
          <p:nvGrpSpPr>
            <p:cNvPr descr="3992e6ea-f7f4-4cd7-a5c7-a38da46f5100" id="28" name="组合 27">
              <a:extLst>
                <a:ext uri="{FF2B5EF4-FFF2-40B4-BE49-F238E27FC236}">
                  <a16:creationId id="{6F8426BA-106B-F05B-1281-E277701A2C61}"/>
                </a:ext>
              </a:extLst>
            </p:cNvPr>
            <p:cNvGrpSpPr/>
            <p:nvPr/>
          </p:nvGrpSpPr>
          <p:grpSpPr>
            <a:xfrm>
              <a:off x="6396861" y="2325841"/>
              <a:ext cx="2147564" cy="3573154"/>
              <a:chOff x="6396861" y="2325841"/>
              <a:chExt cx="2147564" cy="3573154"/>
            </a:xfrm>
          </p:grpSpPr>
          <p:sp>
            <p:nvSpPr>
              <p:cNvPr descr="4db38c62-e03d-4115-af20-a118f0d314a7" id="13" name="Bullet3">
                <a:extLst>
                  <a:ext uri="{FF2B5EF4-FFF2-40B4-BE49-F238E27FC236}">
                    <a16:creationId id="{DFB7906B-BFF9-79B4-E43B-67AEF9BB2BD2}"/>
                  </a:ext>
                </a:extLst>
              </p:cNvPr>
              <p:cNvSpPr/>
              <p:nvPr/>
            </p:nvSpPr>
            <p:spPr>
              <a:xfrm flipH="false" flipV="false">
                <a:off x="6595837" y="4077259"/>
                <a:ext cx="1762226" cy="37682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 fontScale="85000" lnSpcReduction="10000"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强化风险管理</a:t>
                </a:r>
              </a:p>
            </p:txBody>
          </p:sp>
          <p:sp>
            <p:nvSpPr>
              <p:cNvPr descr="7b0c0a04-fd4a-4f4c-8284-b011d87c20db" id="18" name="Number3">
                <a:extLst>
                  <a:ext uri="{FF2B5EF4-FFF2-40B4-BE49-F238E27FC236}">
                    <a16:creationId id="{B944B587-5268-CC91-628C-07CF23C82C10}"/>
                  </a:ext>
                </a:extLst>
              </p:cNvPr>
              <p:cNvSpPr txBox="1"/>
              <p:nvPr/>
            </p:nvSpPr>
            <p:spPr>
              <a:xfrm flipH="false" flipV="false">
                <a:off x="6497138" y="2325841"/>
                <a:ext cx="1959623" cy="580822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2F2F2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93f4acd7-2d66-4ca5-9e11-bc87144eb08d" id="23" name="Icon3">
                <a:extLst>
                  <a:ext uri="{FF2B5EF4-FFF2-40B4-BE49-F238E27FC236}">
                    <a16:creationId id="{77051D62-C773-4B28-69F9-138620292813}"/>
                  </a:ext>
                </a:extLst>
              </p:cNvPr>
              <p:cNvSpPr/>
              <p:nvPr/>
            </p:nvSpPr>
            <p:spPr bwMode="auto">
              <a:xfrm flipH="false" flipV="false">
                <a:off x="7198924" y="3249761"/>
                <a:ext cx="543438" cy="466969"/>
              </a:xfrm>
              <a:custGeom>
                <a:avLst/>
                <a:gdLst>
                  <a:gd fmla="*/ 389492 w 608271" name="connsiteX0"/>
                  <a:gd fmla="*/ 248491 h 522678" name="connsiteY0"/>
                  <a:gd fmla="*/ 481825 w 608271" name="connsiteX1"/>
                  <a:gd fmla="*/ 293892 h 522678" name="connsiteY1"/>
                  <a:gd fmla="*/ 604637 w 608271" name="connsiteX2"/>
                  <a:gd fmla="*/ 486497 h 522678" name="connsiteY2"/>
                  <a:gd fmla="*/ 605332 w 608271" name="connsiteX3"/>
                  <a:gd fmla="*/ 510486 h 522678" name="connsiteY3"/>
                  <a:gd fmla="*/ 584681 w 608271" name="connsiteX4"/>
                  <a:gd fmla="*/ 522678 h 522678" name="connsiteY4"/>
                  <a:gd fmla="*/ 467131 w 608271" name="connsiteX5"/>
                  <a:gd fmla="*/ 522381 h 522678" name="connsiteY5"/>
                  <a:gd fmla="*/ 441814 w 608271" name="connsiteX6"/>
                  <a:gd fmla="*/ 507115 h 522678" name="connsiteY6"/>
                  <a:gd fmla="*/ 385123 w 608271" name="connsiteX7"/>
                  <a:gd fmla="*/ 423451 h 522678" name="connsiteY7"/>
                  <a:gd fmla="*/ 148136 w 608271" name="connsiteX8"/>
                  <a:gd fmla="*/ 432472 h 522678" name="connsiteY8"/>
                  <a:gd fmla="*/ 123415 w 608271" name="connsiteX9"/>
                  <a:gd fmla="*/ 423650 h 522678" name="connsiteY9"/>
                  <a:gd fmla="*/ 11920 w 608271" name="connsiteX10"/>
                  <a:gd fmla="*/ 325117 h 522678" name="connsiteY10"/>
                  <a:gd fmla="*/ 8843 w 608271" name="connsiteX11"/>
                  <a:gd fmla="*/ 275454 h 522678" name="connsiteY11"/>
                  <a:gd fmla="*/ 58583 w 608271" name="connsiteX12"/>
                  <a:gd fmla="*/ 272381 h 522678" name="connsiteY12"/>
                  <a:gd fmla="*/ 159554 w 608271" name="connsiteX13"/>
                  <a:gd fmla="*/ 361596 h 522678" name="connsiteY13"/>
                  <a:gd fmla="*/ 378869 w 608271" name="connsiteX14"/>
                  <a:gd fmla="*/ 319863 h 522678" name="connsiteY14"/>
                  <a:gd fmla="*/ 250596 w 608271" name="connsiteX15"/>
                  <a:gd fmla="*/ 333741 h 522678" name="connsiteY15"/>
                  <a:gd fmla="*/ 211776 w 608271" name="connsiteX16"/>
                  <a:gd fmla="*/ 302615 h 522678" name="connsiteY16"/>
                  <a:gd fmla="*/ 242951 w 608271" name="connsiteX17"/>
                  <a:gd fmla="*/ 263757 h 522678" name="connsiteY17"/>
                  <a:gd fmla="*/ 389492 w 608271" name="connsiteX18"/>
                  <a:gd fmla="*/ 248491 h 522678" name="connsiteY18"/>
                  <a:gd fmla="*/ 22874 w 608271" name="connsiteX19"/>
                  <a:gd fmla="*/ 158631 h 522678" name="connsiteY19"/>
                  <a:gd fmla="*/ 352733 w 608271" name="connsiteX20"/>
                  <a:gd fmla="*/ 158631 h 522678" name="connsiteY20"/>
                  <a:gd fmla="*/ 372685 w 608271" name="connsiteX21"/>
                  <a:gd fmla="*/ 178545 h 522678" name="connsiteY21"/>
                  <a:gd fmla="*/ 372685 w 608271" name="connsiteX22"/>
                  <a:gd fmla="*/ 223129 h 522678" name="connsiteY22"/>
                  <a:gd fmla="*/ 240067 w 608271" name="connsiteX23"/>
                  <a:gd fmla="*/ 237495 h 522678" name="connsiteY23"/>
                  <a:gd fmla="*/ 187456 w 608271" name="connsiteX24"/>
                  <a:gd fmla="*/ 281485 h 522678" name="connsiteY24"/>
                  <a:gd fmla="*/ 108838 w 608271" name="connsiteX25"/>
                  <a:gd fmla="*/ 281485 h 522678" name="connsiteY25"/>
                  <a:gd fmla="*/ 76180 w 608271" name="connsiteX26"/>
                  <a:gd fmla="*/ 252654 h 522678" name="connsiteY26"/>
                  <a:gd fmla="*/ 2922 w 608271" name="connsiteX27"/>
                  <a:gd fmla="*/ 246313 h 522678" name="connsiteY27"/>
                  <a:gd fmla="*/ 2922 w 608271" name="connsiteX28"/>
                  <a:gd fmla="*/ 178545 h 522678" name="connsiteY28"/>
                  <a:gd fmla="*/ 22874 w 608271" name="connsiteX29"/>
                  <a:gd fmla="*/ 158631 h 522678" name="connsiteY29"/>
                  <a:gd fmla="*/ 22874 w 608271" name="connsiteX30"/>
                  <a:gd fmla="*/ 0 h 522678" name="connsiteY30"/>
                  <a:gd fmla="*/ 352733 w 608271" name="connsiteX31"/>
                  <a:gd fmla="*/ 0 h 522678" name="connsiteY31"/>
                  <a:gd fmla="*/ 372685 w 608271" name="connsiteX32"/>
                  <a:gd fmla="*/ 19925 h 522678" name="connsiteY32"/>
                  <a:gd fmla="*/ 372685 w 608271" name="connsiteX33"/>
                  <a:gd fmla="*/ 102999 h 522678" name="connsiteY33"/>
                  <a:gd fmla="*/ 352733 w 608271" name="connsiteX34"/>
                  <a:gd fmla="*/ 122925 h 522678" name="connsiteY34"/>
                  <a:gd fmla="*/ 22874 w 608271" name="connsiteX35"/>
                  <a:gd fmla="*/ 122925 h 522678" name="connsiteY35"/>
                  <a:gd fmla="*/ 2922 w 608271" name="connsiteX36"/>
                  <a:gd fmla="*/ 102999 h 522678" name="connsiteY36"/>
                  <a:gd fmla="*/ 2922 w 608271" name="connsiteX37"/>
                  <a:gd fmla="*/ 19925 h 522678" name="connsiteY37"/>
                  <a:gd fmla="*/ 22874 w 608271" name="connsiteX38"/>
                  <a:gd fmla="*/ 0 h 522678" name="connsiteY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b="b" l="l" r="r" t="t"/>
                <a:pathLst>
                  <a:path h="522678" w="608271">
                    <a:moveTo>
                      <a:pt x="389492" y="248491"/>
                    </a:moveTo>
                    <a:cubicBezTo>
                      <a:pt x="425432" y="248491"/>
                      <a:pt x="459883" y="265442"/>
                      <a:pt x="481825" y="293892"/>
                    </a:cubicBezTo>
                    <a:lnTo>
                      <a:pt x="604637" y="486497"/>
                    </a:lnTo>
                    <a:cubicBezTo>
                      <a:pt x="609204" y="493733"/>
                      <a:pt x="609502" y="502952"/>
                      <a:pt x="605332" y="510486"/>
                    </a:cubicBezTo>
                    <a:cubicBezTo>
                      <a:pt x="601162" y="518019"/>
                      <a:pt x="593319" y="522678"/>
                      <a:pt x="584681" y="522678"/>
                    </a:cubicBezTo>
                    <a:cubicBezTo>
                      <a:pt x="569888" y="522678"/>
                      <a:pt x="467131" y="522381"/>
                      <a:pt x="467131" y="522381"/>
                    </a:cubicBezTo>
                    <a:cubicBezTo>
                      <a:pt x="457203" y="521290"/>
                      <a:pt x="447771" y="516037"/>
                      <a:pt x="441814" y="507115"/>
                    </a:cubicBezTo>
                    <a:lnTo>
                      <a:pt x="385123" y="423451"/>
                    </a:lnTo>
                    <a:lnTo>
                      <a:pt x="148136" y="432472"/>
                    </a:lnTo>
                    <a:cubicBezTo>
                      <a:pt x="138804" y="432869"/>
                      <a:pt x="129967" y="429498"/>
                      <a:pt x="123415" y="423650"/>
                    </a:cubicBezTo>
                    <a:lnTo>
                      <a:pt x="11920" y="325117"/>
                    </a:lnTo>
                    <a:cubicBezTo>
                      <a:pt x="-2674" y="312230"/>
                      <a:pt x="-4064" y="290026"/>
                      <a:pt x="8843" y="275454"/>
                    </a:cubicBezTo>
                    <a:cubicBezTo>
                      <a:pt x="21749" y="260882"/>
                      <a:pt x="44088" y="259494"/>
                      <a:pt x="58583" y="272381"/>
                    </a:cubicBezTo>
                    <a:lnTo>
                      <a:pt x="159554" y="361596"/>
                    </a:lnTo>
                    <a:lnTo>
                      <a:pt x="378869" y="319863"/>
                    </a:lnTo>
                    <a:lnTo>
                      <a:pt x="250596" y="333741"/>
                    </a:lnTo>
                    <a:cubicBezTo>
                      <a:pt x="231236" y="335823"/>
                      <a:pt x="213861" y="321846"/>
                      <a:pt x="211776" y="302615"/>
                    </a:cubicBezTo>
                    <a:cubicBezTo>
                      <a:pt x="209592" y="283285"/>
                      <a:pt x="223591" y="265838"/>
                      <a:pt x="242951" y="263757"/>
                    </a:cubicBezTo>
                    <a:cubicBezTo>
                      <a:pt x="388896" y="247896"/>
                      <a:pt x="380954" y="248491"/>
                      <a:pt x="389492" y="248491"/>
                    </a:cubicBezTo>
                    <a:close/>
                    <a:moveTo>
                      <a:pt x="22874" y="158631"/>
                    </a:moveTo>
                    <a:lnTo>
                      <a:pt x="352733" y="158631"/>
                    </a:lnTo>
                    <a:cubicBezTo>
                      <a:pt x="363751" y="158631"/>
                      <a:pt x="372685" y="167548"/>
                      <a:pt x="372685" y="178545"/>
                    </a:cubicBezTo>
                    <a:lnTo>
                      <a:pt x="372685" y="223129"/>
                    </a:lnTo>
                    <a:lnTo>
                      <a:pt x="240067" y="237495"/>
                    </a:lnTo>
                    <a:cubicBezTo>
                      <a:pt x="213861" y="240368"/>
                      <a:pt x="194107" y="258896"/>
                      <a:pt x="187456" y="281485"/>
                    </a:cubicBezTo>
                    <a:lnTo>
                      <a:pt x="108838" y="281485"/>
                    </a:lnTo>
                    <a:lnTo>
                      <a:pt x="76180" y="252654"/>
                    </a:lnTo>
                    <a:cubicBezTo>
                      <a:pt x="55930" y="234721"/>
                      <a:pt x="26249" y="231947"/>
                      <a:pt x="2922" y="246313"/>
                    </a:cubicBezTo>
                    <a:lnTo>
                      <a:pt x="2922" y="178545"/>
                    </a:lnTo>
                    <a:cubicBezTo>
                      <a:pt x="2922" y="167548"/>
                      <a:pt x="11856" y="158631"/>
                      <a:pt x="22874" y="158631"/>
                    </a:cubicBezTo>
                    <a:close/>
                    <a:moveTo>
                      <a:pt x="22874" y="0"/>
                    </a:moveTo>
                    <a:lnTo>
                      <a:pt x="352733" y="0"/>
                    </a:lnTo>
                    <a:cubicBezTo>
                      <a:pt x="363751" y="0"/>
                      <a:pt x="372685" y="8922"/>
                      <a:pt x="372685" y="19925"/>
                    </a:cubicBezTo>
                    <a:lnTo>
                      <a:pt x="372685" y="102999"/>
                    </a:lnTo>
                    <a:cubicBezTo>
                      <a:pt x="372685" y="114003"/>
                      <a:pt x="363751" y="122925"/>
                      <a:pt x="352733" y="122925"/>
                    </a:cubicBezTo>
                    <a:lnTo>
                      <a:pt x="22874" y="122925"/>
                    </a:lnTo>
                    <a:cubicBezTo>
                      <a:pt x="11856" y="122925"/>
                      <a:pt x="2922" y="114003"/>
                      <a:pt x="2922" y="102999"/>
                    </a:cubicBezTo>
                    <a:lnTo>
                      <a:pt x="2922" y="19925"/>
                    </a:lnTo>
                    <a:cubicBezTo>
                      <a:pt x="2922" y="8922"/>
                      <a:pt x="11856" y="0"/>
                      <a:pt x="228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descr="62d9f24c-27bb-4730-8436-810b2676a982" id="82" name="Text3">
                <a:extLst>
                  <a:ext uri="{FF2B5EF4-FFF2-40B4-BE49-F238E27FC236}">
                    <a16:creationId id="{F020078F-2662-3055-2BFC-825A30EC2D8D}"/>
                  </a:ext>
                </a:extLst>
              </p:cNvPr>
              <p:cNvSpPr/>
              <p:nvPr/>
            </p:nvSpPr>
            <p:spPr bwMode="auto">
              <a:xfrm flipH="false" flipV="false">
                <a:off x="6396861" y="4589505"/>
                <a:ext cx="2147564" cy="1309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新准则要求更深入地评估和揭示保险合同风险，倒逼公司完善风险管理体系，提升稳健经营能力。</a:t>
                </a:r>
              </a:p>
            </p:txBody>
          </p:sp>
        </p:grpSp>
        <p:grpSp>
          <p:nvGrpSpPr>
            <p:cNvPr descr="1dec970f-16b9-4d43-a726-1a7906530a25" id="29" name="组合 28">
              <a:extLst>
                <a:ext uri="{FF2B5EF4-FFF2-40B4-BE49-F238E27FC236}">
                  <a16:creationId id="{66CCB069-63DC-BB48-5B51-9CDC199CF693}"/>
                </a:ext>
              </a:extLst>
            </p:cNvPr>
            <p:cNvGrpSpPr/>
            <p:nvPr/>
          </p:nvGrpSpPr>
          <p:grpSpPr>
            <a:xfrm>
              <a:off x="9068305" y="2325002"/>
              <a:ext cx="2147564" cy="3573993"/>
              <a:chOff x="9068305" y="2325002"/>
              <a:chExt cx="2147564" cy="3573993"/>
            </a:xfrm>
          </p:grpSpPr>
          <p:sp>
            <p:nvSpPr>
              <p:cNvPr descr="7c86549a-243c-42cc-9641-6ac4ab3d4507" id="19" name="Number4">
                <a:extLst>
                  <a:ext uri="{FF2B5EF4-FFF2-40B4-BE49-F238E27FC236}">
                    <a16:creationId id="{4A9B1909-454C-EC13-FB4F-5D09CD763A54}"/>
                  </a:ext>
                </a:extLst>
              </p:cNvPr>
              <p:cNvSpPr txBox="1"/>
              <p:nvPr/>
            </p:nvSpPr>
            <p:spPr>
              <a:xfrm flipH="false" flipV="false">
                <a:off x="9168581" y="2325002"/>
                <a:ext cx="1959623" cy="580822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2F2F2F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descr="cd42ac5e-5851-4dd1-a2cd-3984f8d57f1f" id="20" name="Bullet4">
                <a:extLst>
                  <a:ext uri="{FF2B5EF4-FFF2-40B4-BE49-F238E27FC236}">
                    <a16:creationId id="{82780223-E31E-4E47-4E52-F9B492B54883}"/>
                  </a:ext>
                </a:extLst>
              </p:cNvPr>
              <p:cNvSpPr/>
              <p:nvPr/>
            </p:nvSpPr>
            <p:spPr>
              <a:xfrm flipH="false" flipV="false">
                <a:off x="9267280" y="4071632"/>
                <a:ext cx="1762226" cy="37682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 fontScale="85000" lnSpcReduction="10000"/>
              </a:bodyPr>
              <a:lstStyle>
                <a:defPPr>
                  <a:defRPr lang="en-US"/>
                </a:defPPr>
                <a:lvl1pPr algn="l" defTabSz="4572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4572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4572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4572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4572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4572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4572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4572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4572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推动业务转型</a:t>
                </a:r>
              </a:p>
            </p:txBody>
          </p:sp>
          <p:sp>
            <p:nvSpPr>
              <p:cNvPr descr="e24d3474-d451-4a02-86a8-3f19e370361e" id="24" name="Icon4">
                <a:extLst>
                  <a:ext uri="{FF2B5EF4-FFF2-40B4-BE49-F238E27FC236}">
                    <a16:creationId id="{8FE927BE-1331-BF67-90A6-64C4E4DC2EB1}"/>
                  </a:ext>
                </a:extLst>
              </p:cNvPr>
              <p:cNvSpPr/>
              <p:nvPr/>
            </p:nvSpPr>
            <p:spPr bwMode="auto">
              <a:xfrm flipH="false" flipV="false">
                <a:off x="9870368" y="3261806"/>
                <a:ext cx="543438" cy="441200"/>
              </a:xfrm>
              <a:custGeom>
                <a:avLst/>
                <a:gdLst>
                  <a:gd fmla="*/ 0 w 607639" name="connsiteX0"/>
                  <a:gd fmla="*/ 248461 h 493323" name="connsiteY0"/>
                  <a:gd fmla="*/ 273068 w 607639" name="connsiteX1"/>
                  <a:gd fmla="*/ 400711 h 493323" name="connsiteY1"/>
                  <a:gd fmla="*/ 303775 w 607639" name="connsiteX2"/>
                  <a:gd fmla="*/ 408710 h 493323" name="connsiteY2"/>
                  <a:gd fmla="*/ 334571 w 607639" name="connsiteX3"/>
                  <a:gd fmla="*/ 400711 h 493323" name="connsiteY3"/>
                  <a:gd fmla="*/ 607639 w 607639" name="connsiteX4"/>
                  <a:gd fmla="*/ 248461 h 493323" name="connsiteY4"/>
                  <a:gd fmla="*/ 607639 w 607639" name="connsiteX5"/>
                  <a:gd fmla="*/ 472348 h 493323" name="connsiteY5"/>
                  <a:gd fmla="*/ 586545 w 607639" name="connsiteX6"/>
                  <a:gd fmla="*/ 493323 h 493323" name="connsiteY6"/>
                  <a:gd fmla="*/ 21005 w 607639" name="connsiteX7"/>
                  <a:gd fmla="*/ 493323 h 493323" name="connsiteY7"/>
                  <a:gd fmla="*/ 0 w 607639" name="connsiteX8"/>
                  <a:gd fmla="*/ 472348 h 493323" name="connsiteY8"/>
                  <a:gd fmla="*/ 238623 w 607639" name="connsiteX9"/>
                  <a:gd fmla="*/ 42741 h 493323" name="connsiteY9"/>
                  <a:gd fmla="*/ 238623 w 607639" name="connsiteX10"/>
                  <a:gd fmla="*/ 84683 h 493323" name="connsiteY10"/>
                  <a:gd fmla="*/ 369016 w 607639" name="connsiteX11"/>
                  <a:gd fmla="*/ 84683 h 493323" name="connsiteY11"/>
                  <a:gd fmla="*/ 369016 w 607639" name="connsiteX12"/>
                  <a:gd fmla="*/ 42741 h 493323" name="connsiteY12"/>
                  <a:gd fmla="*/ 217618 w 607639" name="connsiteX13"/>
                  <a:gd fmla="*/ 0 h 493323" name="connsiteY13"/>
                  <a:gd fmla="*/ 390021 w 607639" name="connsiteX14"/>
                  <a:gd fmla="*/ 0 h 493323" name="connsiteY14"/>
                  <a:gd fmla="*/ 411026 w 607639" name="connsiteX15"/>
                  <a:gd fmla="*/ 20971 h 493323" name="connsiteY15"/>
                  <a:gd fmla="*/ 411026 w 607639" name="connsiteX16"/>
                  <a:gd fmla="*/ 84683 h 493323" name="connsiteY16"/>
                  <a:gd fmla="*/ 586545 w 607639" name="connsiteX17"/>
                  <a:gd fmla="*/ 84683 h 493323" name="connsiteY17"/>
                  <a:gd fmla="*/ 607639 w 607639" name="connsiteX18"/>
                  <a:gd fmla="*/ 105653 h 493323" name="connsiteY18"/>
                  <a:gd fmla="*/ 607639 w 607639" name="connsiteX19"/>
                  <a:gd fmla="*/ 188025 h 493323" name="connsiteY19"/>
                  <a:gd fmla="*/ 596869 w 607639" name="connsiteX20"/>
                  <a:gd fmla="*/ 206330 h 493323" name="connsiteY20"/>
                  <a:gd fmla="*/ 341691 w 607639" name="connsiteX21"/>
                  <a:gd fmla="*/ 348593 h 493323" name="connsiteY21"/>
                  <a:gd fmla="*/ 341691 w 607639" name="connsiteX22"/>
                  <a:gd fmla="*/ 301409 h 493323" name="connsiteY22"/>
                  <a:gd fmla="*/ 329142 w 607639" name="connsiteX23"/>
                  <a:gd fmla="*/ 288969 h 493323" name="connsiteY23"/>
                  <a:gd fmla="*/ 278409 w 607639" name="connsiteX24"/>
                  <a:gd fmla="*/ 288969 h 493323" name="connsiteY24"/>
                  <a:gd fmla="*/ 265948 w 607639" name="connsiteX25"/>
                  <a:gd fmla="*/ 301409 h 493323" name="connsiteY25"/>
                  <a:gd fmla="*/ 265948 w 607639" name="connsiteX26"/>
                  <a:gd fmla="*/ 348593 h 493323" name="connsiteY26"/>
                  <a:gd fmla="*/ 10770 w 607639" name="connsiteX27"/>
                  <a:gd fmla="*/ 206330 h 493323" name="connsiteY27"/>
                  <a:gd fmla="*/ 0 w 607639" name="connsiteX28"/>
                  <a:gd fmla="*/ 188025 h 493323" name="connsiteY28"/>
                  <a:gd fmla="*/ 0 w 607639" name="connsiteX29"/>
                  <a:gd fmla="*/ 105653 h 493323" name="connsiteY29"/>
                  <a:gd fmla="*/ 21005 w 607639" name="connsiteX30"/>
                  <a:gd fmla="*/ 84683 h 493323" name="connsiteY30"/>
                  <a:gd fmla="*/ 196613 w 607639" name="connsiteX31"/>
                  <a:gd fmla="*/ 84683 h 493323" name="connsiteY31"/>
                  <a:gd fmla="*/ 196613 w 607639" name="connsiteX32"/>
                  <a:gd fmla="*/ 20971 h 493323" name="connsiteY32"/>
                  <a:gd fmla="*/ 217618 w 607639" name="connsiteX33"/>
                  <a:gd fmla="*/ 0 h 493323" name="connsiteY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b="b" l="l" r="r" t="t"/>
                <a:pathLst>
                  <a:path h="493323" w="607639">
                    <a:moveTo>
                      <a:pt x="0" y="248461"/>
                    </a:moveTo>
                    <a:lnTo>
                      <a:pt x="273068" y="400711"/>
                    </a:lnTo>
                    <a:cubicBezTo>
                      <a:pt x="282414" y="405955"/>
                      <a:pt x="293094" y="408710"/>
                      <a:pt x="303775" y="408710"/>
                    </a:cubicBezTo>
                    <a:cubicBezTo>
                      <a:pt x="314545" y="408710"/>
                      <a:pt x="325136" y="405955"/>
                      <a:pt x="334571" y="400711"/>
                    </a:cubicBezTo>
                    <a:lnTo>
                      <a:pt x="607639" y="248461"/>
                    </a:lnTo>
                    <a:lnTo>
                      <a:pt x="607639" y="472348"/>
                    </a:lnTo>
                    <a:cubicBezTo>
                      <a:pt x="607639" y="483902"/>
                      <a:pt x="598204" y="493323"/>
                      <a:pt x="586545" y="493323"/>
                    </a:cubicBezTo>
                    <a:lnTo>
                      <a:pt x="21005" y="493323"/>
                    </a:lnTo>
                    <a:cubicBezTo>
                      <a:pt x="9435" y="493323"/>
                      <a:pt x="0" y="483902"/>
                      <a:pt x="0" y="472348"/>
                    </a:cubicBezTo>
                    <a:close/>
                    <a:moveTo>
                      <a:pt x="238623" y="42741"/>
                    </a:moveTo>
                    <a:lnTo>
                      <a:pt x="238623" y="84683"/>
                    </a:lnTo>
                    <a:lnTo>
                      <a:pt x="369016" y="84683"/>
                    </a:lnTo>
                    <a:lnTo>
                      <a:pt x="369016" y="42741"/>
                    </a:lnTo>
                    <a:close/>
                    <a:moveTo>
                      <a:pt x="217618" y="0"/>
                    </a:moveTo>
                    <a:lnTo>
                      <a:pt x="390021" y="0"/>
                    </a:lnTo>
                    <a:cubicBezTo>
                      <a:pt x="401592" y="0"/>
                      <a:pt x="411026" y="9419"/>
                      <a:pt x="411026" y="20971"/>
                    </a:cubicBezTo>
                    <a:lnTo>
                      <a:pt x="411026" y="84683"/>
                    </a:lnTo>
                    <a:lnTo>
                      <a:pt x="586545" y="84683"/>
                    </a:lnTo>
                    <a:cubicBezTo>
                      <a:pt x="598204" y="84683"/>
                      <a:pt x="607639" y="94102"/>
                      <a:pt x="607639" y="105653"/>
                    </a:cubicBezTo>
                    <a:lnTo>
                      <a:pt x="607639" y="188025"/>
                    </a:lnTo>
                    <a:cubicBezTo>
                      <a:pt x="607639" y="195667"/>
                      <a:pt x="603456" y="202687"/>
                      <a:pt x="596869" y="206330"/>
                    </a:cubicBezTo>
                    <a:lnTo>
                      <a:pt x="341691" y="348593"/>
                    </a:lnTo>
                    <a:lnTo>
                      <a:pt x="341691" y="301409"/>
                    </a:lnTo>
                    <a:cubicBezTo>
                      <a:pt x="341691" y="294567"/>
                      <a:pt x="336084" y="288969"/>
                      <a:pt x="329142" y="288969"/>
                    </a:cubicBezTo>
                    <a:lnTo>
                      <a:pt x="278409" y="288969"/>
                    </a:lnTo>
                    <a:cubicBezTo>
                      <a:pt x="271555" y="288969"/>
                      <a:pt x="265948" y="294567"/>
                      <a:pt x="265948" y="301409"/>
                    </a:cubicBezTo>
                    <a:lnTo>
                      <a:pt x="265948" y="348593"/>
                    </a:lnTo>
                    <a:lnTo>
                      <a:pt x="10770" y="206330"/>
                    </a:lnTo>
                    <a:cubicBezTo>
                      <a:pt x="4094" y="202687"/>
                      <a:pt x="0" y="195667"/>
                      <a:pt x="0" y="188025"/>
                    </a:cubicBezTo>
                    <a:lnTo>
                      <a:pt x="0" y="105653"/>
                    </a:lnTo>
                    <a:cubicBezTo>
                      <a:pt x="0" y="94102"/>
                      <a:pt x="9435" y="84683"/>
                      <a:pt x="21005" y="84683"/>
                    </a:cubicBezTo>
                    <a:lnTo>
                      <a:pt x="196613" y="84683"/>
                    </a:lnTo>
                    <a:lnTo>
                      <a:pt x="196613" y="20971"/>
                    </a:lnTo>
                    <a:cubicBezTo>
                      <a:pt x="196613" y="9419"/>
                      <a:pt x="205958" y="0"/>
                      <a:pt x="217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descr="b1044282-ef28-4814-9741-be926e296c30" id="83" name="Text4">
                <a:extLst>
                  <a:ext uri="{FF2B5EF4-FFF2-40B4-BE49-F238E27FC236}">
                    <a16:creationId id="{0DAD2784-2356-1B85-2459-3B790444559E}"/>
                  </a:ext>
                </a:extLst>
              </p:cNvPr>
              <p:cNvSpPr/>
              <p:nvPr/>
            </p:nvSpPr>
            <p:spPr bwMode="auto">
              <a:xfrm flipH="false" flipV="false">
                <a:off x="9068305" y="4589505"/>
                <a:ext cx="2147564" cy="1309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促使公司反思现有商业模式，从追求规模转向注重价值和利润，推动产品创新和服务升级。</a:t>
                </a:r>
              </a:p>
            </p:txBody>
          </p: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长期影响与价值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22d57004-0daa-487b-8d0e-69d3d64df6d0" id="9" name="2848c8df-724a-4ef5-8db2-8cfcfa9f0f21.source.4.zh-Hans.pptx">
            <a:extLst>
              <a:ext uri="{FF2B5EF4-FFF2-40B4-BE49-F238E27FC236}">
                <a16:creationId id="{E13383B6-794D-F54E-327F-3C4EE2A11002}"/>
              </a:ext>
            </a:extLst>
          </p:cNvPr>
          <p:cNvGrpSpPr/>
          <p:nvPr/>
        </p:nvGrpSpPr>
        <p:grpSpPr>
          <a:xfrm>
            <a:off x="-1" y="0"/>
            <a:ext cx="12192000" cy="6858000"/>
            <a:chOff x="-1" y="0"/>
            <a:chExt cx="12192000" cy="6858000"/>
          </a:xfrm>
        </p:grpSpPr>
        <p:sp>
          <p:nvSpPr>
            <p:cNvPr descr="5f24a79f-03a1-4797-8349-ce27cfcf631a" id="82" name="矩形 81">
              <a:extLst>
                <a:ext uri="{FF2B5EF4-FFF2-40B4-BE49-F238E27FC236}">
                  <a16:creationId id="{FFFB430E-E3AC-4879-98C9-6BFB0078A242}"/>
                </a:ext>
              </a:extLst>
            </p:cNvPr>
            <p:cNvSpPr/>
            <p:nvPr/>
          </p:nvSpPr>
          <p:spPr>
            <a:xfrm flipH="false" flipV="false" rot="16200000">
              <a:off x="8677274" y="3343274"/>
              <a:ext cx="171450" cy="685800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"/>
              </a:schemeClr>
            </a:soli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6ec14d72-e34c-484e-b916-3138344c2a6c" id="83" name="矩形 82">
              <a:extLst>
                <a:ext uri="{FF2B5EF4-FFF2-40B4-BE49-F238E27FC236}">
                  <a16:creationId id="{CD8ED279-578F-4049-9822-54ADEE850A48}"/>
                </a:ext>
              </a:extLst>
            </p:cNvPr>
            <p:cNvSpPr/>
            <p:nvPr/>
          </p:nvSpPr>
          <p:spPr>
            <a:xfrm flipH="false" flipV="false" rot="16200000">
              <a:off x="9333609" y="3755134"/>
              <a:ext cx="171450" cy="554533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000"/>
              </a:schemeClr>
            </a:soli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0314e3f5-e6b1-4d89-916e-5adf38a8bcbe" id="84" name="矩形 83">
              <a:extLst>
                <a:ext uri="{FF2B5EF4-FFF2-40B4-BE49-F238E27FC236}">
                  <a16:creationId id="{23D6D9EA-7A7C-405A-A266-D5F70F86A704}"/>
                </a:ext>
              </a:extLst>
            </p:cNvPr>
            <p:cNvSpPr/>
            <p:nvPr/>
          </p:nvSpPr>
          <p:spPr>
            <a:xfrm flipH="false" flipV="false" rot="16200000">
              <a:off x="10615250" y="4792302"/>
              <a:ext cx="171450" cy="2982044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"/>
              </a:schemeClr>
            </a:soli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db866a41-a34d-4af7-a970-292750823ce2" id="78" name="矩形 77">
              <a:extLst>
                <a:ext uri="{FF2B5EF4-FFF2-40B4-BE49-F238E27FC236}">
                  <a16:creationId id="{0C3A5C92-A321-4E26-9DBA-01C93DCF5F56}"/>
                </a:ext>
              </a:extLst>
            </p:cNvPr>
            <p:cNvSpPr/>
            <p:nvPr/>
          </p:nvSpPr>
          <p:spPr>
            <a:xfrm flipH="false" flipV="false" rot="5400000">
              <a:off x="3343275" y="-3343275"/>
              <a:ext cx="17145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"/>
              </a:schemeClr>
            </a:soli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83ae20c5-d386-484d-a326-1aabfde305eb" id="79" name="矩形 78">
              <a:extLst>
                <a:ext uri="{FF2B5EF4-FFF2-40B4-BE49-F238E27FC236}">
                  <a16:creationId id="{C89BA354-CB44-4C6E-98CD-9C0FACEB5527}"/>
                </a:ext>
              </a:extLst>
            </p:cNvPr>
            <p:cNvSpPr/>
            <p:nvPr/>
          </p:nvSpPr>
          <p:spPr>
            <a:xfrm flipH="false" flipV="false" rot="5400000">
              <a:off x="2686940" y="-2442465"/>
              <a:ext cx="171450" cy="554533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000"/>
              </a:schemeClr>
            </a:soli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a7a8c80d-71e9-4d26-a5da-cad80a97ab6b" id="80" name="矩形 79">
              <a:extLst>
                <a:ext uri="{FF2B5EF4-FFF2-40B4-BE49-F238E27FC236}">
                  <a16:creationId id="{C92647AC-608C-4A6B-BC69-B87417A30C04}"/>
                </a:ext>
              </a:extLst>
            </p:cNvPr>
            <p:cNvSpPr/>
            <p:nvPr/>
          </p:nvSpPr>
          <p:spPr>
            <a:xfrm flipH="false" flipV="false" rot="5400000">
              <a:off x="1405299" y="-916347"/>
              <a:ext cx="171450" cy="2982044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"/>
              </a:schemeClr>
            </a:soli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42c5d7aa-8195-4097-8480-7c86b52472bd" id="3" name="Title">
              <a:extLst>
                <a:ext uri="{FF2B5EF4-FFF2-40B4-BE49-F238E27FC236}">
                  <a16:creationId id="{0CAA7170-C390-D896-02FC-856AA54A9B62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在新准则下寻找新的增长点和竞争发力点</a:t>
              </a:r>
            </a:p>
          </p:txBody>
        </p:sp>
        <p:grpSp>
          <p:nvGrpSpPr>
            <p:cNvPr descr="6dd6c69a-232e-4a16-bbf5-8c8f5d89ad95" id="5" name="组合 4">
              <a:extLst>
                <a:ext uri="{FF2B5EF4-FFF2-40B4-BE49-F238E27FC236}">
                  <a16:creationId id="{8D902857-F0EE-6310-9DB0-7FD46A61AA45}"/>
                </a:ext>
              </a:extLst>
            </p:cNvPr>
            <p:cNvGrpSpPr/>
            <p:nvPr/>
          </p:nvGrpSpPr>
          <p:grpSpPr>
            <a:xfrm>
              <a:off x="1497013" y="2323919"/>
              <a:ext cx="4491265" cy="1626951"/>
              <a:chOff x="1497013" y="2323919"/>
              <a:chExt cx="4491265" cy="1626951"/>
            </a:xfrm>
          </p:grpSpPr>
          <p:sp>
            <p:nvSpPr>
              <p:cNvPr descr="3cab2783-df79-4f57-845b-7c5166049904" id="46" name="Number1">
                <a:extLst>
                  <a:ext uri="{FF2B5EF4-FFF2-40B4-BE49-F238E27FC236}">
                    <a16:creationId id="{BC4BA6F7-FCEE-4386-9A0B-5A4425D02115}"/>
                  </a:ext>
                </a:extLst>
              </p:cNvPr>
              <p:cNvSpPr txBox="1"/>
              <p:nvPr/>
            </p:nvSpPr>
            <p:spPr>
              <a:xfrm flipH="false" flipV="false">
                <a:off x="1497013" y="2360078"/>
                <a:ext cx="1203841" cy="1015663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square">
                <a:spAutoFit/>
              </a:bodyPr>
              <a:lstStyle>
                <a:defPPr>
                  <a:defRPr lang="zh-CN"/>
                </a:defPPr>
                <a:lvl1pPr>
                  <a:defRPr b="0" i="0" sz="60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false" i="false" lang="en-US" sz="6000" u="none">
                    <a:solidFill>
                      <a:srgbClr val="3E3318"/>
                    </a:solidFill>
                    <a:latin typeface="Arial"/>
                  </a:rPr>
                  <a:t>O1</a:t>
                </a:r>
              </a:p>
            </p:txBody>
          </p:sp>
          <p:sp>
            <p:nvSpPr>
              <p:cNvPr descr="8e5a13a9-6220-4b07-9600-a579c8cc2cc6" id="48" name="Bullet1">
                <a:extLst>
                  <a:ext uri="{FF2B5EF4-FFF2-40B4-BE49-F238E27FC236}">
                    <a16:creationId id="{3DE4B751-944A-41DD-B315-02984767AD3A}"/>
                  </a:ext>
                </a:extLst>
              </p:cNvPr>
              <p:cNvSpPr txBox="1"/>
              <p:nvPr/>
            </p:nvSpPr>
            <p:spPr>
              <a:xfrm flipH="false" flipV="false">
                <a:off x="2700856" y="2323919"/>
                <a:ext cx="3287422" cy="482120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b="1" baseline="0" cap="none" i="0" kumimoji="0" normalizeH="0" spc="0" strike="noStrike" sz="12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优化产品结构</a:t>
                </a:r>
              </a:p>
            </p:txBody>
          </p:sp>
          <p:sp>
            <p:nvSpPr>
              <p:cNvPr descr="d166f2f0-5a6c-474a-a6d4-d9fc535c2c32" id="49" name="Text1">
                <a:extLst>
                  <a:ext uri="{FF2B5EF4-FFF2-40B4-BE49-F238E27FC236}">
                    <a16:creationId id="{FAF8A52B-6EEA-48D2-A06D-43B8C20EC132}"/>
                  </a:ext>
                </a:extLst>
              </p:cNvPr>
              <p:cNvSpPr txBox="1"/>
              <p:nvPr/>
            </p:nvSpPr>
            <p:spPr>
              <a:xfrm flipH="false" flipV="false">
                <a:off x="2700854" y="2819760"/>
                <a:ext cx="3287421" cy="113111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baseline="0" cap="none" i="0" kumimoji="0" normalizeH="0" spc="0" strike="noStrike" sz="9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基于新准则的盈利性分析，主动调整产品策略，开发和销售盈利能力更强的保险产品。</a:t>
                </a:r>
              </a:p>
            </p:txBody>
          </p:sp>
        </p:grpSp>
        <p:grpSp>
          <p:nvGrpSpPr>
            <p:cNvPr descr="aa14fb1c-60c3-4f71-a3c2-9b7541efe7d7" id="6" name="组合 5">
              <a:extLst>
                <a:ext uri="{FF2B5EF4-FFF2-40B4-BE49-F238E27FC236}">
                  <a16:creationId id="{B487B0A2-0685-AF67-C3DB-676B7CEB75CA}"/>
                </a:ext>
              </a:extLst>
            </p:cNvPr>
            <p:cNvGrpSpPr/>
            <p:nvPr/>
          </p:nvGrpSpPr>
          <p:grpSpPr>
            <a:xfrm>
              <a:off x="6089650" y="2323919"/>
              <a:ext cx="4491265" cy="1626951"/>
              <a:chOff x="6089650" y="2323919"/>
              <a:chExt cx="4491265" cy="1626951"/>
            </a:xfrm>
          </p:grpSpPr>
          <p:sp>
            <p:nvSpPr>
              <p:cNvPr descr="c884561c-fd00-4e3c-90c1-3a379007075c" id="51" name="Number2">
                <a:extLst>
                  <a:ext uri="{FF2B5EF4-FFF2-40B4-BE49-F238E27FC236}">
                    <a16:creationId id="{63CF719D-B098-41A8-8A01-0424E5D8DA40}"/>
                  </a:ext>
                </a:extLst>
              </p:cNvPr>
              <p:cNvSpPr txBox="1"/>
              <p:nvPr/>
            </p:nvSpPr>
            <p:spPr>
              <a:xfrm flipH="false" flipV="false">
                <a:off x="6089650" y="2360078"/>
                <a:ext cx="1203841" cy="1015663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square">
                <a:spAutoFit/>
              </a:bodyPr>
              <a:lstStyle>
                <a:defPPr>
                  <a:defRPr lang="zh-CN"/>
                </a:defPPr>
                <a:lvl1pPr>
                  <a:defRPr b="0" i="0" sz="60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false" i="false" lang="en-US" sz="6000" u="none">
                    <a:solidFill>
                      <a:srgbClr val="3E3318"/>
                    </a:solidFill>
                    <a:latin typeface="Arial"/>
                  </a:rPr>
                  <a:t>O2</a:t>
                </a:r>
              </a:p>
            </p:txBody>
          </p:sp>
          <p:sp>
            <p:nvSpPr>
              <p:cNvPr descr="56b0b3c0-00f6-4837-bd35-6ad72ead4cb3" id="54" name="Bullet2">
                <a:extLst>
                  <a:ext uri="{FF2B5EF4-FFF2-40B4-BE49-F238E27FC236}">
                    <a16:creationId id="{6E4CDC1E-28A8-437C-B693-B09EEBFA5254}"/>
                  </a:ext>
                </a:extLst>
              </p:cNvPr>
              <p:cNvSpPr txBox="1"/>
              <p:nvPr/>
            </p:nvSpPr>
            <p:spPr>
              <a:xfrm flipH="false" flipV="false">
                <a:off x="7293493" y="2323919"/>
                <a:ext cx="3287422" cy="482120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b="1" baseline="0" cap="none" i="0" kumimoji="0" normalizeH="0" spc="0" strike="noStrike" sz="12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精细化管理</a:t>
                </a:r>
              </a:p>
            </p:txBody>
          </p:sp>
          <p:sp>
            <p:nvSpPr>
              <p:cNvPr descr="c1c42935-e7ca-4a60-af5f-8e552078226a" id="55" name="Text2">
                <a:extLst>
                  <a:ext uri="{FF2B5EF4-FFF2-40B4-BE49-F238E27FC236}">
                    <a16:creationId id="{F53D9D83-AFD5-451D-AC84-48AC9796534B}"/>
                  </a:ext>
                </a:extLst>
              </p:cNvPr>
              <p:cNvSpPr txBox="1"/>
              <p:nvPr/>
            </p:nvSpPr>
            <p:spPr>
              <a:xfrm flipH="false" flipV="false">
                <a:off x="7293491" y="2819760"/>
                <a:ext cx="3287421" cy="113111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baseline="0" cap="none" i="0" kumimoji="0" normalizeH="0" spc="0" strike="noStrike" sz="9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利用新准则带来的数据红利，深化客户洞察，实现精准定价、精准营销和精细化管理。</a:t>
                </a:r>
              </a:p>
            </p:txBody>
          </p:sp>
        </p:grpSp>
        <p:grpSp>
          <p:nvGrpSpPr>
            <p:cNvPr descr="9fa0b535-2dad-4e1c-8086-3a8e1a1d31fc" id="7" name="组合 6">
              <a:extLst>
                <a:ext uri="{FF2B5EF4-FFF2-40B4-BE49-F238E27FC236}">
                  <a16:creationId id="{A51F7E4A-314A-E022-E1CA-611DC965E303}"/>
                </a:ext>
              </a:extLst>
            </p:cNvPr>
            <p:cNvGrpSpPr/>
            <p:nvPr/>
          </p:nvGrpSpPr>
          <p:grpSpPr>
            <a:xfrm>
              <a:off x="1497013" y="4100749"/>
              <a:ext cx="4491265" cy="1626951"/>
              <a:chOff x="1497013" y="4100749"/>
              <a:chExt cx="4491265" cy="1626951"/>
            </a:xfrm>
          </p:grpSpPr>
          <p:sp>
            <p:nvSpPr>
              <p:cNvPr descr="7cc41de0-c259-475a-a3e7-f7875f606c54" id="57" name="Number3">
                <a:extLst>
                  <a:ext uri="{FF2B5EF4-FFF2-40B4-BE49-F238E27FC236}">
                    <a16:creationId id="{47706CC9-5293-4E2E-AB43-E5919F3A8D31}"/>
                  </a:ext>
                </a:extLst>
              </p:cNvPr>
              <p:cNvSpPr txBox="1"/>
              <p:nvPr/>
            </p:nvSpPr>
            <p:spPr>
              <a:xfrm flipH="false" flipV="false">
                <a:off x="1497013" y="4136908"/>
                <a:ext cx="1203841" cy="1015663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square">
                <a:spAutoFit/>
              </a:bodyPr>
              <a:lstStyle>
                <a:defPPr>
                  <a:defRPr lang="zh-CN"/>
                </a:defPPr>
                <a:lvl1pPr>
                  <a:defRPr b="0" i="0" sz="60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false" i="false" lang="en-US" sz="6000" u="none">
                    <a:solidFill>
                      <a:srgbClr val="3E3318"/>
                    </a:solidFill>
                    <a:latin typeface="Arial"/>
                  </a:rPr>
                  <a:t>O3</a:t>
                </a:r>
              </a:p>
            </p:txBody>
          </p:sp>
          <p:sp>
            <p:nvSpPr>
              <p:cNvPr descr="b443fe6a-5525-4ff4-a8c1-a6aefdae7476" id="59" name="Bullet3">
                <a:extLst>
                  <a:ext uri="{FF2B5EF4-FFF2-40B4-BE49-F238E27FC236}">
                    <a16:creationId id="{1200A5C1-DDE3-4CBF-B418-477BE1CB0598}"/>
                  </a:ext>
                </a:extLst>
              </p:cNvPr>
              <p:cNvSpPr txBox="1"/>
              <p:nvPr/>
            </p:nvSpPr>
            <p:spPr>
              <a:xfrm flipH="false" flipV="false">
                <a:off x="2700856" y="4100749"/>
                <a:ext cx="3287422" cy="482120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b="1" baseline="0" cap="none" i="0" kumimoji="0" normalizeH="0" spc="0" strike="noStrike" sz="12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加强资本管理</a:t>
                </a:r>
              </a:p>
            </p:txBody>
          </p:sp>
          <p:sp>
            <p:nvSpPr>
              <p:cNvPr descr="e2552497-1319-4bd4-9ab0-046243a4cb8b" id="60" name="Text3">
                <a:extLst>
                  <a:ext uri="{FF2B5EF4-FFF2-40B4-BE49-F238E27FC236}">
                    <a16:creationId id="{7E85E0A9-649A-4DDA-A809-3F7E5F9311F3}"/>
                  </a:ext>
                </a:extLst>
              </p:cNvPr>
              <p:cNvSpPr txBox="1"/>
              <p:nvPr/>
            </p:nvSpPr>
            <p:spPr>
              <a:xfrm flipH="false" flipV="false">
                <a:off x="2700854" y="4596590"/>
                <a:ext cx="3287421" cy="113111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baseline="0" cap="none" i="0" kumimoji="0" normalizeH="0" spc="0" strike="noStrike" sz="9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建立与新准则相适应的动态资本管理机制，优化资本结构，提升资本使用效率。</a:t>
                </a:r>
              </a:p>
            </p:txBody>
          </p:sp>
        </p:grpSp>
        <p:grpSp>
          <p:nvGrpSpPr>
            <p:cNvPr descr="4e3861aa-4d65-4063-a84a-52d8e0b6f823" id="8" name="组合 7">
              <a:extLst>
                <a:ext uri="{FF2B5EF4-FFF2-40B4-BE49-F238E27FC236}">
                  <a16:creationId id="{75BB8279-D01D-CDB4-DF47-E5A0D7C7C8D7}"/>
                </a:ext>
              </a:extLst>
            </p:cNvPr>
            <p:cNvGrpSpPr/>
            <p:nvPr/>
          </p:nvGrpSpPr>
          <p:grpSpPr>
            <a:xfrm>
              <a:off x="6089650" y="4100749"/>
              <a:ext cx="4491265" cy="1626951"/>
              <a:chOff x="6089650" y="4100749"/>
              <a:chExt cx="4491265" cy="1626951"/>
            </a:xfrm>
          </p:grpSpPr>
          <p:sp>
            <p:nvSpPr>
              <p:cNvPr descr="26cbfe12-bcc1-4bc4-838a-ba3887482efd" id="62" name="Number4">
                <a:extLst>
                  <a:ext uri="{FF2B5EF4-FFF2-40B4-BE49-F238E27FC236}">
                    <a16:creationId id="{B125D9B3-421C-4C46-A4C6-2995AA4016A2}"/>
                  </a:ext>
                </a:extLst>
              </p:cNvPr>
              <p:cNvSpPr txBox="1"/>
              <p:nvPr/>
            </p:nvSpPr>
            <p:spPr>
              <a:xfrm flipH="false" flipV="false">
                <a:off x="6089650" y="4136908"/>
                <a:ext cx="1203841" cy="1015663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square">
                <a:spAutoFit/>
              </a:bodyPr>
              <a:lstStyle>
                <a:defPPr>
                  <a:defRPr lang="zh-CN"/>
                </a:defPPr>
                <a:lvl1pPr>
                  <a:defRPr b="0" i="0" sz="60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false" i="false" lang="en-US" sz="6000" u="none">
                    <a:solidFill>
                      <a:srgbClr val="3E3318"/>
                    </a:solidFill>
                    <a:latin typeface="Arial"/>
                  </a:rPr>
                  <a:t>O4</a:t>
                </a:r>
              </a:p>
            </p:txBody>
          </p:sp>
          <p:sp>
            <p:nvSpPr>
              <p:cNvPr descr="33337f84-5571-43f1-a884-ca6a65542b78" id="69" name="Bullet4">
                <a:extLst>
                  <a:ext uri="{FF2B5EF4-FFF2-40B4-BE49-F238E27FC236}">
                    <a16:creationId id="{0325090C-C479-454A-B791-E021B067324D}"/>
                  </a:ext>
                </a:extLst>
              </p:cNvPr>
              <p:cNvSpPr txBox="1"/>
              <p:nvPr/>
            </p:nvSpPr>
            <p:spPr>
              <a:xfrm flipH="false" flipV="false">
                <a:off x="7293493" y="4100749"/>
                <a:ext cx="3287422" cy="482120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b="1" baseline="0" cap="none" i="0" kumimoji="0" normalizeH="0" spc="0" strike="noStrike" sz="12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重塑竞争优势</a:t>
                </a:r>
              </a:p>
            </p:txBody>
          </p:sp>
          <p:sp>
            <p:nvSpPr>
              <p:cNvPr descr="455776ff-b0cf-4d03-80ec-8507c1e32073" id="70" name="Text4">
                <a:extLst>
                  <a:ext uri="{FF2B5EF4-FFF2-40B4-BE49-F238E27FC236}">
                    <a16:creationId id="{A32A23BC-FBFA-4AD7-917F-2269AFCF860A}"/>
                  </a:ext>
                </a:extLst>
              </p:cNvPr>
              <p:cNvSpPr txBox="1"/>
              <p:nvPr/>
            </p:nvSpPr>
            <p:spPr>
              <a:xfrm flipH="false" flipV="false">
                <a:off x="7293491" y="4596590"/>
                <a:ext cx="3287421" cy="113111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baseline="0" cap="none" i="0" kumimoji="0" normalizeH="0" spc="0" strike="noStrike" sz="900" u="none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将实施新准则作为提升公司综合治理能力和核心竞争力的契机，最终实现行业的领先地位。</a:t>
                </a:r>
              </a:p>
            </p:txBody>
          </p:sp>
        </p:grpSp>
      </p:grpSp>
      <p:sp>
        <p:nvSpPr>
          <p:cNvPr descr="f33604a3-2010-4994-9f9d-17325fbe1bf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把握机遇实现跨越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e9b906f-59e6-4be4-a733-2c94d8d94d70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ea typeface="微软雅黑"/>
              </a:rPr>
              <a:t>谢谢观看</a:t>
            </a:r>
          </a:p>
        </p:txBody>
      </p:sp>
      <p:sp>
        <p:nvSpPr>
          <p:cNvPr descr="9842426a-41c9-4acb-9b9d-5305bb77f7dd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200" u="none">
                <a:solidFill>
                  <a:srgbClr val="2F2F2F"/>
                </a:solidFill>
                <a:ea typeface="微软雅黑"/>
              </a:rPr>
              <a:t>报告人名称</a:t>
            </a:r>
          </a:p>
        </p:txBody>
      </p:sp>
      <p:sp>
        <p:nvSpPr>
          <p:cNvPr descr="c6e2d75b-66c0-49f3-adee-9eeed84dca2e" id="7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  <p:sp>
        <p:nvSpPr>
          <p:cNvPr name="TextBox 2" id="2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2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54567;#254543;#275490;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5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6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E3318"/>
      </a:accent1>
      <a:accent2>
        <a:srgbClr val="EF6018"/>
      </a:accent2>
      <a:accent3>
        <a:srgbClr val="B28836"/>
      </a:accent3>
      <a:accent4>
        <a:srgbClr val="A65D32"/>
      </a:accent4>
      <a:accent5>
        <a:srgbClr val="B25936"/>
      </a:accent5>
      <a:accent6>
        <a:srgbClr val="663333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 Presentation Template</Template>
  <Manager>iSlide</Manager>
  <Company>iSlide</Company>
  <PresentationFormat>宽屏</PresentationFormat>
  <Paragraphs>102</Paragraphs>
  <Slides>12</Slides>
  <Notes>0</Notes>
  <TotalTime>183</TotalTime>
  <HiddenSlides>7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5">
      <vt:lpstr>Arial</vt:lpstr>
      <vt:lpstr>微软雅黑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2024-01-29T00:00:00Z</dcterms:created>
  <dc:creator>iSlide</dc:creator>
  <cp:lastModifiedBy>iSlide</cp:lastModifiedBy>
  <cp:lastPrinted>2024-01-29T00:00:00Z</cp:lastPrinted>
  <dcterms:modified xsi:type="dcterms:W3CDTF">2024-03-05T10:23:54Z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507d7cfa-bb96-472f-8dd4-b86ef619285e</vt:lpwstr>
  </property>
</Properties>
</file>